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rtiarycourses/TGS-2023021752-Mastering-The-Art-of-Conflict-Resolution-to-Foster-Team-Collaboration-and-Success/tree/master/activities"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hero-v1.png"/>
          <p:cNvPicPr>
            <a:picLocks noChangeAspect="1"/>
          </p:cNvPicPr>
          <p:nvPr/>
        </p:nvPicPr>
        <p:blipFill>
          <a:blip r:embed="rId2"/>
          <a:stretch>
            <a:fillRect/>
          </a:stretch>
        </p:blipFill>
        <p:spPr>
          <a:xfrm>
            <a:off x="0" y="0"/>
            <a:ext cx="12191695" cy="6858000"/>
          </a:xfrm>
          <a:prstGeom prst="rect">
            <a:avLst/>
          </a:prstGeom>
        </p:spPr>
      </p:pic>
      <p:sp>
        <p:nvSpPr>
          <p:cNvPr id="4" name="Rectangle 3"/>
          <p:cNvSpPr/>
          <p:nvPr/>
        </p:nvSpPr>
        <p:spPr>
          <a:xfrm>
            <a:off x="0" y="0"/>
            <a:ext cx="66294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ertiary-infotech-logo.png"/>
          <p:cNvPicPr>
            <a:picLocks noChangeAspect="1"/>
          </p:cNvPicPr>
          <p:nvPr/>
        </p:nvPicPr>
        <p:blipFill>
          <a:blip r:embed="rId3"/>
          <a:stretch>
            <a:fillRect/>
          </a:stretch>
        </p:blipFill>
        <p:spPr>
          <a:xfrm>
            <a:off x="658368" y="512064"/>
            <a:ext cx="749808" cy="749808"/>
          </a:xfrm>
          <a:prstGeom prst="rect">
            <a:avLst/>
          </a:prstGeom>
        </p:spPr>
      </p:pic>
      <p:sp>
        <p:nvSpPr>
          <p:cNvPr id="8" name="TextBox 7"/>
          <p:cNvSpPr txBox="1"/>
          <p:nvPr/>
        </p:nvSpPr>
        <p:spPr>
          <a:xfrm>
            <a:off x="658368" y="1554480"/>
            <a:ext cx="5394960" cy="365760"/>
          </a:xfrm>
          <a:prstGeom prst="rect">
            <a:avLst/>
          </a:prstGeom>
          <a:noFill/>
        </p:spPr>
        <p:txBody>
          <a:bodyPr wrap="square" anchor="t">
            <a:spAutoFit/>
          </a:bodyPr>
          <a:lstStyle/>
          <a:p>
            <a:pPr algn="l">
              <a:spcAft>
                <a:spcPts val="400"/>
              </a:spcAft>
            </a:pPr>
            <a:r>
              <a:rPr sz="1400" b="1">
                <a:solidFill>
                  <a:srgbClr val="1F6FEB"/>
                </a:solidFill>
                <a:latin typeface="Arial"/>
              </a:rPr>
              <a:t>COURSE SLIDES  ·  WSQ</a:t>
            </a:r>
          </a:p>
        </p:txBody>
      </p:sp>
      <p:sp>
        <p:nvSpPr>
          <p:cNvPr id="9" name="TextBox 8"/>
          <p:cNvSpPr txBox="1"/>
          <p:nvPr/>
        </p:nvSpPr>
        <p:spPr>
          <a:xfrm>
            <a:off x="658368" y="2011680"/>
            <a:ext cx="5623560" cy="2057400"/>
          </a:xfrm>
          <a:prstGeom prst="rect">
            <a:avLst/>
          </a:prstGeom>
          <a:noFill/>
        </p:spPr>
        <p:txBody>
          <a:bodyPr wrap="square" anchor="t">
            <a:spAutoFit/>
          </a:bodyPr>
          <a:lstStyle/>
          <a:p>
            <a:pPr algn="l">
              <a:spcAft>
                <a:spcPts val="400"/>
              </a:spcAft>
            </a:pPr>
            <a:r>
              <a:rPr sz="2900" b="1">
                <a:solidFill>
                  <a:srgbClr val="161B26"/>
                </a:solidFill>
                <a:latin typeface="Arial"/>
              </a:rPr>
              <a:t>Mastering The Art of Conflict Resolution to Foster Team Collaboration and Success</a:t>
            </a:r>
          </a:p>
        </p:txBody>
      </p:sp>
      <p:sp>
        <p:nvSpPr>
          <p:cNvPr id="10" name="Rectangle 9"/>
          <p:cNvSpPr/>
          <p:nvPr/>
        </p:nvSpPr>
        <p:spPr>
          <a:xfrm>
            <a:off x="676656" y="4187952"/>
            <a:ext cx="201168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462272"/>
            <a:ext cx="5577840" cy="109728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TGS-2023021752</a:t>
            </a:r>
          </a:p>
          <a:p>
            <a:pPr algn="l">
              <a:spcAft>
                <a:spcPts val="600"/>
              </a:spcAft>
            </a:pPr>
            <a:r>
              <a:rPr sz="1400" b="0">
                <a:solidFill>
                  <a:srgbClr val="5B6372"/>
                </a:solidFill>
                <a:latin typeface="Arial"/>
              </a:rPr>
              <a:t>Conducted by Tertiary Infotech Academy Pte Ltd  ·  UEN 201200696W</a:t>
            </a:r>
          </a:p>
        </p:txBody>
      </p:sp>
      <p:sp>
        <p:nvSpPr>
          <p:cNvPr id="12" name="TextBox 11"/>
          <p:cNvSpPr txBox="1"/>
          <p:nvPr/>
        </p:nvSpPr>
        <p:spPr>
          <a:xfrm>
            <a:off x="658368" y="5715000"/>
            <a:ext cx="5577840" cy="365760"/>
          </a:xfrm>
          <a:prstGeom prst="rect">
            <a:avLst/>
          </a:prstGeom>
          <a:noFill/>
        </p:spPr>
        <p:txBody>
          <a:bodyPr wrap="square" anchor="t">
            <a:spAutoFit/>
          </a:bodyPr>
          <a:lstStyle/>
          <a:p>
            <a:pPr algn="l">
              <a:spcAft>
                <a:spcPts val="400"/>
              </a:spcAft>
            </a:pPr>
            <a:r>
              <a:rPr sz="1200" b="0">
                <a:solidFill>
                  <a:srgbClr val="5B6372"/>
                </a:solidFill>
                <a:latin typeface="Arial"/>
              </a:rPr>
              <a:t>Version v8.0  ·  20 August 2026</a:t>
            </a:r>
          </a:p>
        </p:txBody>
      </p:sp>
      <p:sp>
        <p:nvSpPr>
          <p:cNvPr id="13" name="TextBox 12"/>
          <p:cNvSpPr txBox="1"/>
          <p:nvPr/>
        </p:nvSpPr>
        <p:spPr>
          <a:xfrm>
            <a:off x="658368" y="6144768"/>
            <a:ext cx="5669280" cy="310896"/>
          </a:xfrm>
          <a:prstGeom prst="rect">
            <a:avLst/>
          </a:prstGeom>
          <a:noFill/>
        </p:spPr>
        <p:txBody>
          <a:bodyPr wrap="square" anchor="t">
            <a:spAutoFit/>
          </a:bodyPr>
          <a:lstStyle/>
          <a:p>
            <a:pPr algn="l">
              <a:spcAft>
                <a:spcPts val="400"/>
              </a:spcAft>
            </a:pPr>
            <a:r>
              <a:rPr sz="900" b="0">
                <a:solidFill>
                  <a:srgbClr val="5B6372"/>
                </a:solidFill>
                <a:latin typeface="Arial"/>
              </a:rPr>
              <a:t>© 2026 Tertiary Infotech Academy Pte Ltd. All rights reserved.</a:t>
            </a:r>
          </a:p>
        </p:txBody>
      </p:sp>
    </p:spTree>
  </p:cSld>
  <p:clrMapOvr>
    <a:masterClrMapping/>
  </p:clrMapOvr>
  <p:transition spd="fast" advClick="1">
    <p:zoom/>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9" name="TextBox 8"/>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0" name="TextBox 9"/>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Digital Attendance (Mandatory)</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874520"/>
            <a:ext cx="9427464" cy="768096"/>
          </a:xfrm>
          <a:prstGeom prst="rect">
            <a:avLst/>
          </a:prstGeom>
          <a:noFill/>
        </p:spPr>
        <p:txBody>
          <a:bodyPr wrap="square" anchor="ctr">
            <a:spAutoFit/>
          </a:bodyPr>
          <a:lstStyle/>
          <a:p>
            <a:pPr algn="l">
              <a:spcAft>
                <a:spcPts val="400"/>
              </a:spcAft>
            </a:pPr>
            <a:r>
              <a:rPr sz="1500" b="0">
                <a:solidFill>
                  <a:srgbClr val="161B26"/>
                </a:solidFill>
                <a:latin typeface="Arial"/>
              </a:rPr>
              <a:t>It is mandatory to take the AM, PM and Assessment digital attendance for WSQ-funded courses.</a:t>
            </a:r>
          </a:p>
        </p:txBody>
      </p:sp>
      <p:sp>
        <p:nvSpPr>
          <p:cNvPr id="11" name="Rectangle 10"/>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1764792" y="3026664"/>
            <a:ext cx="9427464" cy="768096"/>
          </a:xfrm>
          <a:prstGeom prst="rect">
            <a:avLst/>
          </a:prstGeom>
          <a:noFill/>
        </p:spPr>
        <p:txBody>
          <a:bodyPr wrap="square" anchor="ctr">
            <a:spAutoFit/>
          </a:bodyPr>
          <a:lstStyle/>
          <a:p>
            <a:pPr algn="l">
              <a:spcAft>
                <a:spcPts val="400"/>
              </a:spcAft>
            </a:pPr>
            <a:r>
              <a:rPr sz="1500" b="0">
                <a:solidFill>
                  <a:srgbClr val="161B26"/>
                </a:solidFill>
                <a:latin typeface="Arial"/>
              </a:rPr>
              <a:t>The trainer/administrator displays the digital attendance QR code from the SSG portal.</a:t>
            </a:r>
          </a:p>
        </p:txBody>
      </p:sp>
      <p:sp>
        <p:nvSpPr>
          <p:cNvPr id="16" name="Rectangle 15"/>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178808"/>
            <a:ext cx="9427464" cy="768096"/>
          </a:xfrm>
          <a:prstGeom prst="rect">
            <a:avLst/>
          </a:prstGeom>
          <a:noFill/>
        </p:spPr>
        <p:txBody>
          <a:bodyPr wrap="square" anchor="ctr">
            <a:spAutoFit/>
          </a:bodyPr>
          <a:lstStyle/>
          <a:p>
            <a:pPr algn="l">
              <a:spcAft>
                <a:spcPts val="400"/>
              </a:spcAft>
            </a:pPr>
            <a:r>
              <a:rPr sz="1500" b="0">
                <a:solidFill>
                  <a:srgbClr val="161B26"/>
                </a:solidFill>
                <a:latin typeface="Arial"/>
              </a:rPr>
              <a:t>Scan the QR code with your mobile phone camera and submit your attendance.</a:t>
            </a:r>
          </a:p>
        </p:txBody>
      </p:sp>
      <p:sp>
        <p:nvSpPr>
          <p:cNvPr id="21" name="Rectangle 20"/>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1764792" y="5330952"/>
            <a:ext cx="9427464" cy="768096"/>
          </a:xfrm>
          <a:prstGeom prst="rect">
            <a:avLst/>
          </a:prstGeom>
          <a:noFill/>
        </p:spPr>
        <p:txBody>
          <a:bodyPr wrap="square" anchor="ctr">
            <a:spAutoFit/>
          </a:bodyPr>
          <a:lstStyle/>
          <a:p>
            <a:pPr algn="l">
              <a:spcAft>
                <a:spcPts val="400"/>
              </a:spcAft>
            </a:pPr>
            <a:r>
              <a:rPr sz="1500" b="0">
                <a:solidFill>
                  <a:srgbClr val="161B26"/>
                </a:solidFill>
                <a:latin typeface="Arial"/>
              </a:rPr>
              <a:t>A minimum of 75% attendance is required to be eligible for assessment and funding.</a:t>
            </a:r>
          </a:p>
        </p:txBody>
      </p:sp>
      <p:sp>
        <p:nvSpPr>
          <p:cNvPr id="26" name="TextBox 2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7" name="TextBox 2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8" name="TextBox 2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GENERAL TRAINER PROFILE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About the Trainer</a:t>
            </a:r>
          </a:p>
        </p:txBody>
      </p:sp>
      <p:sp>
        <p:nvSpPr>
          <p:cNvPr id="6" name="Rectangle 5"/>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668780" y="2286000"/>
            <a:ext cx="1554480" cy="155448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0" name="TextBox 9"/>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WSQ Trainer</a:t>
            </a:r>
          </a:p>
        </p:txBody>
      </p:sp>
      <p:sp>
        <p:nvSpPr>
          <p:cNvPr id="11" name="TextBox 10"/>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Facilitator profile standards for this conflict-resolution programme.</a:t>
            </a:r>
          </a:p>
        </p:txBody>
      </p:sp>
      <p:sp>
        <p:nvSpPr>
          <p:cNvPr id="12" name="Rectangle 11"/>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Approved adult educator and workplace-learning facilitator.</a:t>
            </a:r>
          </a:p>
        </p:txBody>
      </p:sp>
      <p:sp>
        <p:nvSpPr>
          <p:cNvPr id="15" name="Rectangle 14"/>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CREDENTIALS</a:t>
            </a:r>
          </a:p>
          <a:p>
            <a:pPr algn="l">
              <a:spcAft>
                <a:spcPts val="300"/>
              </a:spcAft>
            </a:pPr>
            <a:r>
              <a:rPr sz="1400" b="0">
                <a:solidFill>
                  <a:srgbClr val="161B26"/>
                </a:solidFill>
                <a:latin typeface="Arial"/>
              </a:rPr>
              <a:t>Relevant ACTA/ACLP or equivalent adult-education credentials and domain experience.</a:t>
            </a:r>
          </a:p>
        </p:txBody>
      </p:sp>
      <p:sp>
        <p:nvSpPr>
          <p:cNvPr id="18" name="Rectangle 17"/>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FACILITATION</a:t>
            </a:r>
          </a:p>
          <a:p>
            <a:pPr algn="l">
              <a:spcAft>
                <a:spcPts val="300"/>
              </a:spcAft>
            </a:pPr>
            <a:r>
              <a:rPr sz="1400" b="0">
                <a:solidFill>
                  <a:srgbClr val="161B26"/>
                </a:solidFill>
                <a:latin typeface="Arial"/>
              </a:rPr>
              <a:t>Able to manage sensitive dialogue, role-play safety, debriefing and policy boundaries.</a:t>
            </a:r>
          </a:p>
        </p:txBody>
      </p:sp>
      <p:sp>
        <p:nvSpPr>
          <p:cNvPr id="21" name="Rectangle 20"/>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LEARNER SUPPORT</a:t>
            </a:r>
          </a:p>
          <a:p>
            <a:pPr algn="l">
              <a:spcAft>
                <a:spcPts val="300"/>
              </a:spcAft>
            </a:pPr>
            <a:r>
              <a:rPr sz="1400" b="0">
                <a:solidFill>
                  <a:srgbClr val="161B26"/>
                </a:solidFill>
                <a:latin typeface="Arial"/>
              </a:rPr>
              <a:t>Uses the approved academy support channel and protects participant confidentiality.</a:t>
            </a:r>
          </a:p>
        </p:txBody>
      </p:sp>
      <p:sp>
        <p:nvSpPr>
          <p:cNvPr id="24" name="TextBox 23"/>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5" name="TextBox 24"/>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6" name="TextBox 25"/>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wipe dir="l"/>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About the Trainer</a:t>
            </a:r>
          </a:p>
        </p:txBody>
      </p:sp>
      <p:sp>
        <p:nvSpPr>
          <p:cNvPr id="6" name="Rectangle 5"/>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0" name="TextBox 9"/>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1" name="TextBox 10"/>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2" name="Rectangle 11"/>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5" name="Rectangle 14"/>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CERTIFICATION / CREDENTIALS</a:t>
            </a:r>
          </a:p>
          <a:p>
            <a:pPr algn="l">
              <a:spcAft>
                <a:spcPts val="300"/>
              </a:spcAft>
            </a:pPr>
            <a:r>
              <a:rPr sz="1400" b="0">
                <a:solidFill>
                  <a:srgbClr val="161B26"/>
                </a:solidFill>
                <a:latin typeface="Arial"/>
              </a:rPr>
              <a:t>20+ years of training and industry experience.</a:t>
            </a:r>
          </a:p>
        </p:txBody>
      </p:sp>
      <p:sp>
        <p:nvSpPr>
          <p:cNvPr id="18" name="Rectangle 17"/>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programmes in leadership, workplace communication, digital transformation and professional capability.</a:t>
            </a:r>
          </a:p>
        </p:txBody>
      </p:sp>
      <p:sp>
        <p:nvSpPr>
          <p:cNvPr id="21" name="Rectangle 20"/>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4" name="TextBox 23"/>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5" name="TextBox 24"/>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6" name="TextBox 25"/>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Let's Know Each Other</a:t>
            </a:r>
          </a:p>
        </p:txBody>
      </p:sp>
      <p:sp>
        <p:nvSpPr>
          <p:cNvPr id="6" name="Rectangle 5"/>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874520"/>
            <a:ext cx="9427464" cy="1152144"/>
          </a:xfrm>
          <a:prstGeom prst="rect">
            <a:avLst/>
          </a:prstGeom>
          <a:noFill/>
        </p:spPr>
        <p:txBody>
          <a:bodyPr wrap="square" anchor="ctr">
            <a:spAutoFit/>
          </a:bodyPr>
          <a:lstStyle/>
          <a:p>
            <a:pPr algn="l">
              <a:spcAft>
                <a:spcPts val="400"/>
              </a:spcAft>
            </a:pPr>
            <a:r>
              <a:rPr sz="1500" b="0">
                <a:solidFill>
                  <a:srgbClr val="161B26"/>
                </a:solidFill>
                <a:latin typeface="Arial"/>
              </a:rPr>
              <a:t>Your name and organisation / role.</a:t>
            </a:r>
          </a:p>
        </p:txBody>
      </p:sp>
      <p:sp>
        <p:nvSpPr>
          <p:cNvPr id="11" name="Rectangle 10"/>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1764792" y="3410712"/>
            <a:ext cx="9427464" cy="1152144"/>
          </a:xfrm>
          <a:prstGeom prst="rect">
            <a:avLst/>
          </a:prstGeom>
          <a:noFill/>
        </p:spPr>
        <p:txBody>
          <a:bodyPr wrap="square" anchor="ctr">
            <a:spAutoFit/>
          </a:bodyPr>
          <a:lstStyle/>
          <a:p>
            <a:pPr algn="l">
              <a:spcAft>
                <a:spcPts val="400"/>
              </a:spcAft>
            </a:pPr>
            <a:r>
              <a:rPr sz="1500" b="0">
                <a:solidFill>
                  <a:srgbClr val="161B26"/>
                </a:solidFill>
                <a:latin typeface="Arial"/>
              </a:rPr>
              <a:t>One kind of workplace disagreement you are comfortable discussing in general terms—without naming real people.</a:t>
            </a:r>
          </a:p>
        </p:txBody>
      </p:sp>
      <p:sp>
        <p:nvSpPr>
          <p:cNvPr id="16" name="Rectangle 15"/>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946904"/>
            <a:ext cx="9427464" cy="1152144"/>
          </a:xfrm>
          <a:prstGeom prst="rect">
            <a:avLst/>
          </a:prstGeom>
          <a:noFill/>
        </p:spPr>
        <p:txBody>
          <a:bodyPr wrap="square" anchor="ctr">
            <a:spAutoFit/>
          </a:bodyPr>
          <a:lstStyle/>
          <a:p>
            <a:pPr algn="l">
              <a:spcAft>
                <a:spcPts val="400"/>
              </a:spcAft>
            </a:pPr>
            <a:r>
              <a:rPr sz="1500" b="0">
                <a:solidFill>
                  <a:srgbClr val="161B26"/>
                </a:solidFill>
                <a:latin typeface="Arial"/>
              </a:rPr>
              <a:t>One conflict-handling skill you want to strengthen during this course.</a:t>
            </a:r>
          </a:p>
        </p:txBody>
      </p:sp>
      <p:sp>
        <p:nvSpPr>
          <p:cNvPr id="21" name="TextBox 20"/>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2" name="TextBox 21"/>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3" name="TextBox 22"/>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Ground Rules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Actively participate — no question is too small.</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Respect each other's views: agree to disagree.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0" name="TextBox 29"/>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5" name="TextBox 34"/>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 for funding eligibility.</a:t>
            </a:r>
          </a:p>
        </p:txBody>
      </p:sp>
      <p:sp>
        <p:nvSpPr>
          <p:cNvPr id="36" name="TextBox 3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37" name="TextBox 3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38" name="TextBox 3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ACCREDITATION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Skills Framework</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TSC Title</a:t>
            </a:r>
          </a:p>
          <a:p>
            <a:pPr algn="l">
              <a:spcAft>
                <a:spcPts val="300"/>
              </a:spcAft>
            </a:pPr>
            <a:r>
              <a:rPr sz="1300" b="0">
                <a:solidFill>
                  <a:srgbClr val="5B6372"/>
                </a:solidFill>
                <a:latin typeface="Arial"/>
              </a:rPr>
              <a:t>Conflict Management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TSC Code</a:t>
            </a:r>
          </a:p>
          <a:p>
            <a:pPr algn="l">
              <a:spcAft>
                <a:spcPts val="300"/>
              </a:spcAft>
            </a:pPr>
            <a:r>
              <a:rPr sz="1300" b="0">
                <a:solidFill>
                  <a:srgbClr val="5B6372"/>
                </a:solidFill>
                <a:latin typeface="Arial"/>
              </a:rPr>
              <a:t>RET-PMD-4001-1.1</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Proficiency Level</a:t>
            </a:r>
          </a:p>
          <a:p>
            <a:pPr algn="l">
              <a:spcAft>
                <a:spcPts val="300"/>
              </a:spcAft>
            </a:pPr>
            <a:r>
              <a:rPr sz="1300" b="0">
                <a:solidFill>
                  <a:srgbClr val="5B6372"/>
                </a:solidFill>
                <a:latin typeface="Arial"/>
              </a:rPr>
              <a:t>Skills Framework</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Structure</a:t>
            </a:r>
          </a:p>
          <a:p>
            <a:pPr algn="l">
              <a:spcAft>
                <a:spcPts val="300"/>
              </a:spcAft>
            </a:pPr>
            <a:r>
              <a:rPr sz="1300" b="0">
                <a:solidFill>
                  <a:srgbClr val="5B6372"/>
                </a:solidFill>
                <a:latin typeface="Arial"/>
              </a:rPr>
              <a:t>Four topics, eight workplace activities and two assessment instruments.</a:t>
            </a:r>
          </a:p>
        </p:txBody>
      </p:sp>
      <p:sp>
        <p:nvSpPr>
          <p:cNvPr id="26" name="TextBox 2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7" name="TextBox 2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8" name="TextBox 2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4 TOPICS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Course Outline</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Topic 1 — Identifying Conflicts</a:t>
            </a:r>
          </a:p>
          <a:p>
            <a:pPr algn="l">
              <a:spcAft>
                <a:spcPts val="300"/>
              </a:spcAft>
            </a:pPr>
            <a:r>
              <a:rPr sz="1200" b="0">
                <a:solidFill>
                  <a:srgbClr val="5B6372"/>
                </a:solidFill>
                <a:latin typeface="Arial"/>
              </a:rPr>
              <a:t>Signals · Stages · Facts and perceptions · Conflict history · Root causes · Impact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Topic 2 — Conflict Resolution Strategies</a:t>
            </a:r>
          </a:p>
          <a:p>
            <a:pPr algn="l">
              <a:spcAft>
                <a:spcPts val="300"/>
              </a:spcAft>
            </a:pPr>
            <a:r>
              <a:rPr sz="1200" b="0">
                <a:solidFill>
                  <a:srgbClr val="5B6372"/>
                </a:solidFill>
                <a:latin typeface="Arial"/>
              </a:rPr>
              <a:t>Emotional regulation · Conflict styles · Active listening · Sensitive dialogue · Negotiation · Mediation</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Topic 3 — Managing Team Conflicts in the Workplace</a:t>
            </a:r>
          </a:p>
          <a:p>
            <a:pPr algn="l">
              <a:spcAft>
                <a:spcPts val="300"/>
              </a:spcAft>
            </a:pPr>
            <a:r>
              <a:rPr sz="1200" b="0">
                <a:solidFill>
                  <a:srgbClr val="5B6372"/>
                </a:solidFill>
                <a:latin typeface="Arial"/>
              </a:rPr>
              <a:t>Leader accountability · Team norms · Policy · Fair process · Coaching · Productive disagreement</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Topic 4 — Reviewing Effectiveness and Preventing Recurrence</a:t>
            </a:r>
          </a:p>
          <a:p>
            <a:pPr algn="l">
              <a:spcAft>
                <a:spcPts val="300"/>
              </a:spcAft>
            </a:pPr>
            <a:r>
              <a:rPr sz="1200" b="0">
                <a:solidFill>
                  <a:srgbClr val="5B6372"/>
                </a:solidFill>
                <a:latin typeface="Arial"/>
              </a:rPr>
              <a:t>Outcome measures · Follow-up · Recurrence controls · Learning reviews · Legal and ethical safeguards</a:t>
            </a:r>
          </a:p>
        </p:txBody>
      </p:sp>
      <p:sp>
        <p:nvSpPr>
          <p:cNvPr id="26" name="TextBox 2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7" name="TextBox 2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8" name="TextBox 2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Lesson Plan — 2 Days</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1</a:t>
            </a:r>
          </a:p>
        </p:txBody>
      </p:sp>
      <p:sp>
        <p:nvSpPr>
          <p:cNvPr id="9" name="TextBox 8"/>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2 &amp; Assessment</a:t>
            </a:r>
          </a:p>
        </p:txBody>
      </p:sp>
      <p:sp>
        <p:nvSpPr>
          <p:cNvPr id="10" name="TextBox 9"/>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Day 1 — Identify conflict and practise sensitive resolution, negotiation and mediation</a:t>
            </a:r>
          </a:p>
          <a:p>
            <a:pPr>
              <a:spcAft>
                <a:spcPts val="1000"/>
              </a:spcAft>
            </a:pPr>
            <a:r>
              <a:rPr sz="1400" b="0">
                <a:solidFill>
                  <a:srgbClr val="5B6372"/>
                </a:solidFill>
                <a:latin typeface="Arial"/>
              </a:rPr>
              <a:t>–  Topic 1: identify signals, impact and root causes (Activities 1–2)</a:t>
            </a:r>
          </a:p>
          <a:p>
            <a:pPr>
              <a:spcAft>
                <a:spcPts val="1000"/>
              </a:spcAft>
            </a:pPr>
            <a:r>
              <a:rPr sz="1400" b="0">
                <a:solidFill>
                  <a:srgbClr val="5B6372"/>
                </a:solidFill>
                <a:latin typeface="Arial"/>
              </a:rPr>
              <a:t>–  Topic 2: styles, dialogue, mediation and negotiation (Activities 3–5)</a:t>
            </a:r>
          </a:p>
        </p:txBody>
      </p:sp>
      <p:sp>
        <p:nvSpPr>
          <p:cNvPr id="11" name="TextBox 10"/>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Day 2 — Lead team conflict, apply policy safeguards, review outcomes and prevent recurrence</a:t>
            </a:r>
          </a:p>
          <a:p>
            <a:pPr>
              <a:spcAft>
                <a:spcPts val="1000"/>
              </a:spcAft>
            </a:pPr>
            <a:r>
              <a:rPr sz="1400" b="0">
                <a:solidFill>
                  <a:srgbClr val="5B6372"/>
                </a:solidFill>
                <a:latin typeface="Arial"/>
              </a:rPr>
              <a:t>–  Topic 3: leader responsibility and coaching (Activity 6)</a:t>
            </a:r>
          </a:p>
          <a:p>
            <a:pPr>
              <a:spcAft>
                <a:spcPts val="1000"/>
              </a:spcAft>
            </a:pPr>
            <a:r>
              <a:rPr sz="1400" b="0">
                <a:solidFill>
                  <a:srgbClr val="5B6372"/>
                </a:solidFill>
                <a:latin typeface="Arial"/>
              </a:rPr>
              <a:t>–  Topic 4: policy, review and prevention (Activities 7–8)</a:t>
            </a:r>
          </a:p>
          <a:p>
            <a:pPr>
              <a:spcAft>
                <a:spcPts val="1000"/>
              </a:spcAft>
            </a:pPr>
            <a:r>
              <a:rPr sz="1400" b="0">
                <a:solidFill>
                  <a:srgbClr val="5B6372"/>
                </a:solidFill>
                <a:latin typeface="Arial"/>
              </a:rPr>
              <a:t>–  Assessment: WA-SAQ (1h) + Case Study (1h), 4:00–6:00pm</a:t>
            </a:r>
          </a:p>
          <a:p>
            <a:pPr>
              <a:spcAft>
                <a:spcPts val="1000"/>
              </a:spcAft>
            </a:pPr>
            <a:r>
              <a:rPr sz="1600" b="0">
                <a:solidFill>
                  <a:srgbClr val="161B26"/>
                </a:solidFill>
                <a:latin typeface="Arial"/>
              </a:rPr>
              <a:t>•  Daily timing</a:t>
            </a:r>
          </a:p>
          <a:p>
            <a:pPr>
              <a:spcAft>
                <a:spcPts val="1000"/>
              </a:spcAft>
            </a:pPr>
            <a:r>
              <a:rPr sz="1400" b="0">
                <a:solidFill>
                  <a:srgbClr val="5B6372"/>
                </a:solidFill>
                <a:latin typeface="Arial"/>
              </a:rPr>
              <a:t>–  Day 1 and Day 2: 9:00am–6:00pm, including scheduled breaks and lunch.</a:t>
            </a:r>
          </a:p>
        </p:txBody>
      </p:sp>
      <p:sp>
        <p:nvSpPr>
          <p:cNvPr id="12" name="TextBox 11"/>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3" name="TextBox 12"/>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4" name="TextBox 13"/>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350"/>
                                        <p:tgtEl>
                                          <p:spTgt spid="10"/>
                                        </p:tgtEl>
                                      </p:cBhvr>
                                    </p:animEffect>
                                    <p:anim calcmode="lin" valueType="num">
                                      <p:cBhvr additive="base">
                                        <p:cTn id="1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350"/>
                                        <p:tgtEl>
                                          <p:spTgt spid="11"/>
                                        </p:tgtEl>
                                      </p:cBhvr>
                                    </p:animEffect>
                                    <p:anim calcmode="lin" valueType="num">
                                      <p:cBhvr additive="base">
                                        <p:cTn id="2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Learning Outcomes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Identify Early</a:t>
            </a:r>
          </a:p>
          <a:p>
            <a:pPr algn="l">
              <a:spcAft>
                <a:spcPts val="300"/>
              </a:spcAft>
            </a:pPr>
            <a:r>
              <a:rPr sz="1300" b="0">
                <a:solidFill>
                  <a:srgbClr val="5B6372"/>
                </a:solidFill>
                <a:latin typeface="Arial"/>
              </a:rPr>
              <a:t>Recognise indicators, assess impact and minimise escalation.</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Resolve Sensitively</a:t>
            </a:r>
          </a:p>
          <a:p>
            <a:pPr algn="l">
              <a:spcAft>
                <a:spcPts val="300"/>
              </a:spcAft>
            </a:pPr>
            <a:r>
              <a:rPr sz="1300" b="0">
                <a:solidFill>
                  <a:srgbClr val="5B6372"/>
                </a:solidFill>
                <a:latin typeface="Arial"/>
              </a:rPr>
              <a:t>Select and apply suitable strategies with fair communication.</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Lead and Coach</a:t>
            </a:r>
          </a:p>
          <a:p>
            <a:pPr algn="l">
              <a:spcAft>
                <a:spcPts val="300"/>
              </a:spcAft>
            </a:pPr>
            <a:r>
              <a:rPr sz="1300" b="0">
                <a:solidFill>
                  <a:srgbClr val="5B6372"/>
                </a:solidFill>
                <a:latin typeface="Arial"/>
              </a:rPr>
              <a:t>Analyse team conflict and coach constructive disagreement.</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Review and Prevent</a:t>
            </a:r>
          </a:p>
          <a:p>
            <a:pPr algn="l">
              <a:spcAft>
                <a:spcPts val="300"/>
              </a:spcAft>
            </a:pPr>
            <a:r>
              <a:rPr sz="1300" b="0">
                <a:solidFill>
                  <a:srgbClr val="5B6372"/>
                </a:solidFill>
                <a:latin typeface="Arial"/>
              </a:rPr>
              <a:t>Measure effectiveness and act on recurrence risks.</a:t>
            </a:r>
          </a:p>
        </p:txBody>
      </p:sp>
      <p:sp>
        <p:nvSpPr>
          <p:cNvPr id="26" name="TextBox 2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7" name="TextBox 2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8" name="TextBox 2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Briefing for Assessment</a:t>
            </a:r>
          </a:p>
        </p:txBody>
      </p:sp>
      <p:sp>
        <p:nvSpPr>
          <p:cNvPr id="5" name="Rectangle 4"/>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33272" y="17739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2" y="17739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9" name="TextBox 8"/>
          <p:cNvSpPr txBox="1"/>
          <p:nvPr/>
        </p:nvSpPr>
        <p:spPr>
          <a:xfrm>
            <a:off x="1764792" y="1874520"/>
            <a:ext cx="9427464" cy="384048"/>
          </a:xfrm>
          <a:prstGeom prst="rect">
            <a:avLst/>
          </a:prstGeom>
          <a:noFill/>
        </p:spPr>
        <p:txBody>
          <a:bodyPr wrap="square" anchor="ctr">
            <a:spAutoFit/>
          </a:bodyPr>
          <a:lstStyle/>
          <a:p>
            <a:pPr algn="l">
              <a:spcAft>
                <a:spcPts val="400"/>
              </a:spcAft>
            </a:pPr>
            <a:r>
              <a:rPr sz="1500" b="0">
                <a:solidFill>
                  <a:srgbClr val="161B26"/>
                </a:solidFill>
                <a:latin typeface="Arial"/>
              </a:rPr>
              <a:t>Place phones and other materials under the table or on the floor.</a:t>
            </a:r>
          </a:p>
        </p:txBody>
      </p:sp>
      <p:sp>
        <p:nvSpPr>
          <p:cNvPr id="10" name="Rectangle 9"/>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33272"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4" name="TextBox 13"/>
          <p:cNvSpPr txBox="1"/>
          <p:nvPr/>
        </p:nvSpPr>
        <p:spPr>
          <a:xfrm>
            <a:off x="1764792" y="2642616"/>
            <a:ext cx="9427464" cy="384048"/>
          </a:xfrm>
          <a:prstGeom prst="rect">
            <a:avLst/>
          </a:prstGeom>
          <a:noFill/>
        </p:spPr>
        <p:txBody>
          <a:bodyPr wrap="square" anchor="ctr">
            <a:spAutoFit/>
          </a:bodyPr>
          <a:lstStyle/>
          <a:p>
            <a:pPr algn="l">
              <a:spcAft>
                <a:spcPts val="400"/>
              </a:spcAft>
            </a:pPr>
            <a:r>
              <a:rPr sz="1500" b="0">
                <a:solidFill>
                  <a:srgbClr val="161B26"/>
                </a:solidFill>
                <a:latin typeface="Arial"/>
              </a:rPr>
              <a:t>No photos or recording of assessment scripts.</a:t>
            </a:r>
          </a:p>
        </p:txBody>
      </p:sp>
      <p:sp>
        <p:nvSpPr>
          <p:cNvPr id="15" name="Rectangle 14"/>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33272" y="331012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2" y="331012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19" name="TextBox 18"/>
          <p:cNvSpPr txBox="1"/>
          <p:nvPr/>
        </p:nvSpPr>
        <p:spPr>
          <a:xfrm>
            <a:off x="1764792" y="3410712"/>
            <a:ext cx="9427464" cy="384048"/>
          </a:xfrm>
          <a:prstGeom prst="rect">
            <a:avLst/>
          </a:prstGeom>
          <a:noFill/>
        </p:spPr>
        <p:txBody>
          <a:bodyPr wrap="square" anchor="ctr">
            <a:spAutoFit/>
          </a:bodyPr>
          <a:lstStyle/>
          <a:p>
            <a:pPr algn="l">
              <a:spcAft>
                <a:spcPts val="400"/>
              </a:spcAft>
            </a:pPr>
            <a:r>
              <a:rPr sz="1500" b="0">
                <a:solidFill>
                  <a:srgbClr val="161B26"/>
                </a:solidFill>
                <a:latin typeface="Arial"/>
              </a:rPr>
              <a:t>No discussion during the assessment.</a:t>
            </a:r>
          </a:p>
        </p:txBody>
      </p:sp>
      <p:sp>
        <p:nvSpPr>
          <p:cNvPr id="20" name="Rectangle 19"/>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272" y="407822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0782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4" name="TextBox 23"/>
          <p:cNvSpPr txBox="1"/>
          <p:nvPr/>
        </p:nvSpPr>
        <p:spPr>
          <a:xfrm>
            <a:off x="1764792" y="4178808"/>
            <a:ext cx="9427464" cy="384048"/>
          </a:xfrm>
          <a:prstGeom prst="rect">
            <a:avLst/>
          </a:prstGeom>
          <a:noFill/>
        </p:spPr>
        <p:txBody>
          <a:bodyPr wrap="square" anchor="ctr">
            <a:spAutoFit/>
          </a:bodyPr>
          <a:lstStyle/>
          <a:p>
            <a:pPr algn="l">
              <a:spcAft>
                <a:spcPts val="400"/>
              </a:spcAft>
            </a:pPr>
            <a:r>
              <a:rPr sz="1500" b="0">
                <a:solidFill>
                  <a:srgbClr val="161B26"/>
                </a:solidFill>
                <a:latin typeface="Arial"/>
              </a:rPr>
              <a:t>Use a black/blue pen for hard-copy assessments.</a:t>
            </a:r>
          </a:p>
        </p:txBody>
      </p:sp>
      <p:sp>
        <p:nvSpPr>
          <p:cNvPr id="25" name="Rectangle 24"/>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33272" y="484632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29" name="TextBox 28"/>
          <p:cNvSpPr txBox="1"/>
          <p:nvPr/>
        </p:nvSpPr>
        <p:spPr>
          <a:xfrm>
            <a:off x="1764792" y="4946904"/>
            <a:ext cx="9427464" cy="384048"/>
          </a:xfrm>
          <a:prstGeom prst="rect">
            <a:avLst/>
          </a:prstGeom>
          <a:noFill/>
        </p:spPr>
        <p:txBody>
          <a:bodyPr wrap="square" anchor="ctr">
            <a:spAutoFit/>
          </a:bodyPr>
          <a:lstStyle/>
          <a:p>
            <a:pPr algn="l">
              <a:spcAft>
                <a:spcPts val="400"/>
              </a:spcAft>
            </a:pPr>
            <a:r>
              <a:rPr sz="1500" b="0">
                <a:solidFill>
                  <a:srgbClr val="161B26"/>
                </a:solidFill>
                <a:latin typeface="Arial"/>
              </a:rPr>
              <a:t>No liquid paper / correction tape.</a:t>
            </a:r>
          </a:p>
        </p:txBody>
      </p:sp>
      <p:sp>
        <p:nvSpPr>
          <p:cNvPr id="30" name="Rectangle 29"/>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33272" y="561441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3272" y="561441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4" name="TextBox 33"/>
          <p:cNvSpPr txBox="1"/>
          <p:nvPr/>
        </p:nvSpPr>
        <p:spPr>
          <a:xfrm>
            <a:off x="1764792" y="5715000"/>
            <a:ext cx="9427464" cy="384048"/>
          </a:xfrm>
          <a:prstGeom prst="rect">
            <a:avLst/>
          </a:prstGeom>
          <a:noFill/>
        </p:spPr>
        <p:txBody>
          <a:bodyPr wrap="square" anchor="ctr">
            <a:spAutoFit/>
          </a:bodyPr>
          <a:lstStyle/>
          <a:p>
            <a:pPr algn="l">
              <a:spcAft>
                <a:spcPts val="400"/>
              </a:spcAft>
            </a:pPr>
            <a:r>
              <a:rPr sz="1500" b="0">
                <a:solidFill>
                  <a:srgbClr val="161B26"/>
                </a:solidFill>
                <a:latin typeface="Arial"/>
              </a:rPr>
              <a:t>Scripts are collected when time is up.</a:t>
            </a:r>
          </a:p>
        </p:txBody>
      </p:sp>
      <p:sp>
        <p:nvSpPr>
          <p:cNvPr id="35" name="TextBox 34"/>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36" name="TextBox 35"/>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37" name="TextBox 36"/>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fast" advClick="1">
    <p:wipe dir="l"/>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Assessment</a:t>
            </a:r>
          </a:p>
        </p:txBody>
      </p:sp>
      <p:sp>
        <p:nvSpPr>
          <p:cNvPr id="6" name="Rectangle 5"/>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874520"/>
            <a:ext cx="9427464" cy="537667"/>
          </a:xfrm>
          <a:prstGeom prst="rect">
            <a:avLst/>
          </a:prstGeom>
          <a:noFill/>
        </p:spPr>
        <p:txBody>
          <a:bodyPr wrap="square" anchor="ctr">
            <a:spAutoFit/>
          </a:bodyPr>
          <a:lstStyle/>
          <a:p>
            <a:pPr algn="l">
              <a:spcAft>
                <a:spcPts val="400"/>
              </a:spcAft>
            </a:pPr>
            <a:r>
              <a:rPr sz="1500" b="0">
                <a:solidFill>
                  <a:srgbClr val="161B26"/>
                </a:solidFill>
                <a:latin typeface="Arial"/>
              </a:rPr>
              <a:t>Written Assessment (WA-SAQ) — six open-ended questions, 1 hour, open book.</a:t>
            </a:r>
          </a:p>
        </p:txBody>
      </p:sp>
      <p:sp>
        <p:nvSpPr>
          <p:cNvPr id="11" name="Rectangle 10"/>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1764792" y="2796235"/>
            <a:ext cx="9427464" cy="537667"/>
          </a:xfrm>
          <a:prstGeom prst="rect">
            <a:avLst/>
          </a:prstGeom>
          <a:noFill/>
        </p:spPr>
        <p:txBody>
          <a:bodyPr wrap="square" anchor="ctr">
            <a:spAutoFit/>
          </a:bodyPr>
          <a:lstStyle/>
          <a:p>
            <a:pPr algn="l">
              <a:spcAft>
                <a:spcPts val="400"/>
              </a:spcAft>
            </a:pPr>
            <a:r>
              <a:rPr sz="1500" b="0">
                <a:solidFill>
                  <a:srgbClr val="161B26"/>
                </a:solidFill>
                <a:latin typeface="Arial"/>
              </a:rPr>
              <a:t>Case Study (CS) — one workplace scenario with four mapped questions, 1 hour, open book.</a:t>
            </a:r>
          </a:p>
        </p:txBody>
      </p:sp>
      <p:sp>
        <p:nvSpPr>
          <p:cNvPr id="16" name="Rectangle 15"/>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3717950"/>
            <a:ext cx="9427464" cy="537667"/>
          </a:xfrm>
          <a:prstGeom prst="rect">
            <a:avLst/>
          </a:prstGeom>
          <a:noFill/>
        </p:spPr>
        <p:txBody>
          <a:bodyPr wrap="square" anchor="ctr">
            <a:spAutoFit/>
          </a:bodyPr>
          <a:lstStyle/>
          <a:p>
            <a:pPr algn="l">
              <a:spcAft>
                <a:spcPts val="400"/>
              </a:spcAft>
            </a:pPr>
            <a:r>
              <a:rPr sz="1500" b="0">
                <a:solidFill>
                  <a:srgbClr val="161B26"/>
                </a:solidFill>
                <a:latin typeface="Arial"/>
              </a:rPr>
              <a:t>Format: Open Book — slides, Learner Guide and approved materials only.</a:t>
            </a:r>
          </a:p>
        </p:txBody>
      </p:sp>
      <p:sp>
        <p:nvSpPr>
          <p:cNvPr id="21" name="Rectangle 20"/>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1764792" y="4639665"/>
            <a:ext cx="9427464" cy="537667"/>
          </a:xfrm>
          <a:prstGeom prst="rect">
            <a:avLst/>
          </a:prstGeom>
          <a:noFill/>
        </p:spPr>
        <p:txBody>
          <a:bodyPr wrap="square" anchor="ctr">
            <a:spAutoFit/>
          </a:bodyPr>
          <a:lstStyle/>
          <a:p>
            <a:pPr algn="l">
              <a:spcAft>
                <a:spcPts val="400"/>
              </a:spcAft>
            </a:pPr>
            <a:r>
              <a:rPr sz="1500" b="0">
                <a:solidFill>
                  <a:srgbClr val="161B26"/>
                </a:solidFill>
                <a:latin typeface="Arial"/>
              </a:rPr>
              <a:t>A minimum of 75% attendance is required. Learners must complete both instruments and be assessed as Competent.</a:t>
            </a:r>
          </a:p>
        </p:txBody>
      </p:sp>
      <p:sp>
        <p:nvSpPr>
          <p:cNvPr id="26" name="Rectangle 25"/>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0" name="TextBox 29"/>
          <p:cNvSpPr txBox="1"/>
          <p:nvPr/>
        </p:nvSpPr>
        <p:spPr>
          <a:xfrm>
            <a:off x="1764792" y="5561380"/>
            <a:ext cx="9427464" cy="537667"/>
          </a:xfrm>
          <a:prstGeom prst="rect">
            <a:avLst/>
          </a:prstGeom>
          <a:noFill/>
        </p:spPr>
        <p:txBody>
          <a:bodyPr wrap="square" anchor="ctr">
            <a:spAutoFit/>
          </a:bodyPr>
          <a:lstStyle/>
          <a:p>
            <a:pPr algn="l">
              <a:spcAft>
                <a:spcPts val="400"/>
              </a:spcAft>
            </a:pPr>
            <a:r>
              <a:rPr sz="1500" b="0">
                <a:solidFill>
                  <a:srgbClr val="161B26"/>
                </a:solidFill>
                <a:latin typeface="Arial"/>
              </a:rPr>
              <a:t>An appeal process is available if required.</a:t>
            </a:r>
          </a:p>
        </p:txBody>
      </p:sp>
      <p:sp>
        <p:nvSpPr>
          <p:cNvPr id="31" name="TextBox 30"/>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32" name="TextBox 31"/>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33" name="TextBox 32"/>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Assessment Flow</a:t>
            </a:r>
          </a:p>
        </p:txBody>
      </p:sp>
      <p:sp>
        <p:nvSpPr>
          <p:cNvPr id="6" name="Rectangle 5"/>
          <p:cNvSpPr/>
          <p:nvPr/>
        </p:nvSpPr>
        <p:spPr>
          <a:xfrm>
            <a:off x="777240"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01775" y="264261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01775"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23544" y="3657600"/>
            <a:ext cx="1614830" cy="1417320"/>
          </a:xfrm>
          <a:prstGeom prst="rect">
            <a:avLst/>
          </a:prstGeom>
          <a:noFill/>
        </p:spPr>
        <p:txBody>
          <a:bodyPr wrap="square" anchor="t">
            <a:spAutoFit/>
          </a:bodyPr>
          <a:lstStyle/>
          <a:p>
            <a:pPr algn="ctr">
              <a:spcAft>
                <a:spcPts val="400"/>
              </a:spcAft>
            </a:pPr>
            <a:r>
              <a:rPr sz="1300" b="0">
                <a:solidFill>
                  <a:srgbClr val="161B26"/>
                </a:solidFill>
                <a:latin typeface="Arial"/>
              </a:rPr>
              <a:t>TRAQOM digital attendance — scan the QR code on the LMS</a:t>
            </a:r>
          </a:p>
        </p:txBody>
      </p:sp>
      <p:sp>
        <p:nvSpPr>
          <p:cNvPr id="11" name="Chevron 10"/>
          <p:cNvSpPr/>
          <p:nvPr/>
        </p:nvSpPr>
        <p:spPr>
          <a:xfrm>
            <a:off x="2702966" y="360730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958998"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58998" y="233172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83533" y="264261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83533"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6" name="TextBox 15"/>
          <p:cNvSpPr txBox="1"/>
          <p:nvPr/>
        </p:nvSpPr>
        <p:spPr>
          <a:xfrm>
            <a:off x="3105302" y="3657600"/>
            <a:ext cx="1614830" cy="1417320"/>
          </a:xfrm>
          <a:prstGeom prst="rect">
            <a:avLst/>
          </a:prstGeom>
          <a:noFill/>
        </p:spPr>
        <p:txBody>
          <a:bodyPr wrap="square" anchor="t">
            <a:spAutoFit/>
          </a:bodyPr>
          <a:lstStyle/>
          <a:p>
            <a:pPr algn="ctr">
              <a:spcAft>
                <a:spcPts val="400"/>
              </a:spcAft>
            </a:pPr>
            <a:r>
              <a:rPr sz="1300" b="0">
                <a:solidFill>
                  <a:srgbClr val="161B26"/>
                </a:solidFill>
                <a:latin typeface="Arial"/>
              </a:rPr>
              <a:t>Assessment digital attendance — scan the SSG QR</a:t>
            </a:r>
          </a:p>
        </p:txBody>
      </p:sp>
      <p:sp>
        <p:nvSpPr>
          <p:cNvPr id="17" name="Chevron 16"/>
          <p:cNvSpPr/>
          <p:nvPr/>
        </p:nvSpPr>
        <p:spPr>
          <a:xfrm>
            <a:off x="4884724" y="360730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40756"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40756" y="233172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765291" y="264261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5291"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2" name="TextBox 21"/>
          <p:cNvSpPr txBox="1"/>
          <p:nvPr/>
        </p:nvSpPr>
        <p:spPr>
          <a:xfrm>
            <a:off x="5287060" y="3657600"/>
            <a:ext cx="1614830" cy="1417320"/>
          </a:xfrm>
          <a:prstGeom prst="rect">
            <a:avLst/>
          </a:prstGeom>
          <a:noFill/>
        </p:spPr>
        <p:txBody>
          <a:bodyPr wrap="square" anchor="t">
            <a:spAutoFit/>
          </a:bodyPr>
          <a:lstStyle/>
          <a:p>
            <a:pPr algn="ctr">
              <a:spcAft>
                <a:spcPts val="400"/>
              </a:spcAft>
            </a:pPr>
            <a:r>
              <a:rPr sz="1300" b="0">
                <a:solidFill>
                  <a:srgbClr val="161B26"/>
                </a:solidFill>
                <a:latin typeface="Arial"/>
              </a:rPr>
              <a:t>Sit the WA-SAQ then the Case Study — open book</a:t>
            </a:r>
          </a:p>
        </p:txBody>
      </p:sp>
      <p:sp>
        <p:nvSpPr>
          <p:cNvPr id="23" name="Chevron 22"/>
          <p:cNvSpPr/>
          <p:nvPr/>
        </p:nvSpPr>
        <p:spPr>
          <a:xfrm>
            <a:off x="7066482" y="360730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22514"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2514" y="233172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947049" y="264261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47049"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28" name="TextBox 27"/>
          <p:cNvSpPr txBox="1"/>
          <p:nvPr/>
        </p:nvSpPr>
        <p:spPr>
          <a:xfrm>
            <a:off x="7468818" y="3657600"/>
            <a:ext cx="1614830" cy="1417320"/>
          </a:xfrm>
          <a:prstGeom prst="rect">
            <a:avLst/>
          </a:prstGeom>
          <a:noFill/>
        </p:spPr>
        <p:txBody>
          <a:bodyPr wrap="square" anchor="t">
            <a:spAutoFit/>
          </a:bodyPr>
          <a:lstStyle/>
          <a:p>
            <a:pPr algn="ctr">
              <a:spcAft>
                <a:spcPts val="400"/>
              </a:spcAft>
            </a:pPr>
            <a:r>
              <a:rPr sz="1300" b="0">
                <a:solidFill>
                  <a:srgbClr val="161B26"/>
                </a:solidFill>
                <a:latin typeface="Arial"/>
              </a:rPr>
              <a:t>Submit your answers on the LMS</a:t>
            </a:r>
          </a:p>
        </p:txBody>
      </p:sp>
      <p:sp>
        <p:nvSpPr>
          <p:cNvPr id="29" name="Chevron 28"/>
          <p:cNvSpPr/>
          <p:nvPr/>
        </p:nvSpPr>
        <p:spPr>
          <a:xfrm>
            <a:off x="9248240" y="360730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4272"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04272" y="233172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128807" y="264261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128807"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4" name="TextBox 33"/>
          <p:cNvSpPr txBox="1"/>
          <p:nvPr/>
        </p:nvSpPr>
        <p:spPr>
          <a:xfrm>
            <a:off x="9650576" y="3657600"/>
            <a:ext cx="1614830" cy="1417320"/>
          </a:xfrm>
          <a:prstGeom prst="rect">
            <a:avLst/>
          </a:prstGeom>
          <a:noFill/>
        </p:spPr>
        <p:txBody>
          <a:bodyPr wrap="square" anchor="t">
            <a:spAutoFit/>
          </a:bodyPr>
          <a:lstStyle/>
          <a:p>
            <a:pPr algn="ctr">
              <a:spcAft>
                <a:spcPts val="400"/>
              </a:spcAft>
            </a:pPr>
            <a:r>
              <a:rPr sz="1300" b="0">
                <a:solidFill>
                  <a:srgbClr val="161B26"/>
                </a:solidFill>
                <a:latin typeface="Arial"/>
              </a:rPr>
              <a:t>Sign the Assessment Summary Record</a:t>
            </a:r>
          </a:p>
        </p:txBody>
      </p:sp>
      <p:sp>
        <p:nvSpPr>
          <p:cNvPr id="35" name="TextBox 34"/>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36" name="TextBox 35"/>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37" name="TextBox 36"/>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Courseware &amp; Assessment on the LMS</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Everything for the open-book assessment — slides, Learner Guide and submissions — lives on the LMS.</a:t>
            </a:r>
          </a:p>
        </p:txBody>
      </p:sp>
      <p:sp>
        <p:nvSpPr>
          <p:cNvPr id="7" name="Rectangle 6"/>
          <p:cNvSpPr/>
          <p:nvPr/>
        </p:nvSpPr>
        <p:spPr>
          <a:xfrm>
            <a:off x="777240" y="2148840"/>
            <a:ext cx="3749039" cy="3566160"/>
          </a:xfrm>
          <a:prstGeom prst="rect">
            <a:avLst/>
          </a:prstGeom>
          <a:solidFill>
            <a:srgbClr val="0F2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tertiary-infotech-logo.png"/>
          <p:cNvPicPr>
            <a:picLocks noChangeAspect="1"/>
          </p:cNvPicPr>
          <p:nvPr/>
        </p:nvPicPr>
        <p:blipFill>
          <a:blip r:embed="rId2"/>
          <a:stretch>
            <a:fillRect/>
          </a:stretch>
        </p:blipFill>
        <p:spPr>
          <a:xfrm>
            <a:off x="1143000" y="2468880"/>
            <a:ext cx="502920" cy="502920"/>
          </a:xfrm>
          <a:prstGeom prst="rect">
            <a:avLst/>
          </a:prstGeom>
        </p:spPr>
      </p:pic>
      <p:sp>
        <p:nvSpPr>
          <p:cNvPr id="9" name="TextBox 8"/>
          <p:cNvSpPr txBox="1"/>
          <p:nvPr/>
        </p:nvSpPr>
        <p:spPr>
          <a:xfrm>
            <a:off x="777240" y="3200400"/>
            <a:ext cx="3749039" cy="457200"/>
          </a:xfrm>
          <a:prstGeom prst="rect">
            <a:avLst/>
          </a:prstGeom>
          <a:noFill/>
        </p:spPr>
        <p:txBody>
          <a:bodyPr wrap="square" anchor="t">
            <a:spAutoFit/>
          </a:bodyPr>
          <a:lstStyle/>
          <a:p>
            <a:pPr algn="ctr">
              <a:spcAft>
                <a:spcPts val="400"/>
              </a:spcAft>
            </a:pPr>
            <a:r>
              <a:rPr sz="1800" b="1">
                <a:solidFill>
                  <a:srgbClr val="FFFFFF"/>
                </a:solidFill>
                <a:latin typeface="Arial"/>
              </a:rPr>
              <a:t>Tertiary Infotech Academy</a:t>
            </a:r>
          </a:p>
        </p:txBody>
      </p:sp>
      <p:sp>
        <p:nvSpPr>
          <p:cNvPr id="10" name="TextBox 9"/>
          <p:cNvSpPr txBox="1"/>
          <p:nvPr/>
        </p:nvSpPr>
        <p:spPr>
          <a:xfrm>
            <a:off x="777240" y="3703320"/>
            <a:ext cx="3749039" cy="365760"/>
          </a:xfrm>
          <a:prstGeom prst="rect">
            <a:avLst/>
          </a:prstGeom>
          <a:noFill/>
        </p:spPr>
        <p:txBody>
          <a:bodyPr wrap="square" anchor="t">
            <a:spAutoFit/>
          </a:bodyPr>
          <a:lstStyle/>
          <a:p>
            <a:pPr algn="ctr">
              <a:spcAft>
                <a:spcPts val="400"/>
              </a:spcAft>
            </a:pPr>
            <a:r>
              <a:rPr sz="1200" b="0">
                <a:solidFill>
                  <a:srgbClr val="B8C7E0"/>
                </a:solidFill>
                <a:latin typeface="Arial"/>
              </a:rPr>
              <a:t>LMS and TMS for SSG courses</a:t>
            </a:r>
          </a:p>
        </p:txBody>
      </p:sp>
      <p:sp>
        <p:nvSpPr>
          <p:cNvPr id="11" name="Rectangle 10"/>
          <p:cNvSpPr/>
          <p:nvPr/>
        </p:nvSpPr>
        <p:spPr>
          <a:xfrm>
            <a:off x="1737360" y="4297680"/>
            <a:ext cx="1828800"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737360" y="4297680"/>
            <a:ext cx="1828800" cy="502920"/>
          </a:xfrm>
          <a:prstGeom prst="rect">
            <a:avLst/>
          </a:prstGeom>
          <a:noFill/>
        </p:spPr>
        <p:txBody>
          <a:bodyPr wrap="square" anchor="ctr">
            <a:spAutoFit/>
          </a:bodyPr>
          <a:lstStyle/>
          <a:p>
            <a:pPr algn="ctr">
              <a:spcAft>
                <a:spcPts val="400"/>
              </a:spcAft>
            </a:pPr>
            <a:r>
              <a:rPr sz="1400" b="1">
                <a:solidFill>
                  <a:srgbClr val="FFFFFF"/>
                </a:solidFill>
                <a:latin typeface="Arial"/>
              </a:rPr>
              <a:t>Sign in / OTP</a:t>
            </a:r>
          </a:p>
        </p:txBody>
      </p:sp>
      <p:sp>
        <p:nvSpPr>
          <p:cNvPr id="13" name="TextBox 12"/>
          <p:cNvSpPr txBox="1"/>
          <p:nvPr/>
        </p:nvSpPr>
        <p:spPr>
          <a:xfrm>
            <a:off x="777240" y="5029200"/>
            <a:ext cx="3749039" cy="365760"/>
          </a:xfrm>
          <a:prstGeom prst="rect">
            <a:avLst/>
          </a:prstGeom>
          <a:noFill/>
        </p:spPr>
        <p:txBody>
          <a:bodyPr wrap="square" anchor="t">
            <a:spAutoFit/>
          </a:bodyPr>
          <a:lstStyle/>
          <a:p>
            <a:pPr algn="ctr">
              <a:spcAft>
                <a:spcPts val="400"/>
              </a:spcAft>
            </a:pPr>
            <a:r>
              <a:rPr sz="1200" b="1">
                <a:solidFill>
                  <a:srgbClr val="9CDCFE"/>
                </a:solidFill>
                <a:latin typeface="Arial"/>
              </a:rPr>
              <a:t>lms-tms.tertiaryinfotech.com</a:t>
            </a:r>
          </a:p>
        </p:txBody>
      </p:sp>
      <p:sp>
        <p:nvSpPr>
          <p:cNvPr id="14" name="Rectangle 13"/>
          <p:cNvSpPr/>
          <p:nvPr/>
        </p:nvSpPr>
        <p:spPr>
          <a:xfrm>
            <a:off x="4800600" y="2148840"/>
            <a:ext cx="6611112" cy="740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800600" y="2148840"/>
            <a:ext cx="91440" cy="7406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029200" y="2290572"/>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0" y="2290572"/>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8" name="TextBox 17"/>
          <p:cNvSpPr txBox="1"/>
          <p:nvPr/>
        </p:nvSpPr>
        <p:spPr>
          <a:xfrm>
            <a:off x="5669280" y="2148840"/>
            <a:ext cx="5559552" cy="740664"/>
          </a:xfrm>
          <a:prstGeom prst="rect">
            <a:avLst/>
          </a:prstGeom>
          <a:noFill/>
        </p:spPr>
        <p:txBody>
          <a:bodyPr wrap="square" anchor="ctr">
            <a:spAutoFit/>
          </a:bodyPr>
          <a:lstStyle/>
          <a:p>
            <a:pPr algn="l">
              <a:spcAft>
                <a:spcPts val="200"/>
              </a:spcAft>
            </a:pPr>
            <a:r>
              <a:rPr sz="1400" b="1">
                <a:solidFill>
                  <a:srgbClr val="161B26"/>
                </a:solidFill>
                <a:latin typeface="Arial"/>
              </a:rPr>
              <a:t>Sign in</a:t>
            </a:r>
          </a:p>
          <a:p>
            <a:pPr algn="l">
              <a:spcAft>
                <a:spcPts val="200"/>
              </a:spcAft>
            </a:pPr>
            <a:r>
              <a:rPr sz="1100" b="0">
                <a:solidFill>
                  <a:srgbClr val="5B6372"/>
                </a:solidFill>
                <a:latin typeface="Arial"/>
              </a:rPr>
              <a:t>Log in with your registered email (OTP or password).</a:t>
            </a:r>
          </a:p>
        </p:txBody>
      </p:sp>
      <p:sp>
        <p:nvSpPr>
          <p:cNvPr id="19" name="Rectangle 18"/>
          <p:cNvSpPr/>
          <p:nvPr/>
        </p:nvSpPr>
        <p:spPr>
          <a:xfrm>
            <a:off x="4800600" y="3090672"/>
            <a:ext cx="6611112" cy="740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800600" y="3090672"/>
            <a:ext cx="91440" cy="7406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029200" y="323240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0" y="3232404"/>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23" name="TextBox 22"/>
          <p:cNvSpPr txBox="1"/>
          <p:nvPr/>
        </p:nvSpPr>
        <p:spPr>
          <a:xfrm>
            <a:off x="5669280" y="3090672"/>
            <a:ext cx="5559552" cy="740664"/>
          </a:xfrm>
          <a:prstGeom prst="rect">
            <a:avLst/>
          </a:prstGeom>
          <a:noFill/>
        </p:spPr>
        <p:txBody>
          <a:bodyPr wrap="square" anchor="ctr">
            <a:spAutoFit/>
          </a:bodyPr>
          <a:lstStyle/>
          <a:p>
            <a:pPr algn="l">
              <a:spcAft>
                <a:spcPts val="200"/>
              </a:spcAft>
            </a:pPr>
            <a:r>
              <a:rPr sz="1400" b="1">
                <a:solidFill>
                  <a:srgbClr val="161B26"/>
                </a:solidFill>
                <a:latin typeface="Arial"/>
              </a:rPr>
              <a:t>Download materials</a:t>
            </a:r>
          </a:p>
          <a:p>
            <a:pPr algn="l">
              <a:spcAft>
                <a:spcPts val="200"/>
              </a:spcAft>
            </a:pPr>
            <a:r>
              <a:rPr sz="1100" b="0">
                <a:solidFill>
                  <a:srgbClr val="5B6372"/>
                </a:solidFill>
                <a:latin typeface="Arial"/>
              </a:rPr>
              <a:t>Slides and the Learner Guide from the course page — your open-book references.</a:t>
            </a:r>
          </a:p>
        </p:txBody>
      </p:sp>
      <p:sp>
        <p:nvSpPr>
          <p:cNvPr id="24" name="Rectangle 23"/>
          <p:cNvSpPr/>
          <p:nvPr/>
        </p:nvSpPr>
        <p:spPr>
          <a:xfrm>
            <a:off x="4800600" y="4032504"/>
            <a:ext cx="6611112" cy="740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800600" y="4032504"/>
            <a:ext cx="91440" cy="7406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029200" y="4174236"/>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0" y="4174236"/>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8" name="TextBox 27"/>
          <p:cNvSpPr txBox="1"/>
          <p:nvPr/>
        </p:nvSpPr>
        <p:spPr>
          <a:xfrm>
            <a:off x="5669280" y="4032504"/>
            <a:ext cx="5559552" cy="740664"/>
          </a:xfrm>
          <a:prstGeom prst="rect">
            <a:avLst/>
          </a:prstGeom>
          <a:noFill/>
        </p:spPr>
        <p:txBody>
          <a:bodyPr wrap="square" anchor="ctr">
            <a:spAutoFit/>
          </a:bodyPr>
          <a:lstStyle/>
          <a:p>
            <a:pPr algn="l">
              <a:spcAft>
                <a:spcPts val="200"/>
              </a:spcAft>
            </a:pPr>
            <a:r>
              <a:rPr sz="1400" b="1">
                <a:solidFill>
                  <a:srgbClr val="161B26"/>
                </a:solidFill>
                <a:latin typeface="Arial"/>
              </a:rPr>
              <a:t>Submit answers</a:t>
            </a:r>
          </a:p>
          <a:p>
            <a:pPr algn="l">
              <a:spcAft>
                <a:spcPts val="200"/>
              </a:spcAft>
            </a:pPr>
            <a:r>
              <a:rPr sz="1100" b="0">
                <a:solidFill>
                  <a:srgbClr val="5B6372"/>
                </a:solidFill>
                <a:latin typeface="Arial"/>
              </a:rPr>
              <a:t>Upload your Written Assessment and Case Study answers on the LMS.</a:t>
            </a:r>
          </a:p>
        </p:txBody>
      </p:sp>
      <p:sp>
        <p:nvSpPr>
          <p:cNvPr id="29" name="Rectangle 28"/>
          <p:cNvSpPr/>
          <p:nvPr/>
        </p:nvSpPr>
        <p:spPr>
          <a:xfrm>
            <a:off x="4800600" y="4974336"/>
            <a:ext cx="6611112" cy="7406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800600" y="4974336"/>
            <a:ext cx="91440" cy="7406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029200" y="5116068"/>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0" y="5116068"/>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33" name="TextBox 32"/>
          <p:cNvSpPr txBox="1"/>
          <p:nvPr/>
        </p:nvSpPr>
        <p:spPr>
          <a:xfrm>
            <a:off x="5669280" y="4974336"/>
            <a:ext cx="5559552" cy="740664"/>
          </a:xfrm>
          <a:prstGeom prst="rect">
            <a:avLst/>
          </a:prstGeom>
          <a:noFill/>
        </p:spPr>
        <p:txBody>
          <a:bodyPr wrap="square" anchor="ctr">
            <a:spAutoFit/>
          </a:bodyPr>
          <a:lstStyle/>
          <a:p>
            <a:pPr algn="l">
              <a:spcAft>
                <a:spcPts val="200"/>
              </a:spcAft>
            </a:pPr>
            <a:r>
              <a:rPr sz="1400" b="1">
                <a:solidFill>
                  <a:srgbClr val="161B26"/>
                </a:solidFill>
                <a:latin typeface="Arial"/>
              </a:rPr>
              <a:t>TRAQOM attendance</a:t>
            </a:r>
          </a:p>
          <a:p>
            <a:pPr algn="l">
              <a:spcAft>
                <a:spcPts val="200"/>
              </a:spcAft>
            </a:pPr>
            <a:r>
              <a:rPr sz="1100" b="0">
                <a:solidFill>
                  <a:srgbClr val="5B6372"/>
                </a:solidFill>
                <a:latin typeface="Arial"/>
              </a:rPr>
              <a:t>Complete TRAQOM digital attendance via the QR code shown on the LMS.</a:t>
            </a:r>
          </a:p>
        </p:txBody>
      </p:sp>
      <p:sp>
        <p:nvSpPr>
          <p:cNvPr id="34" name="Rectangle 33"/>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5870448"/>
            <a:ext cx="914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97280" y="5870448"/>
            <a:ext cx="10058400" cy="457200"/>
          </a:xfrm>
          <a:prstGeom prst="rect">
            <a:avLst/>
          </a:prstGeom>
          <a:noFill/>
        </p:spPr>
        <p:txBody>
          <a:bodyPr wrap="square" anchor="ctr">
            <a:spAutoFit/>
          </a:bodyPr>
          <a:lstStyle/>
          <a:p>
            <a:pPr algn="l">
              <a:spcAft>
                <a:spcPts val="400"/>
              </a:spcAft>
            </a:pPr>
            <a:r>
              <a:rPr sz="1300" b="1">
                <a:solidFill>
                  <a:srgbClr val="161B26"/>
                </a:solidFill>
                <a:latin typeface="Arial"/>
              </a:rPr>
              <a:t>https://lms-tms.tertiaryinfotech.com/</a:t>
            </a:r>
          </a:p>
        </p:txBody>
      </p:sp>
      <p:sp>
        <p:nvSpPr>
          <p:cNvPr id="37" name="TextBox 36"/>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38" name="TextBox 37"/>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39" name="TextBox 38"/>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LEARNER RESOURCES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Activity Files</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Each activity has its own scenario, role cards, detailed instructions, worksheet, checklist and printable PDF set.</a:t>
            </a:r>
          </a:p>
        </p:txBody>
      </p:sp>
      <p:sp>
        <p:nvSpPr>
          <p:cNvPr id="7" name="Rectangle 6"/>
          <p:cNvSpPr/>
          <p:nvPr/>
        </p:nvSpPr>
        <p:spPr>
          <a:xfrm>
            <a:off x="777240" y="2057400"/>
            <a:ext cx="5166360"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57400"/>
            <a:ext cx="91440"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221992"/>
            <a:ext cx="4663440" cy="320040"/>
          </a:xfrm>
          <a:prstGeom prst="rect">
            <a:avLst/>
          </a:prstGeom>
          <a:noFill/>
        </p:spPr>
        <p:txBody>
          <a:bodyPr wrap="square" anchor="t">
            <a:spAutoFit/>
          </a:bodyPr>
          <a:lstStyle/>
          <a:p>
            <a:pPr algn="l">
              <a:spcAft>
                <a:spcPts val="400"/>
              </a:spcAft>
            </a:pPr>
            <a:r>
              <a:rPr sz="1500" b="1">
                <a:solidFill>
                  <a:srgbClr val="1F6FEB"/>
                </a:solidFill>
                <a:latin typeface="Arial"/>
              </a:rPr>
              <a:t>Open online</a:t>
            </a:r>
          </a:p>
        </p:txBody>
      </p:sp>
      <p:sp>
        <p:nvSpPr>
          <p:cNvPr id="10" name="TextBox 9"/>
          <p:cNvSpPr txBox="1"/>
          <p:nvPr/>
        </p:nvSpPr>
        <p:spPr>
          <a:xfrm>
            <a:off x="1051560" y="2587752"/>
            <a:ext cx="4663440" cy="566928"/>
          </a:xfrm>
          <a:prstGeom prst="rect">
            <a:avLst/>
          </a:prstGeom>
          <a:noFill/>
        </p:spPr>
        <p:txBody>
          <a:bodyPr wrap="square" anchor="t">
            <a:spAutoFit/>
          </a:bodyPr>
          <a:lstStyle/>
          <a:p>
            <a:pPr algn="l">
              <a:spcAft>
                <a:spcPts val="400"/>
              </a:spcAft>
            </a:pPr>
            <a:r>
              <a:rPr sz="1150" b="0">
                <a:solidFill>
                  <a:srgbClr val="161B26"/>
                </a:solidFill>
                <a:latin typeface="Arial"/>
              </a:rPr>
              <a:t>Use the GitHub course repository to browse or download the public activity folders.</a:t>
            </a:r>
          </a:p>
        </p:txBody>
      </p:sp>
      <p:sp>
        <p:nvSpPr>
          <p:cNvPr id="11" name="Rectangle 10"/>
          <p:cNvSpPr/>
          <p:nvPr/>
        </p:nvSpPr>
        <p:spPr>
          <a:xfrm>
            <a:off x="6245352" y="2057400"/>
            <a:ext cx="5166360"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45352" y="2057400"/>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9672" y="2221992"/>
            <a:ext cx="4663440" cy="320040"/>
          </a:xfrm>
          <a:prstGeom prst="rect">
            <a:avLst/>
          </a:prstGeom>
          <a:noFill/>
        </p:spPr>
        <p:txBody>
          <a:bodyPr wrap="square" anchor="t">
            <a:spAutoFit/>
          </a:bodyPr>
          <a:lstStyle/>
          <a:p>
            <a:pPr algn="l">
              <a:spcAft>
                <a:spcPts val="400"/>
              </a:spcAft>
            </a:pPr>
            <a:r>
              <a:rPr sz="1500" b="1">
                <a:solidFill>
                  <a:srgbClr val="10B981"/>
                </a:solidFill>
                <a:latin typeface="Arial"/>
              </a:rPr>
              <a:t>Choose your activity</a:t>
            </a:r>
          </a:p>
        </p:txBody>
      </p:sp>
      <p:sp>
        <p:nvSpPr>
          <p:cNvPr id="14" name="TextBox 13"/>
          <p:cNvSpPr txBox="1"/>
          <p:nvPr/>
        </p:nvSpPr>
        <p:spPr>
          <a:xfrm>
            <a:off x="6519672" y="2587752"/>
            <a:ext cx="4663440" cy="566928"/>
          </a:xfrm>
          <a:prstGeom prst="rect">
            <a:avLst/>
          </a:prstGeom>
          <a:noFill/>
        </p:spPr>
        <p:txBody>
          <a:bodyPr wrap="square" anchor="t">
            <a:spAutoFit/>
          </a:bodyPr>
          <a:lstStyle/>
          <a:p>
            <a:pPr algn="l">
              <a:spcAft>
                <a:spcPts val="400"/>
              </a:spcAft>
            </a:pPr>
            <a:r>
              <a:rPr sz="1150" b="0">
                <a:solidFill>
                  <a:srgbClr val="161B26"/>
                </a:solidFill>
                <a:latin typeface="Arial"/>
              </a:rPr>
              <a:t>Open Activity-01 to Activity-08; every folder is self-contained.</a:t>
            </a:r>
          </a:p>
        </p:txBody>
      </p:sp>
      <p:sp>
        <p:nvSpPr>
          <p:cNvPr id="15" name="Rectangle 14"/>
          <p:cNvSpPr/>
          <p:nvPr/>
        </p:nvSpPr>
        <p:spPr>
          <a:xfrm>
            <a:off x="777240" y="3538728"/>
            <a:ext cx="5166360"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538728"/>
            <a:ext cx="91440"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3703320"/>
            <a:ext cx="4663440" cy="320040"/>
          </a:xfrm>
          <a:prstGeom prst="rect">
            <a:avLst/>
          </a:prstGeom>
          <a:noFill/>
        </p:spPr>
        <p:txBody>
          <a:bodyPr wrap="square" anchor="t">
            <a:spAutoFit/>
          </a:bodyPr>
          <a:lstStyle/>
          <a:p>
            <a:pPr algn="l">
              <a:spcAft>
                <a:spcPts val="400"/>
              </a:spcAft>
            </a:pPr>
            <a:r>
              <a:rPr sz="1500" b="1">
                <a:solidFill>
                  <a:srgbClr val="7C3AED"/>
                </a:solidFill>
                <a:latin typeface="Arial"/>
              </a:rPr>
              <a:t>Work from the guide</a:t>
            </a:r>
          </a:p>
        </p:txBody>
      </p:sp>
      <p:sp>
        <p:nvSpPr>
          <p:cNvPr id="18" name="TextBox 17"/>
          <p:cNvSpPr txBox="1"/>
          <p:nvPr/>
        </p:nvSpPr>
        <p:spPr>
          <a:xfrm>
            <a:off x="1051560" y="4069080"/>
            <a:ext cx="4663440" cy="566928"/>
          </a:xfrm>
          <a:prstGeom prst="rect">
            <a:avLst/>
          </a:prstGeom>
          <a:noFill/>
        </p:spPr>
        <p:txBody>
          <a:bodyPr wrap="square" anchor="t">
            <a:spAutoFit/>
          </a:bodyPr>
          <a:lstStyle/>
          <a:p>
            <a:pPr algn="l">
              <a:spcAft>
                <a:spcPts val="400"/>
              </a:spcAft>
            </a:pPr>
            <a:r>
              <a:rPr sz="1150" b="0">
                <a:solidFill>
                  <a:srgbClr val="161B26"/>
                </a:solidFill>
                <a:latin typeface="Arial"/>
              </a:rPr>
              <a:t>Detailed procedures stay in the Learner Guide and activity instructions—not in this deck.</a:t>
            </a:r>
          </a:p>
        </p:txBody>
      </p:sp>
      <p:sp>
        <p:nvSpPr>
          <p:cNvPr id="19" name="Rectangle 18"/>
          <p:cNvSpPr/>
          <p:nvPr/>
        </p:nvSpPr>
        <p:spPr>
          <a:xfrm>
            <a:off x="6245352" y="3538728"/>
            <a:ext cx="5166360"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5352" y="3538728"/>
            <a:ext cx="91440" cy="1234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9672" y="3703320"/>
            <a:ext cx="4663440" cy="320040"/>
          </a:xfrm>
          <a:prstGeom prst="rect">
            <a:avLst/>
          </a:prstGeom>
          <a:noFill/>
        </p:spPr>
        <p:txBody>
          <a:bodyPr wrap="square" anchor="t">
            <a:spAutoFit/>
          </a:bodyPr>
          <a:lstStyle/>
          <a:p>
            <a:pPr algn="l">
              <a:spcAft>
                <a:spcPts val="400"/>
              </a:spcAft>
            </a:pPr>
            <a:r>
              <a:rPr sz="1500" b="1">
                <a:solidFill>
                  <a:srgbClr val="F59E0B"/>
                </a:solidFill>
                <a:latin typeface="Arial"/>
              </a:rPr>
              <a:t>Submit evidence</a:t>
            </a:r>
          </a:p>
        </p:txBody>
      </p:sp>
      <p:sp>
        <p:nvSpPr>
          <p:cNvPr id="22" name="TextBox 21"/>
          <p:cNvSpPr txBox="1"/>
          <p:nvPr/>
        </p:nvSpPr>
        <p:spPr>
          <a:xfrm>
            <a:off x="6519672" y="4069080"/>
            <a:ext cx="4663440" cy="566928"/>
          </a:xfrm>
          <a:prstGeom prst="rect">
            <a:avLst/>
          </a:prstGeom>
          <a:noFill/>
        </p:spPr>
        <p:txBody>
          <a:bodyPr wrap="square" anchor="t">
            <a:spAutoFit/>
          </a:bodyPr>
          <a:lstStyle/>
          <a:p>
            <a:pPr algn="l">
              <a:spcAft>
                <a:spcPts val="400"/>
              </a:spcAft>
            </a:pPr>
            <a:r>
              <a:rPr sz="1150" b="0">
                <a:solidFill>
                  <a:srgbClr val="161B26"/>
                </a:solidFill>
                <a:latin typeface="Arial"/>
              </a:rPr>
              <a:t>Use the approved LMS channel and avoid including real personal or confidential case data.</a:t>
            </a:r>
          </a:p>
        </p:txBody>
      </p:sp>
      <p:sp>
        <p:nvSpPr>
          <p:cNvPr id="23" name="TextBox 22"/>
          <p:cNvSpPr txBox="1"/>
          <p:nvPr/>
        </p:nvSpPr>
        <p:spPr>
          <a:xfrm>
            <a:off x="868680" y="5230368"/>
            <a:ext cx="10469880" cy="594360"/>
          </a:xfrm>
          <a:prstGeom prst="rect">
            <a:avLst/>
          </a:prstGeom>
          <a:solidFill>
            <a:srgbClr val="F5F8FC"/>
          </a:solidFill>
          <a:ln>
            <a:solidFill>
              <a:srgbClr val="10B981"/>
            </a:solidFill>
          </a:ln>
        </p:spPr>
        <p:txBody>
          <a:bodyPr wrap="square" anchor="ctr">
            <a:spAutoFit/>
          </a:bodyPr>
          <a:lstStyle/>
          <a:p>
            <a:pPr algn="ctr">
              <a:spcAft>
                <a:spcPts val="400"/>
              </a:spcAft>
            </a:pPr>
            <a:r>
              <a:rPr sz="1500" b="1">
                <a:solidFill>
                  <a:srgbClr val="1F6FEB"/>
                </a:solidFill>
                <a:latin typeface="Arial"/>
                <a:hlinkClick r:id="rId2"/>
              </a:rPr>
              <a:t>Open the Activities repository</a:t>
            </a:r>
          </a:p>
        </p:txBody>
      </p:sp>
      <p:sp>
        <p:nvSpPr>
          <p:cNvPr id="24" name="TextBox 23"/>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5" name="TextBox 24"/>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6" name="TextBox 25"/>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fast" advClick="1">
    <p:wipe dir="l"/>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Identifying Conflicts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Signals · Stages · Facts and perceptions · Conflict history · Root causes · Impact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Topic 1</a:t>
            </a:r>
          </a:p>
        </p:txBody>
      </p:sp>
      <p:sp>
        <p:nvSpPr>
          <p:cNvPr id="9" name="TextBox 8"/>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0" name="TextBox 9"/>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1" name="TextBox 10"/>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350"/>
                                        <p:tgtEl>
                                          <p:spTgt spid="7"/>
                                        </p:tgtEl>
                                      </p:cBhvr>
                                    </p:animEffect>
                                    <p:anim calcmode="lin" valueType="num">
                                      <p:cBhvr additive="base">
                                        <p:cTn id="45" dur="350" fill="hold"/>
                                        <p:tgtEl>
                                          <p:spTgt spid="7"/>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KEY CONCEPTS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Key Concepts — Identifying Conflicts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Conflict is more than disagreement: it arises when one or more parties perceive that important needs, interests, values, roles or resources are threatened.</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Early indicators include changed communication, avoidance, cliques, repeated rework, defensive behaviour, absenteeism, complaints and declining service or output.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The escalation path moves from latent conditions to perceived tension, felt emotion, manifest behaviour and an aftermath that can repair or reinforce the pattern.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A fair assessment triangulates accounts, records, observations and context; it distinguishes facts from interpretations and tests alternative explanations.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0" name="TextBox 29"/>
          <p:cNvSpPr txBox="1"/>
          <p:nvPr/>
        </p:nvSpPr>
        <p:spPr>
          <a:xfrm>
            <a:off x="1764792"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Root causes often combine task, process, relationship, status, identity, resource, value and structural factors rather than one difficult personality.</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5" name="TextBox 34"/>
          <p:cNvSpPr txBox="1"/>
          <p:nvPr/>
        </p:nvSpPr>
        <p:spPr>
          <a:xfrm>
            <a:off x="7219188"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Immediate safety, harassment, discrimination, retaliation or serious misconduct concerns require policy-led escalation rather than informal facilitation alone.</a:t>
            </a:r>
          </a:p>
        </p:txBody>
      </p:sp>
      <p:sp>
        <p:nvSpPr>
          <p:cNvPr id="36" name="TextBox 3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37" name="TextBox 3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38" name="TextBox 3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EARLY INDICATORS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Conflict is data before it becomes damage</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A manager's first task is accurate recognition—not a fast verdict.</a:t>
            </a:r>
          </a:p>
        </p:txBody>
      </p:sp>
      <p:sp>
        <p:nvSpPr>
          <p:cNvPr id="7" name="Rectangle 6"/>
          <p:cNvSpPr/>
          <p:nvPr/>
        </p:nvSpPr>
        <p:spPr>
          <a:xfrm>
            <a:off x="777240" y="2057400"/>
            <a:ext cx="5180076" cy="19156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57400"/>
            <a:ext cx="91440" cy="19156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221992"/>
            <a:ext cx="4677156" cy="365760"/>
          </a:xfrm>
          <a:prstGeom prst="rect">
            <a:avLst/>
          </a:prstGeom>
          <a:noFill/>
        </p:spPr>
        <p:txBody>
          <a:bodyPr wrap="square" anchor="t">
            <a:spAutoFit/>
          </a:bodyPr>
          <a:lstStyle/>
          <a:p>
            <a:pPr algn="l">
              <a:spcAft>
                <a:spcPts val="400"/>
              </a:spcAft>
            </a:pPr>
            <a:r>
              <a:rPr sz="1600" b="1">
                <a:solidFill>
                  <a:srgbClr val="1F6FEB"/>
                </a:solidFill>
                <a:latin typeface="Arial"/>
              </a:rPr>
              <a:t>Communication</a:t>
            </a:r>
          </a:p>
        </p:txBody>
      </p:sp>
      <p:sp>
        <p:nvSpPr>
          <p:cNvPr id="10" name="TextBox 9"/>
          <p:cNvSpPr txBox="1"/>
          <p:nvPr/>
        </p:nvSpPr>
        <p:spPr>
          <a:xfrm>
            <a:off x="1051560" y="2624328"/>
            <a:ext cx="4677156" cy="1229868"/>
          </a:xfrm>
          <a:prstGeom prst="rect">
            <a:avLst/>
          </a:prstGeom>
          <a:noFill/>
        </p:spPr>
        <p:txBody>
          <a:bodyPr wrap="square" anchor="t">
            <a:spAutoFit/>
          </a:bodyPr>
          <a:lstStyle/>
          <a:p>
            <a:pPr algn="l">
              <a:spcAft>
                <a:spcPts val="400"/>
              </a:spcAft>
            </a:pPr>
            <a:r>
              <a:rPr sz="1200" b="0">
                <a:solidFill>
                  <a:srgbClr val="161B26"/>
                </a:solidFill>
                <a:latin typeface="Arial"/>
              </a:rPr>
              <a:t>Silence, repeated interruption, sarcasm, side conversations or messages that bypass normal channels.</a:t>
            </a:r>
          </a:p>
        </p:txBody>
      </p:sp>
      <p:sp>
        <p:nvSpPr>
          <p:cNvPr id="11" name="Rectangle 10"/>
          <p:cNvSpPr/>
          <p:nvPr/>
        </p:nvSpPr>
        <p:spPr>
          <a:xfrm>
            <a:off x="6231636" y="2057400"/>
            <a:ext cx="5180076" cy="19156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2057400"/>
            <a:ext cx="91440" cy="19156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05956" y="2221992"/>
            <a:ext cx="4677156" cy="365760"/>
          </a:xfrm>
          <a:prstGeom prst="rect">
            <a:avLst/>
          </a:prstGeom>
          <a:noFill/>
        </p:spPr>
        <p:txBody>
          <a:bodyPr wrap="square" anchor="t">
            <a:spAutoFit/>
          </a:bodyPr>
          <a:lstStyle/>
          <a:p>
            <a:pPr algn="l">
              <a:spcAft>
                <a:spcPts val="400"/>
              </a:spcAft>
            </a:pPr>
            <a:r>
              <a:rPr sz="1600" b="1">
                <a:solidFill>
                  <a:srgbClr val="10B981"/>
                </a:solidFill>
                <a:latin typeface="Arial"/>
              </a:rPr>
              <a:t>Coordination</a:t>
            </a:r>
          </a:p>
        </p:txBody>
      </p:sp>
      <p:sp>
        <p:nvSpPr>
          <p:cNvPr id="14" name="TextBox 13"/>
          <p:cNvSpPr txBox="1"/>
          <p:nvPr/>
        </p:nvSpPr>
        <p:spPr>
          <a:xfrm>
            <a:off x="6505956" y="2624328"/>
            <a:ext cx="4677156" cy="1229868"/>
          </a:xfrm>
          <a:prstGeom prst="rect">
            <a:avLst/>
          </a:prstGeom>
          <a:noFill/>
        </p:spPr>
        <p:txBody>
          <a:bodyPr wrap="square" anchor="t">
            <a:spAutoFit/>
          </a:bodyPr>
          <a:lstStyle/>
          <a:p>
            <a:pPr algn="l">
              <a:spcAft>
                <a:spcPts val="400"/>
              </a:spcAft>
            </a:pPr>
            <a:r>
              <a:rPr sz="1200" b="0">
                <a:solidFill>
                  <a:srgbClr val="161B26"/>
                </a:solidFill>
                <a:latin typeface="Arial"/>
              </a:rPr>
              <a:t>Missed handoffs, duplicated work, withheld information or unexplained decision reversals.</a:t>
            </a:r>
          </a:p>
        </p:txBody>
      </p:sp>
      <p:sp>
        <p:nvSpPr>
          <p:cNvPr id="15" name="Rectangle 14"/>
          <p:cNvSpPr/>
          <p:nvPr/>
        </p:nvSpPr>
        <p:spPr>
          <a:xfrm>
            <a:off x="777240" y="4210812"/>
            <a:ext cx="5180076" cy="19156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210812"/>
            <a:ext cx="91440" cy="19156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375404"/>
            <a:ext cx="4677156" cy="365760"/>
          </a:xfrm>
          <a:prstGeom prst="rect">
            <a:avLst/>
          </a:prstGeom>
          <a:noFill/>
        </p:spPr>
        <p:txBody>
          <a:bodyPr wrap="square" anchor="t">
            <a:spAutoFit/>
          </a:bodyPr>
          <a:lstStyle/>
          <a:p>
            <a:pPr algn="l">
              <a:spcAft>
                <a:spcPts val="400"/>
              </a:spcAft>
            </a:pPr>
            <a:r>
              <a:rPr sz="1600" b="1">
                <a:solidFill>
                  <a:srgbClr val="7C3AED"/>
                </a:solidFill>
                <a:latin typeface="Arial"/>
              </a:rPr>
              <a:t>People</a:t>
            </a:r>
          </a:p>
        </p:txBody>
      </p:sp>
      <p:sp>
        <p:nvSpPr>
          <p:cNvPr id="18" name="TextBox 17"/>
          <p:cNvSpPr txBox="1"/>
          <p:nvPr/>
        </p:nvSpPr>
        <p:spPr>
          <a:xfrm>
            <a:off x="1051560" y="4777740"/>
            <a:ext cx="4677156" cy="1229868"/>
          </a:xfrm>
          <a:prstGeom prst="rect">
            <a:avLst/>
          </a:prstGeom>
          <a:noFill/>
        </p:spPr>
        <p:txBody>
          <a:bodyPr wrap="square" anchor="t">
            <a:spAutoFit/>
          </a:bodyPr>
          <a:lstStyle/>
          <a:p>
            <a:pPr algn="l">
              <a:spcAft>
                <a:spcPts val="400"/>
              </a:spcAft>
            </a:pPr>
            <a:r>
              <a:rPr sz="1200" b="0">
                <a:solidFill>
                  <a:srgbClr val="161B26"/>
                </a:solidFill>
                <a:latin typeface="Arial"/>
              </a:rPr>
              <a:t>Withdrawal, visible tension, repeated absence, complaints or requests to move team.</a:t>
            </a:r>
          </a:p>
        </p:txBody>
      </p:sp>
      <p:sp>
        <p:nvSpPr>
          <p:cNvPr id="19" name="Rectangle 18"/>
          <p:cNvSpPr/>
          <p:nvPr/>
        </p:nvSpPr>
        <p:spPr>
          <a:xfrm>
            <a:off x="6231636" y="4210812"/>
            <a:ext cx="5180076" cy="19156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1636" y="4210812"/>
            <a:ext cx="91440" cy="19156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05956" y="4375404"/>
            <a:ext cx="4677156" cy="365760"/>
          </a:xfrm>
          <a:prstGeom prst="rect">
            <a:avLst/>
          </a:prstGeom>
          <a:noFill/>
        </p:spPr>
        <p:txBody>
          <a:bodyPr wrap="square" anchor="t">
            <a:spAutoFit/>
          </a:bodyPr>
          <a:lstStyle/>
          <a:p>
            <a:pPr algn="l">
              <a:spcAft>
                <a:spcPts val="400"/>
              </a:spcAft>
            </a:pPr>
            <a:r>
              <a:rPr sz="1600" b="1">
                <a:solidFill>
                  <a:srgbClr val="F59E0B"/>
                </a:solidFill>
                <a:latin typeface="Arial"/>
              </a:rPr>
              <a:t>Results</a:t>
            </a:r>
          </a:p>
        </p:txBody>
      </p:sp>
      <p:sp>
        <p:nvSpPr>
          <p:cNvPr id="22" name="TextBox 21"/>
          <p:cNvSpPr txBox="1"/>
          <p:nvPr/>
        </p:nvSpPr>
        <p:spPr>
          <a:xfrm>
            <a:off x="6505956" y="4777740"/>
            <a:ext cx="4677156" cy="1229868"/>
          </a:xfrm>
          <a:prstGeom prst="rect">
            <a:avLst/>
          </a:prstGeom>
          <a:noFill/>
        </p:spPr>
        <p:txBody>
          <a:bodyPr wrap="square" anchor="t">
            <a:spAutoFit/>
          </a:bodyPr>
          <a:lstStyle/>
          <a:p>
            <a:pPr algn="l">
              <a:spcAft>
                <a:spcPts val="400"/>
              </a:spcAft>
            </a:pPr>
            <a:r>
              <a:rPr sz="1200" b="0">
                <a:solidFill>
                  <a:srgbClr val="161B26"/>
                </a:solidFill>
                <a:latin typeface="Arial"/>
              </a:rPr>
              <a:t>Quality defects, delay, rework, customer complaints, safety exposure or lost opportunities.</a:t>
            </a:r>
          </a:p>
        </p:txBody>
      </p:sp>
      <p:sp>
        <p:nvSpPr>
          <p:cNvPr id="23" name="TextBox 22"/>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4" name="TextBox 23"/>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5" name="TextBox 24"/>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CONFLICT STAGES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From latent tension to observable conflict</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Intervene at the earliest stage that evidence and safety allow.</a:t>
            </a:r>
          </a:p>
        </p:txBody>
      </p:sp>
      <p:sp>
        <p:nvSpPr>
          <p:cNvPr id="7" name="Rectangle 6"/>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1775" y="255117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1775"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33756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Latent</a:t>
            </a:r>
          </a:p>
        </p:txBody>
      </p:sp>
      <p:sp>
        <p:nvSpPr>
          <p:cNvPr id="12" name="TextBox 11"/>
          <p:cNvSpPr txBox="1"/>
          <p:nvPr/>
        </p:nvSpPr>
        <p:spPr>
          <a:xfrm>
            <a:off x="905256" y="3721608"/>
            <a:ext cx="1651406" cy="1143000"/>
          </a:xfrm>
          <a:prstGeom prst="rect">
            <a:avLst/>
          </a:prstGeom>
          <a:noFill/>
        </p:spPr>
        <p:txBody>
          <a:bodyPr wrap="square" anchor="t">
            <a:spAutoFit/>
          </a:bodyPr>
          <a:lstStyle/>
          <a:p>
            <a:pPr algn="ctr">
              <a:spcAft>
                <a:spcPts val="400"/>
              </a:spcAft>
            </a:pPr>
            <a:r>
              <a:rPr sz="1050" b="0">
                <a:solidFill>
                  <a:srgbClr val="5B6372"/>
                </a:solidFill>
                <a:latin typeface="Arial"/>
              </a:rPr>
              <a:t>Conditions exist: scarce resources, unclear roles or incompatible goals.</a:t>
            </a:r>
          </a:p>
        </p:txBody>
      </p:sp>
      <p:sp>
        <p:nvSpPr>
          <p:cNvPr id="13" name="Chevron 12"/>
          <p:cNvSpPr/>
          <p:nvPr/>
        </p:nvSpPr>
        <p:spPr>
          <a:xfrm>
            <a:off x="2702966" y="344728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8998"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83533" y="255117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83533"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87014" y="333756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Perceived</a:t>
            </a:r>
          </a:p>
        </p:txBody>
      </p:sp>
      <p:sp>
        <p:nvSpPr>
          <p:cNvPr id="19" name="TextBox 18"/>
          <p:cNvSpPr txBox="1"/>
          <p:nvPr/>
        </p:nvSpPr>
        <p:spPr>
          <a:xfrm>
            <a:off x="3087014" y="3721608"/>
            <a:ext cx="1651406" cy="1143000"/>
          </a:xfrm>
          <a:prstGeom prst="rect">
            <a:avLst/>
          </a:prstGeom>
          <a:noFill/>
        </p:spPr>
        <p:txBody>
          <a:bodyPr wrap="square" anchor="t">
            <a:spAutoFit/>
          </a:bodyPr>
          <a:lstStyle/>
          <a:p>
            <a:pPr algn="ctr">
              <a:spcAft>
                <a:spcPts val="400"/>
              </a:spcAft>
            </a:pPr>
            <a:r>
              <a:rPr sz="1050" b="0">
                <a:solidFill>
                  <a:srgbClr val="5B6372"/>
                </a:solidFill>
                <a:latin typeface="Arial"/>
              </a:rPr>
              <a:t>A party recognises an incompatibility or threat.</a:t>
            </a:r>
          </a:p>
        </p:txBody>
      </p:sp>
      <p:sp>
        <p:nvSpPr>
          <p:cNvPr id="20" name="Chevron 19"/>
          <p:cNvSpPr/>
          <p:nvPr/>
        </p:nvSpPr>
        <p:spPr>
          <a:xfrm>
            <a:off x="4884724" y="344728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40756"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765291" y="255117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5291"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68772" y="333756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Felt</a:t>
            </a:r>
          </a:p>
        </p:txBody>
      </p:sp>
      <p:sp>
        <p:nvSpPr>
          <p:cNvPr id="26" name="TextBox 25"/>
          <p:cNvSpPr txBox="1"/>
          <p:nvPr/>
        </p:nvSpPr>
        <p:spPr>
          <a:xfrm>
            <a:off x="5268772" y="3721608"/>
            <a:ext cx="1651406" cy="1143000"/>
          </a:xfrm>
          <a:prstGeom prst="rect">
            <a:avLst/>
          </a:prstGeom>
          <a:noFill/>
        </p:spPr>
        <p:txBody>
          <a:bodyPr wrap="square" anchor="t">
            <a:spAutoFit/>
          </a:bodyPr>
          <a:lstStyle/>
          <a:p>
            <a:pPr algn="ctr">
              <a:spcAft>
                <a:spcPts val="400"/>
              </a:spcAft>
            </a:pPr>
            <a:r>
              <a:rPr sz="1050" b="0">
                <a:solidFill>
                  <a:srgbClr val="5B6372"/>
                </a:solidFill>
                <a:latin typeface="Arial"/>
              </a:rPr>
              <a:t>Stress, anger, fear or frustration becomes personally experienced.</a:t>
            </a:r>
          </a:p>
        </p:txBody>
      </p:sp>
      <p:sp>
        <p:nvSpPr>
          <p:cNvPr id="27" name="Chevron 26"/>
          <p:cNvSpPr/>
          <p:nvPr/>
        </p:nvSpPr>
        <p:spPr>
          <a:xfrm>
            <a:off x="7066482" y="344728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22514"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47049" y="255117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47049"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50530" y="333756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Manifest</a:t>
            </a:r>
          </a:p>
        </p:txBody>
      </p:sp>
      <p:sp>
        <p:nvSpPr>
          <p:cNvPr id="33" name="TextBox 32"/>
          <p:cNvSpPr txBox="1"/>
          <p:nvPr/>
        </p:nvSpPr>
        <p:spPr>
          <a:xfrm>
            <a:off x="7450530" y="3721608"/>
            <a:ext cx="1651406" cy="1143000"/>
          </a:xfrm>
          <a:prstGeom prst="rect">
            <a:avLst/>
          </a:prstGeom>
          <a:noFill/>
        </p:spPr>
        <p:txBody>
          <a:bodyPr wrap="square" anchor="t">
            <a:spAutoFit/>
          </a:bodyPr>
          <a:lstStyle/>
          <a:p>
            <a:pPr algn="ctr">
              <a:spcAft>
                <a:spcPts val="400"/>
              </a:spcAft>
            </a:pPr>
            <a:r>
              <a:rPr sz="1050" b="0">
                <a:solidFill>
                  <a:srgbClr val="5B6372"/>
                </a:solidFill>
                <a:latin typeface="Arial"/>
              </a:rPr>
              <a:t>Conflict appears in words, behaviour, decisions or work results.</a:t>
            </a:r>
          </a:p>
        </p:txBody>
      </p:sp>
      <p:sp>
        <p:nvSpPr>
          <p:cNvPr id="34" name="Chevron 33"/>
          <p:cNvSpPr/>
          <p:nvPr/>
        </p:nvSpPr>
        <p:spPr>
          <a:xfrm>
            <a:off x="9248240" y="344728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04272"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128807" y="255117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28807"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32288" y="333756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Aftermath</a:t>
            </a:r>
          </a:p>
        </p:txBody>
      </p:sp>
      <p:sp>
        <p:nvSpPr>
          <p:cNvPr id="40" name="TextBox 39"/>
          <p:cNvSpPr txBox="1"/>
          <p:nvPr/>
        </p:nvSpPr>
        <p:spPr>
          <a:xfrm>
            <a:off x="9632288" y="3721608"/>
            <a:ext cx="1651406" cy="1143000"/>
          </a:xfrm>
          <a:prstGeom prst="rect">
            <a:avLst/>
          </a:prstGeom>
          <a:noFill/>
        </p:spPr>
        <p:txBody>
          <a:bodyPr wrap="square" anchor="t">
            <a:spAutoFit/>
          </a:bodyPr>
          <a:lstStyle/>
          <a:p>
            <a:pPr algn="ctr">
              <a:spcAft>
                <a:spcPts val="400"/>
              </a:spcAft>
            </a:pPr>
            <a:r>
              <a:rPr sz="1050" b="0">
                <a:solidFill>
                  <a:srgbClr val="5B6372"/>
                </a:solidFill>
                <a:latin typeface="Arial"/>
              </a:rPr>
              <a:t>Resolution, suppression or recurrence reshapes the next interaction.</a:t>
            </a:r>
          </a:p>
        </p:txBody>
      </p:sp>
      <p:sp>
        <p:nvSpPr>
          <p:cNvPr id="41" name="Rectangle 40"/>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Stages are a diagnostic lens, not a rigid or universal sequence.</a:t>
            </a:r>
          </a:p>
        </p:txBody>
      </p:sp>
      <p:sp>
        <p:nvSpPr>
          <p:cNvPr id="44" name="TextBox 43"/>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45" name="TextBox 44"/>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46" name="TextBox 45"/>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fast"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EVIDENCE DISCIPLINE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Facts, claims, interpretations and unknowns</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Neutral handling depends on preserving the status of information.</a:t>
            </a:r>
          </a:p>
        </p:txBody>
      </p:sp>
      <p:sp>
        <p:nvSpPr>
          <p:cNvPr id="7" name="Rectangle 6"/>
          <p:cNvSpPr/>
          <p:nvPr/>
        </p:nvSpPr>
        <p:spPr>
          <a:xfrm>
            <a:off x="2926080" y="2103120"/>
            <a:ext cx="4242816"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26080" y="2103120"/>
            <a:ext cx="4242816" cy="457200"/>
          </a:xfrm>
          <a:prstGeom prst="rect">
            <a:avLst/>
          </a:prstGeom>
          <a:noFill/>
        </p:spPr>
        <p:txBody>
          <a:bodyPr wrap="square" anchor="ctr">
            <a:spAutoFit/>
          </a:bodyPr>
          <a:lstStyle/>
          <a:p>
            <a:pPr algn="ctr">
              <a:spcAft>
                <a:spcPts val="400"/>
              </a:spcAft>
            </a:pPr>
            <a:r>
              <a:rPr sz="1500" b="1">
                <a:solidFill>
                  <a:srgbClr val="FFFFFF"/>
                </a:solidFill>
                <a:latin typeface="Arial"/>
              </a:rPr>
              <a:t>Weak diagnostic language</a:t>
            </a:r>
          </a:p>
        </p:txBody>
      </p:sp>
      <p:sp>
        <p:nvSpPr>
          <p:cNvPr id="9" name="Rectangle 8"/>
          <p:cNvSpPr/>
          <p:nvPr/>
        </p:nvSpPr>
        <p:spPr>
          <a:xfrm>
            <a:off x="7168896" y="2103120"/>
            <a:ext cx="4242816"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8896" y="2103120"/>
            <a:ext cx="4242816" cy="457200"/>
          </a:xfrm>
          <a:prstGeom prst="rect">
            <a:avLst/>
          </a:prstGeom>
          <a:noFill/>
        </p:spPr>
        <p:txBody>
          <a:bodyPr wrap="square" anchor="ctr">
            <a:spAutoFit/>
          </a:bodyPr>
          <a:lstStyle/>
          <a:p>
            <a:pPr algn="ctr">
              <a:spcAft>
                <a:spcPts val="400"/>
              </a:spcAft>
            </a:pPr>
            <a:r>
              <a:rPr sz="1500" b="1">
                <a:solidFill>
                  <a:srgbClr val="FFFFFF"/>
                </a:solidFill>
                <a:latin typeface="Arial"/>
              </a:rPr>
              <a:t>Evidence-ready language</a:t>
            </a:r>
          </a:p>
        </p:txBody>
      </p:sp>
      <p:sp>
        <p:nvSpPr>
          <p:cNvPr id="11" name="Rectangle 10"/>
          <p:cNvSpPr/>
          <p:nvPr/>
        </p:nvSpPr>
        <p:spPr>
          <a:xfrm>
            <a:off x="777240" y="2560320"/>
            <a:ext cx="2148840" cy="8915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560320"/>
            <a:ext cx="1874520" cy="891540"/>
          </a:xfrm>
          <a:prstGeom prst="rect">
            <a:avLst/>
          </a:prstGeom>
          <a:noFill/>
        </p:spPr>
        <p:txBody>
          <a:bodyPr wrap="square" anchor="ctr">
            <a:spAutoFit/>
          </a:bodyPr>
          <a:lstStyle/>
          <a:p>
            <a:pPr algn="l">
              <a:spcAft>
                <a:spcPts val="400"/>
              </a:spcAft>
            </a:pPr>
            <a:r>
              <a:rPr sz="1400" b="1">
                <a:solidFill>
                  <a:srgbClr val="161B26"/>
                </a:solidFill>
                <a:latin typeface="Arial"/>
              </a:rPr>
              <a:t>Label</a:t>
            </a:r>
          </a:p>
        </p:txBody>
      </p:sp>
      <p:sp>
        <p:nvSpPr>
          <p:cNvPr id="13" name="Rectangle 12"/>
          <p:cNvSpPr/>
          <p:nvPr/>
        </p:nvSpPr>
        <p:spPr>
          <a:xfrm>
            <a:off x="2926080" y="2560320"/>
            <a:ext cx="4242816" cy="8915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90672" y="2560320"/>
            <a:ext cx="3913632" cy="891540"/>
          </a:xfrm>
          <a:prstGeom prst="rect">
            <a:avLst/>
          </a:prstGeom>
          <a:noFill/>
        </p:spPr>
        <p:txBody>
          <a:bodyPr wrap="square" anchor="ctr">
            <a:spAutoFit/>
          </a:bodyPr>
          <a:lstStyle/>
          <a:p>
            <a:pPr algn="l">
              <a:spcAft>
                <a:spcPts val="400"/>
              </a:spcAft>
            </a:pPr>
            <a:r>
              <a:rPr sz="1300" b="0">
                <a:solidFill>
                  <a:srgbClr val="161B26"/>
                </a:solidFill>
                <a:latin typeface="Arial"/>
              </a:rPr>
              <a:t>‘She is hostile.’</a:t>
            </a:r>
          </a:p>
        </p:txBody>
      </p:sp>
      <p:sp>
        <p:nvSpPr>
          <p:cNvPr id="15" name="Rectangle 14"/>
          <p:cNvSpPr/>
          <p:nvPr/>
        </p:nvSpPr>
        <p:spPr>
          <a:xfrm>
            <a:off x="7168896" y="2560320"/>
            <a:ext cx="4242816" cy="8915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33488" y="2560320"/>
            <a:ext cx="3913632" cy="891540"/>
          </a:xfrm>
          <a:prstGeom prst="rect">
            <a:avLst/>
          </a:prstGeom>
          <a:noFill/>
        </p:spPr>
        <p:txBody>
          <a:bodyPr wrap="square" anchor="ctr">
            <a:spAutoFit/>
          </a:bodyPr>
          <a:lstStyle/>
          <a:p>
            <a:pPr algn="l">
              <a:spcAft>
                <a:spcPts val="400"/>
              </a:spcAft>
            </a:pPr>
            <a:r>
              <a:rPr sz="1300" b="0">
                <a:solidFill>
                  <a:srgbClr val="161B26"/>
                </a:solidFill>
                <a:latin typeface="Arial"/>
              </a:rPr>
              <a:t>‘She interrupted three times and raised her voice in Tuesday's meeting.’</a:t>
            </a:r>
          </a:p>
        </p:txBody>
      </p:sp>
      <p:sp>
        <p:nvSpPr>
          <p:cNvPr id="17" name="Rectangle 16"/>
          <p:cNvSpPr/>
          <p:nvPr/>
        </p:nvSpPr>
        <p:spPr>
          <a:xfrm>
            <a:off x="777240" y="3451860"/>
            <a:ext cx="2148840" cy="8915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451860"/>
            <a:ext cx="1874520" cy="891540"/>
          </a:xfrm>
          <a:prstGeom prst="rect">
            <a:avLst/>
          </a:prstGeom>
          <a:noFill/>
        </p:spPr>
        <p:txBody>
          <a:bodyPr wrap="square" anchor="ctr">
            <a:spAutoFit/>
          </a:bodyPr>
          <a:lstStyle/>
          <a:p>
            <a:pPr algn="l">
              <a:spcAft>
                <a:spcPts val="400"/>
              </a:spcAft>
            </a:pPr>
            <a:r>
              <a:rPr sz="1400" b="1">
                <a:solidFill>
                  <a:srgbClr val="161B26"/>
                </a:solidFill>
                <a:latin typeface="Arial"/>
              </a:rPr>
              <a:t>Consensus</a:t>
            </a:r>
          </a:p>
        </p:txBody>
      </p:sp>
      <p:sp>
        <p:nvSpPr>
          <p:cNvPr id="19" name="Rectangle 18"/>
          <p:cNvSpPr/>
          <p:nvPr/>
        </p:nvSpPr>
        <p:spPr>
          <a:xfrm>
            <a:off x="2926080" y="3451860"/>
            <a:ext cx="4242816" cy="8915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90672" y="3451860"/>
            <a:ext cx="3913632" cy="891540"/>
          </a:xfrm>
          <a:prstGeom prst="rect">
            <a:avLst/>
          </a:prstGeom>
          <a:noFill/>
        </p:spPr>
        <p:txBody>
          <a:bodyPr wrap="square" anchor="ctr">
            <a:spAutoFit/>
          </a:bodyPr>
          <a:lstStyle/>
          <a:p>
            <a:pPr algn="l">
              <a:spcAft>
                <a:spcPts val="400"/>
              </a:spcAft>
            </a:pPr>
            <a:r>
              <a:rPr sz="1300" b="0">
                <a:solidFill>
                  <a:srgbClr val="161B26"/>
                </a:solidFill>
                <a:latin typeface="Arial"/>
              </a:rPr>
              <a:t>‘Everyone agrees.’</a:t>
            </a:r>
          </a:p>
        </p:txBody>
      </p:sp>
      <p:sp>
        <p:nvSpPr>
          <p:cNvPr id="21" name="Rectangle 20"/>
          <p:cNvSpPr/>
          <p:nvPr/>
        </p:nvSpPr>
        <p:spPr>
          <a:xfrm>
            <a:off x="7168896" y="3451860"/>
            <a:ext cx="4242816" cy="8915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33488" y="3451860"/>
            <a:ext cx="3913632" cy="891540"/>
          </a:xfrm>
          <a:prstGeom prst="rect">
            <a:avLst/>
          </a:prstGeom>
          <a:noFill/>
        </p:spPr>
        <p:txBody>
          <a:bodyPr wrap="square" anchor="ctr">
            <a:spAutoFit/>
          </a:bodyPr>
          <a:lstStyle/>
          <a:p>
            <a:pPr algn="l">
              <a:spcAft>
                <a:spcPts val="400"/>
              </a:spcAft>
            </a:pPr>
            <a:r>
              <a:rPr sz="1300" b="0">
                <a:solidFill>
                  <a:srgbClr val="161B26"/>
                </a:solidFill>
                <a:latin typeface="Arial"/>
              </a:rPr>
              <a:t>‘Two named colleagues reported similar concerns; five others were not interviewed.’</a:t>
            </a:r>
          </a:p>
        </p:txBody>
      </p:sp>
      <p:sp>
        <p:nvSpPr>
          <p:cNvPr id="23" name="Rectangle 22"/>
          <p:cNvSpPr/>
          <p:nvPr/>
        </p:nvSpPr>
        <p:spPr>
          <a:xfrm>
            <a:off x="777240" y="4343400"/>
            <a:ext cx="2148840" cy="8915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4343400"/>
            <a:ext cx="1874520" cy="891540"/>
          </a:xfrm>
          <a:prstGeom prst="rect">
            <a:avLst/>
          </a:prstGeom>
          <a:noFill/>
        </p:spPr>
        <p:txBody>
          <a:bodyPr wrap="square" anchor="ctr">
            <a:spAutoFit/>
          </a:bodyPr>
          <a:lstStyle/>
          <a:p>
            <a:pPr algn="l">
              <a:spcAft>
                <a:spcPts val="400"/>
              </a:spcAft>
            </a:pPr>
            <a:r>
              <a:rPr sz="1400" b="1">
                <a:solidFill>
                  <a:srgbClr val="161B26"/>
                </a:solidFill>
                <a:latin typeface="Arial"/>
              </a:rPr>
              <a:t>Cause</a:t>
            </a:r>
          </a:p>
        </p:txBody>
      </p:sp>
      <p:sp>
        <p:nvSpPr>
          <p:cNvPr id="25" name="Rectangle 24"/>
          <p:cNvSpPr/>
          <p:nvPr/>
        </p:nvSpPr>
        <p:spPr>
          <a:xfrm>
            <a:off x="2926080" y="4343400"/>
            <a:ext cx="4242816" cy="8915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90672" y="4343400"/>
            <a:ext cx="3913632" cy="891540"/>
          </a:xfrm>
          <a:prstGeom prst="rect">
            <a:avLst/>
          </a:prstGeom>
          <a:noFill/>
        </p:spPr>
        <p:txBody>
          <a:bodyPr wrap="square" anchor="ctr">
            <a:spAutoFit/>
          </a:bodyPr>
          <a:lstStyle/>
          <a:p>
            <a:pPr algn="l">
              <a:spcAft>
                <a:spcPts val="400"/>
              </a:spcAft>
            </a:pPr>
            <a:r>
              <a:rPr sz="1300" b="0">
                <a:solidFill>
                  <a:srgbClr val="161B26"/>
                </a:solidFill>
                <a:latin typeface="Arial"/>
              </a:rPr>
              <a:t>‘He caused the delay.’</a:t>
            </a:r>
          </a:p>
        </p:txBody>
      </p:sp>
      <p:sp>
        <p:nvSpPr>
          <p:cNvPr id="27" name="Rectangle 26"/>
          <p:cNvSpPr/>
          <p:nvPr/>
        </p:nvSpPr>
        <p:spPr>
          <a:xfrm>
            <a:off x="7168896" y="4343400"/>
            <a:ext cx="4242816" cy="8915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33488" y="4343400"/>
            <a:ext cx="3913632" cy="891540"/>
          </a:xfrm>
          <a:prstGeom prst="rect">
            <a:avLst/>
          </a:prstGeom>
          <a:noFill/>
        </p:spPr>
        <p:txBody>
          <a:bodyPr wrap="square" anchor="ctr">
            <a:spAutoFit/>
          </a:bodyPr>
          <a:lstStyle/>
          <a:p>
            <a:pPr algn="l">
              <a:spcAft>
                <a:spcPts val="400"/>
              </a:spcAft>
            </a:pPr>
            <a:r>
              <a:rPr sz="1300" b="0">
                <a:solidFill>
                  <a:srgbClr val="161B26"/>
                </a:solidFill>
                <a:latin typeface="Arial"/>
              </a:rPr>
              <a:t>‘The approval record is missing; two accounts disagree about the sequence.’</a:t>
            </a:r>
          </a:p>
        </p:txBody>
      </p:sp>
      <p:sp>
        <p:nvSpPr>
          <p:cNvPr id="29" name="Rectangle 28"/>
          <p:cNvSpPr/>
          <p:nvPr/>
        </p:nvSpPr>
        <p:spPr>
          <a:xfrm>
            <a:off x="777240" y="5234940"/>
            <a:ext cx="2148840" cy="8915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5234940"/>
            <a:ext cx="1874520" cy="891540"/>
          </a:xfrm>
          <a:prstGeom prst="rect">
            <a:avLst/>
          </a:prstGeom>
          <a:noFill/>
        </p:spPr>
        <p:txBody>
          <a:bodyPr wrap="square" anchor="ctr">
            <a:spAutoFit/>
          </a:bodyPr>
          <a:lstStyle/>
          <a:p>
            <a:pPr algn="l">
              <a:spcAft>
                <a:spcPts val="400"/>
              </a:spcAft>
            </a:pPr>
            <a:r>
              <a:rPr sz="1400" b="1">
                <a:solidFill>
                  <a:srgbClr val="161B26"/>
                </a:solidFill>
                <a:latin typeface="Arial"/>
              </a:rPr>
              <a:t>Root</a:t>
            </a:r>
          </a:p>
        </p:txBody>
      </p:sp>
      <p:sp>
        <p:nvSpPr>
          <p:cNvPr id="31" name="Rectangle 30"/>
          <p:cNvSpPr/>
          <p:nvPr/>
        </p:nvSpPr>
        <p:spPr>
          <a:xfrm>
            <a:off x="2926080" y="5234940"/>
            <a:ext cx="4242816" cy="8915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90672" y="5234940"/>
            <a:ext cx="3913632" cy="891540"/>
          </a:xfrm>
          <a:prstGeom prst="rect">
            <a:avLst/>
          </a:prstGeom>
          <a:noFill/>
        </p:spPr>
        <p:txBody>
          <a:bodyPr wrap="square" anchor="ctr">
            <a:spAutoFit/>
          </a:bodyPr>
          <a:lstStyle/>
          <a:p>
            <a:pPr algn="l">
              <a:spcAft>
                <a:spcPts val="400"/>
              </a:spcAft>
            </a:pPr>
            <a:r>
              <a:rPr sz="1300" b="0">
                <a:solidFill>
                  <a:srgbClr val="161B26"/>
                </a:solidFill>
                <a:latin typeface="Arial"/>
              </a:rPr>
              <a:t>‘It is only a personality clash.’</a:t>
            </a:r>
          </a:p>
        </p:txBody>
      </p:sp>
      <p:sp>
        <p:nvSpPr>
          <p:cNvPr id="33" name="Rectangle 32"/>
          <p:cNvSpPr/>
          <p:nvPr/>
        </p:nvSpPr>
        <p:spPr>
          <a:xfrm>
            <a:off x="7168896" y="5234940"/>
            <a:ext cx="4242816" cy="8915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33488" y="5234940"/>
            <a:ext cx="3913632" cy="891540"/>
          </a:xfrm>
          <a:prstGeom prst="rect">
            <a:avLst/>
          </a:prstGeom>
          <a:noFill/>
        </p:spPr>
        <p:txBody>
          <a:bodyPr wrap="square" anchor="ctr">
            <a:spAutoFit/>
          </a:bodyPr>
          <a:lstStyle/>
          <a:p>
            <a:pPr algn="l">
              <a:spcAft>
                <a:spcPts val="400"/>
              </a:spcAft>
            </a:pPr>
            <a:r>
              <a:rPr sz="1300" b="0">
                <a:solidFill>
                  <a:srgbClr val="161B26"/>
                </a:solidFill>
                <a:latin typeface="Arial"/>
              </a:rPr>
              <a:t>‘The handoff, incentive and decision-right conditions have not yet been tested.’</a:t>
            </a:r>
          </a:p>
        </p:txBody>
      </p:sp>
      <p:sp>
        <p:nvSpPr>
          <p:cNvPr id="35" name="TextBox 34"/>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36" name="TextBox 35"/>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37" name="TextBox 36"/>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FROM SIGNAL TO DECISION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 fair conflict-assessment workflow</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Protection and evidence move in parallel; neither waits for certainty.</a:t>
            </a:r>
          </a:p>
        </p:txBody>
      </p:sp>
      <p:sp>
        <p:nvSpPr>
          <p:cNvPr id="7" name="Rectangle 6"/>
          <p:cNvSpPr/>
          <p:nvPr/>
        </p:nvSpPr>
        <p:spPr>
          <a:xfrm>
            <a:off x="777240" y="2194560"/>
            <a:ext cx="1874519" cy="98145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2194560"/>
            <a:ext cx="1618487" cy="981456"/>
          </a:xfrm>
          <a:prstGeom prst="rect">
            <a:avLst/>
          </a:prstGeom>
          <a:noFill/>
        </p:spPr>
        <p:txBody>
          <a:bodyPr wrap="square" anchor="ctr">
            <a:spAutoFit/>
          </a:bodyPr>
          <a:lstStyle/>
          <a:p>
            <a:pPr algn="l">
              <a:spcAft>
                <a:spcPts val="400"/>
              </a:spcAft>
            </a:pPr>
            <a:r>
              <a:rPr sz="1200" b="1">
                <a:solidFill>
                  <a:srgbClr val="FFFFFF"/>
                </a:solidFill>
                <a:latin typeface="Arial"/>
              </a:rPr>
              <a:t>Manager</a:t>
            </a:r>
          </a:p>
        </p:txBody>
      </p:sp>
      <p:sp>
        <p:nvSpPr>
          <p:cNvPr id="9" name="Rectangle 8"/>
          <p:cNvSpPr/>
          <p:nvPr/>
        </p:nvSpPr>
        <p:spPr>
          <a:xfrm>
            <a:off x="2834639" y="2194560"/>
            <a:ext cx="2052828" cy="98145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34639" y="2194560"/>
            <a:ext cx="64008" cy="98145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99231" y="2194560"/>
            <a:ext cx="1778508" cy="981456"/>
          </a:xfrm>
          <a:prstGeom prst="rect">
            <a:avLst/>
          </a:prstGeom>
          <a:noFill/>
        </p:spPr>
        <p:txBody>
          <a:bodyPr wrap="square" anchor="ctr">
            <a:spAutoFit/>
          </a:bodyPr>
          <a:lstStyle/>
          <a:p>
            <a:pPr algn="l">
              <a:spcAft>
                <a:spcPts val="400"/>
              </a:spcAft>
            </a:pPr>
            <a:r>
              <a:rPr sz="1050" b="0">
                <a:solidFill>
                  <a:srgbClr val="161B26"/>
                </a:solidFill>
                <a:latin typeface="Arial"/>
              </a:rPr>
              <a:t>Receive concern</a:t>
            </a:r>
          </a:p>
        </p:txBody>
      </p:sp>
      <p:sp>
        <p:nvSpPr>
          <p:cNvPr id="12" name="Rectangle 11"/>
          <p:cNvSpPr/>
          <p:nvPr/>
        </p:nvSpPr>
        <p:spPr>
          <a:xfrm>
            <a:off x="5070347" y="2194560"/>
            <a:ext cx="2052828" cy="98145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70347" y="2194560"/>
            <a:ext cx="64008" cy="98145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34939" y="2194560"/>
            <a:ext cx="1778508" cy="981456"/>
          </a:xfrm>
          <a:prstGeom prst="rect">
            <a:avLst/>
          </a:prstGeom>
          <a:noFill/>
        </p:spPr>
        <p:txBody>
          <a:bodyPr wrap="square" anchor="ctr">
            <a:spAutoFit/>
          </a:bodyPr>
          <a:lstStyle/>
          <a:p>
            <a:pPr algn="l">
              <a:spcAft>
                <a:spcPts val="400"/>
              </a:spcAft>
            </a:pPr>
            <a:r>
              <a:rPr sz="1050" b="0">
                <a:solidFill>
                  <a:srgbClr val="161B26"/>
                </a:solidFill>
                <a:latin typeface="Arial"/>
              </a:rPr>
              <a:t>Screen immediate risk</a:t>
            </a:r>
          </a:p>
        </p:txBody>
      </p:sp>
      <p:sp>
        <p:nvSpPr>
          <p:cNvPr id="15" name="Rectangle 14"/>
          <p:cNvSpPr/>
          <p:nvPr/>
        </p:nvSpPr>
        <p:spPr>
          <a:xfrm>
            <a:off x="7306055" y="2194560"/>
            <a:ext cx="2052828" cy="98145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06055" y="2194560"/>
            <a:ext cx="64008" cy="98145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70647" y="2194560"/>
            <a:ext cx="1778508" cy="981456"/>
          </a:xfrm>
          <a:prstGeom prst="rect">
            <a:avLst/>
          </a:prstGeom>
          <a:noFill/>
        </p:spPr>
        <p:txBody>
          <a:bodyPr wrap="square" anchor="ctr">
            <a:spAutoFit/>
          </a:bodyPr>
          <a:lstStyle/>
          <a:p>
            <a:pPr algn="l">
              <a:spcAft>
                <a:spcPts val="400"/>
              </a:spcAft>
            </a:pPr>
            <a:r>
              <a:rPr sz="1050" b="0">
                <a:solidFill>
                  <a:srgbClr val="161B26"/>
                </a:solidFill>
                <a:latin typeface="Arial"/>
              </a:rPr>
              <a:t>Choose safe interim step</a:t>
            </a:r>
          </a:p>
        </p:txBody>
      </p:sp>
      <p:sp>
        <p:nvSpPr>
          <p:cNvPr id="18" name="Rectangle 17"/>
          <p:cNvSpPr/>
          <p:nvPr/>
        </p:nvSpPr>
        <p:spPr>
          <a:xfrm>
            <a:off x="9541763" y="2194560"/>
            <a:ext cx="2052828" cy="98145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541763" y="2194560"/>
            <a:ext cx="64008" cy="98145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06355" y="2194560"/>
            <a:ext cx="1778508" cy="981456"/>
          </a:xfrm>
          <a:prstGeom prst="rect">
            <a:avLst/>
          </a:prstGeom>
          <a:noFill/>
        </p:spPr>
        <p:txBody>
          <a:bodyPr wrap="square" anchor="ctr">
            <a:spAutoFit/>
          </a:bodyPr>
          <a:lstStyle/>
          <a:p>
            <a:pPr algn="l">
              <a:spcAft>
                <a:spcPts val="400"/>
              </a:spcAft>
            </a:pPr>
            <a:r>
              <a:rPr sz="1050" b="0">
                <a:solidFill>
                  <a:srgbClr val="161B26"/>
                </a:solidFill>
                <a:latin typeface="Arial"/>
              </a:rPr>
              <a:t>Review next action</a:t>
            </a:r>
          </a:p>
        </p:txBody>
      </p:sp>
      <p:sp>
        <p:nvSpPr>
          <p:cNvPr id="21" name="Rectangle 20"/>
          <p:cNvSpPr/>
          <p:nvPr/>
        </p:nvSpPr>
        <p:spPr>
          <a:xfrm>
            <a:off x="777240" y="3304032"/>
            <a:ext cx="1874519" cy="9814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3304032"/>
            <a:ext cx="1618487" cy="981456"/>
          </a:xfrm>
          <a:prstGeom prst="rect">
            <a:avLst/>
          </a:prstGeom>
          <a:noFill/>
        </p:spPr>
        <p:txBody>
          <a:bodyPr wrap="square" anchor="ctr">
            <a:spAutoFit/>
          </a:bodyPr>
          <a:lstStyle/>
          <a:p>
            <a:pPr algn="l">
              <a:spcAft>
                <a:spcPts val="400"/>
              </a:spcAft>
            </a:pPr>
            <a:r>
              <a:rPr sz="1200" b="1">
                <a:solidFill>
                  <a:srgbClr val="FFFFFF"/>
                </a:solidFill>
                <a:latin typeface="Arial"/>
              </a:rPr>
              <a:t>People / HR</a:t>
            </a:r>
          </a:p>
        </p:txBody>
      </p:sp>
      <p:sp>
        <p:nvSpPr>
          <p:cNvPr id="23" name="Rectangle 22"/>
          <p:cNvSpPr/>
          <p:nvPr/>
        </p:nvSpPr>
        <p:spPr>
          <a:xfrm>
            <a:off x="5070347" y="3304032"/>
            <a:ext cx="2052828" cy="98145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70347" y="3304032"/>
            <a:ext cx="64008" cy="9814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34939" y="3304032"/>
            <a:ext cx="1778508" cy="981456"/>
          </a:xfrm>
          <a:prstGeom prst="rect">
            <a:avLst/>
          </a:prstGeom>
          <a:noFill/>
        </p:spPr>
        <p:txBody>
          <a:bodyPr wrap="square" anchor="ctr">
            <a:spAutoFit/>
          </a:bodyPr>
          <a:lstStyle/>
          <a:p>
            <a:pPr algn="l">
              <a:spcAft>
                <a:spcPts val="400"/>
              </a:spcAft>
            </a:pPr>
            <a:r>
              <a:rPr sz="1050" b="0">
                <a:solidFill>
                  <a:srgbClr val="161B26"/>
                </a:solidFill>
                <a:latin typeface="Arial"/>
              </a:rPr>
              <a:t>Advise on policy route</a:t>
            </a:r>
          </a:p>
        </p:txBody>
      </p:sp>
      <p:sp>
        <p:nvSpPr>
          <p:cNvPr id="26" name="Rectangle 25"/>
          <p:cNvSpPr/>
          <p:nvPr/>
        </p:nvSpPr>
        <p:spPr>
          <a:xfrm>
            <a:off x="7306055" y="3304032"/>
            <a:ext cx="2052828" cy="98145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06055" y="3304032"/>
            <a:ext cx="64008" cy="9814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70647" y="3304032"/>
            <a:ext cx="1778508" cy="981456"/>
          </a:xfrm>
          <a:prstGeom prst="rect">
            <a:avLst/>
          </a:prstGeom>
          <a:noFill/>
        </p:spPr>
        <p:txBody>
          <a:bodyPr wrap="square" anchor="ctr">
            <a:spAutoFit/>
          </a:bodyPr>
          <a:lstStyle/>
          <a:p>
            <a:pPr algn="l">
              <a:spcAft>
                <a:spcPts val="400"/>
              </a:spcAft>
            </a:pPr>
            <a:r>
              <a:rPr sz="1050" b="0">
                <a:solidFill>
                  <a:srgbClr val="161B26"/>
                </a:solidFill>
                <a:latin typeface="Arial"/>
              </a:rPr>
              <a:t>Support fair fact-finding</a:t>
            </a:r>
          </a:p>
        </p:txBody>
      </p:sp>
      <p:sp>
        <p:nvSpPr>
          <p:cNvPr id="29" name="Rectangle 28"/>
          <p:cNvSpPr/>
          <p:nvPr/>
        </p:nvSpPr>
        <p:spPr>
          <a:xfrm>
            <a:off x="9541763" y="3304032"/>
            <a:ext cx="2052828" cy="98145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41763" y="3304032"/>
            <a:ext cx="64008" cy="9814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06355" y="3304032"/>
            <a:ext cx="1778508" cy="981456"/>
          </a:xfrm>
          <a:prstGeom prst="rect">
            <a:avLst/>
          </a:prstGeom>
          <a:noFill/>
        </p:spPr>
        <p:txBody>
          <a:bodyPr wrap="square" anchor="ctr">
            <a:spAutoFit/>
          </a:bodyPr>
          <a:lstStyle/>
          <a:p>
            <a:pPr algn="l">
              <a:spcAft>
                <a:spcPts val="400"/>
              </a:spcAft>
            </a:pPr>
            <a:r>
              <a:rPr sz="1050" b="0">
                <a:solidFill>
                  <a:srgbClr val="161B26"/>
                </a:solidFill>
                <a:latin typeface="Arial"/>
              </a:rPr>
              <a:t>Own formal process if required</a:t>
            </a:r>
          </a:p>
        </p:txBody>
      </p:sp>
      <p:sp>
        <p:nvSpPr>
          <p:cNvPr id="32" name="Rectangle 31"/>
          <p:cNvSpPr/>
          <p:nvPr/>
        </p:nvSpPr>
        <p:spPr>
          <a:xfrm>
            <a:off x="777240" y="4413504"/>
            <a:ext cx="1874519" cy="98145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5256" y="4413504"/>
            <a:ext cx="1618487" cy="981456"/>
          </a:xfrm>
          <a:prstGeom prst="rect">
            <a:avLst/>
          </a:prstGeom>
          <a:noFill/>
        </p:spPr>
        <p:txBody>
          <a:bodyPr wrap="square" anchor="ctr">
            <a:spAutoFit/>
          </a:bodyPr>
          <a:lstStyle/>
          <a:p>
            <a:pPr algn="l">
              <a:spcAft>
                <a:spcPts val="400"/>
              </a:spcAft>
            </a:pPr>
            <a:r>
              <a:rPr sz="1200" b="1">
                <a:solidFill>
                  <a:srgbClr val="FFFFFF"/>
                </a:solidFill>
                <a:latin typeface="Arial"/>
              </a:rPr>
              <a:t>Parties</a:t>
            </a:r>
          </a:p>
        </p:txBody>
      </p:sp>
      <p:sp>
        <p:nvSpPr>
          <p:cNvPr id="34" name="Rectangle 33"/>
          <p:cNvSpPr/>
          <p:nvPr/>
        </p:nvSpPr>
        <p:spPr>
          <a:xfrm>
            <a:off x="2834639" y="4413504"/>
            <a:ext cx="2052828" cy="98145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834639" y="4413504"/>
            <a:ext cx="64008" cy="98145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999231" y="4413504"/>
            <a:ext cx="1778508" cy="981456"/>
          </a:xfrm>
          <a:prstGeom prst="rect">
            <a:avLst/>
          </a:prstGeom>
          <a:noFill/>
        </p:spPr>
        <p:txBody>
          <a:bodyPr wrap="square" anchor="ctr">
            <a:spAutoFit/>
          </a:bodyPr>
          <a:lstStyle/>
          <a:p>
            <a:pPr algn="l">
              <a:spcAft>
                <a:spcPts val="400"/>
              </a:spcAft>
            </a:pPr>
            <a:r>
              <a:rPr sz="1050" b="0">
                <a:solidFill>
                  <a:srgbClr val="161B26"/>
                </a:solidFill>
                <a:latin typeface="Arial"/>
              </a:rPr>
              <a:t>Share account</a:t>
            </a:r>
          </a:p>
        </p:txBody>
      </p:sp>
      <p:sp>
        <p:nvSpPr>
          <p:cNvPr id="37" name="Rectangle 36"/>
          <p:cNvSpPr/>
          <p:nvPr/>
        </p:nvSpPr>
        <p:spPr>
          <a:xfrm>
            <a:off x="5070347" y="4413504"/>
            <a:ext cx="2052828" cy="98145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070347" y="4413504"/>
            <a:ext cx="64008" cy="98145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234939" y="4413504"/>
            <a:ext cx="1778508" cy="981456"/>
          </a:xfrm>
          <a:prstGeom prst="rect">
            <a:avLst/>
          </a:prstGeom>
          <a:noFill/>
        </p:spPr>
        <p:txBody>
          <a:bodyPr wrap="square" anchor="ctr">
            <a:spAutoFit/>
          </a:bodyPr>
          <a:lstStyle/>
          <a:p>
            <a:pPr algn="l">
              <a:spcAft>
                <a:spcPts val="400"/>
              </a:spcAft>
            </a:pPr>
            <a:r>
              <a:rPr sz="1050" b="0">
                <a:solidFill>
                  <a:srgbClr val="161B26"/>
                </a:solidFill>
                <a:latin typeface="Arial"/>
              </a:rPr>
              <a:t>Clarify evidence</a:t>
            </a:r>
          </a:p>
        </p:txBody>
      </p:sp>
      <p:sp>
        <p:nvSpPr>
          <p:cNvPr id="40" name="Rectangle 39"/>
          <p:cNvSpPr/>
          <p:nvPr/>
        </p:nvSpPr>
        <p:spPr>
          <a:xfrm>
            <a:off x="7306055" y="4413504"/>
            <a:ext cx="2052828" cy="98145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306055" y="4413504"/>
            <a:ext cx="64008" cy="98145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70647" y="4413504"/>
            <a:ext cx="1778508" cy="981456"/>
          </a:xfrm>
          <a:prstGeom prst="rect">
            <a:avLst/>
          </a:prstGeom>
          <a:noFill/>
        </p:spPr>
        <p:txBody>
          <a:bodyPr wrap="square" anchor="ctr">
            <a:spAutoFit/>
          </a:bodyPr>
          <a:lstStyle/>
          <a:p>
            <a:pPr algn="l">
              <a:spcAft>
                <a:spcPts val="400"/>
              </a:spcAft>
            </a:pPr>
            <a:r>
              <a:rPr sz="1050" b="0">
                <a:solidFill>
                  <a:srgbClr val="161B26"/>
                </a:solidFill>
                <a:latin typeface="Arial"/>
              </a:rPr>
              <a:t>State needs and impact</a:t>
            </a:r>
          </a:p>
        </p:txBody>
      </p:sp>
      <p:sp>
        <p:nvSpPr>
          <p:cNvPr id="43" name="Rectangle 42"/>
          <p:cNvSpPr/>
          <p:nvPr/>
        </p:nvSpPr>
        <p:spPr>
          <a:xfrm>
            <a:off x="9541763" y="4413504"/>
            <a:ext cx="2052828" cy="98145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541763" y="4413504"/>
            <a:ext cx="64008" cy="98145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706355" y="4413504"/>
            <a:ext cx="1778508" cy="981456"/>
          </a:xfrm>
          <a:prstGeom prst="rect">
            <a:avLst/>
          </a:prstGeom>
          <a:noFill/>
        </p:spPr>
        <p:txBody>
          <a:bodyPr wrap="square" anchor="ctr">
            <a:spAutoFit/>
          </a:bodyPr>
          <a:lstStyle/>
          <a:p>
            <a:pPr algn="l">
              <a:spcAft>
                <a:spcPts val="400"/>
              </a:spcAft>
            </a:pPr>
            <a:r>
              <a:rPr sz="1050" b="0">
                <a:solidFill>
                  <a:srgbClr val="161B26"/>
                </a:solidFill>
                <a:latin typeface="Arial"/>
              </a:rPr>
              <a:t>Respond to proposed next step</a:t>
            </a:r>
          </a:p>
        </p:txBody>
      </p:sp>
      <p:sp>
        <p:nvSpPr>
          <p:cNvPr id="46" name="Chevron 45"/>
          <p:cNvSpPr/>
          <p:nvPr/>
        </p:nvSpPr>
        <p:spPr>
          <a:xfrm>
            <a:off x="4924043" y="4812792"/>
            <a:ext cx="109728" cy="182880"/>
          </a:xfrm>
          <a:prstGeom prst="chevron">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Chevron 46"/>
          <p:cNvSpPr/>
          <p:nvPr/>
        </p:nvSpPr>
        <p:spPr>
          <a:xfrm>
            <a:off x="7159751" y="4812792"/>
            <a:ext cx="109728" cy="182880"/>
          </a:xfrm>
          <a:prstGeom prst="chevron">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Chevron 47"/>
          <p:cNvSpPr/>
          <p:nvPr/>
        </p:nvSpPr>
        <p:spPr>
          <a:xfrm>
            <a:off x="9395459" y="4812792"/>
            <a:ext cx="109728" cy="182880"/>
          </a:xfrm>
          <a:prstGeom prst="chevron">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58978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89788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897880"/>
            <a:ext cx="10058400" cy="530352"/>
          </a:xfrm>
          <a:prstGeom prst="rect">
            <a:avLst/>
          </a:prstGeom>
          <a:noFill/>
        </p:spPr>
        <p:txBody>
          <a:bodyPr wrap="square" anchor="ctr">
            <a:spAutoFit/>
          </a:bodyPr>
          <a:lstStyle/>
          <a:p>
            <a:pPr algn="l">
              <a:spcAft>
                <a:spcPts val="400"/>
              </a:spcAft>
            </a:pPr>
            <a:r>
              <a:rPr sz="1200" b="1">
                <a:solidFill>
                  <a:srgbClr val="161B26"/>
                </a:solidFill>
                <a:latin typeface="Arial"/>
              </a:rPr>
              <a:t>Use a formal route when safety, harassment, discrimination, retaliation or serious misconduct is alleged.</a:t>
            </a:r>
          </a:p>
        </p:txBody>
      </p:sp>
      <p:sp>
        <p:nvSpPr>
          <p:cNvPr id="52" name="TextBox 51"/>
          <p:cNvSpPr txBox="1"/>
          <p:nvPr/>
        </p:nvSpPr>
        <p:spPr>
          <a:xfrm>
            <a:off x="777240" y="5532120"/>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Sources: MOM workplace grievances and Tripartite Advisory; UC Berkeley Ombuds</a:t>
            </a:r>
          </a:p>
        </p:txBody>
      </p:sp>
      <p:sp>
        <p:nvSpPr>
          <p:cNvPr id="53" name="TextBox 52"/>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54" name="TextBox 53"/>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55" name="TextBox 54"/>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DIAGNOSTIC MINDSET</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Observe the pattern.</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Name what is known, what is reported and what still needs to be checked.</a:t>
            </a:r>
          </a:p>
        </p:txBody>
      </p:sp>
      <p:sp>
        <p:nvSpPr>
          <p:cNvPr id="7" name="TextBox 6"/>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8" name="TextBox 7"/>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9" name="TextBox 8"/>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350"/>
                                        <p:tgtEl>
                                          <p:spTgt spid="5"/>
                                        </p:tgtEl>
                                      </p:cBhvr>
                                    </p:animEffect>
                                    <p:anim calcmode="lin" valueType="num">
                                      <p:cBhvr additive="base">
                                        <p:cTn id="1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350"/>
                                        <p:tgtEl>
                                          <p:spTgt spid="6"/>
                                        </p:tgtEl>
                                      </p:cBhvr>
                                    </p:animEffect>
                                    <p:anim calcmode="lin" valueType="num">
                                      <p:cBhvr additive="base">
                                        <p:cTn id="2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600" b="1">
                <a:solidFill>
                  <a:srgbClr val="10B981"/>
                </a:solidFill>
                <a:latin typeface="Arial"/>
              </a:rPr>
              <a:t>LO1 · Topic 1 · T1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3400" b="1">
                <a:solidFill>
                  <a:srgbClr val="161B26"/>
                </a:solidFill>
                <a:latin typeface="Arial"/>
              </a:rPr>
              <a:t>a conflict signal triage</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T1</a:t>
            </a:r>
          </a:p>
        </p:txBody>
      </p:sp>
      <p:sp>
        <p:nvSpPr>
          <p:cNvPr id="8" name="TextBox 7"/>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9" name="TextBox 8"/>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0" name="TextBox 9"/>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fast" advClick="1">
    <p:push dir="u"/>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Topic 1 · T1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What is a conflict signal triage?</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Observable signal</a:t>
            </a:r>
          </a:p>
          <a:p>
            <a:pPr algn="l">
              <a:spcAft>
                <a:spcPts val="300"/>
              </a:spcAft>
            </a:pPr>
            <a:r>
              <a:rPr sz="1200" b="0">
                <a:solidFill>
                  <a:srgbClr val="5B6372"/>
                </a:solidFill>
                <a:latin typeface="Arial"/>
              </a:rPr>
              <a:t>What changed in words, behaviour, attendance, quality or customer impact?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Interpretation</a:t>
            </a:r>
          </a:p>
          <a:p>
            <a:pPr algn="l">
              <a:spcAft>
                <a:spcPts val="300"/>
              </a:spcAft>
            </a:pPr>
            <a:r>
              <a:rPr sz="1200" b="0">
                <a:solidFill>
                  <a:srgbClr val="5B6372"/>
                </a:solidFill>
                <a:latin typeface="Arial"/>
              </a:rPr>
              <a:t>What meaning are people assigning to the signal—and what else could explain it?</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Immediate risk</a:t>
            </a:r>
          </a:p>
          <a:p>
            <a:pPr algn="l">
              <a:spcAft>
                <a:spcPts val="300"/>
              </a:spcAft>
            </a:pPr>
            <a:r>
              <a:rPr sz="1200" b="0">
                <a:solidFill>
                  <a:srgbClr val="5B6372"/>
                </a:solidFill>
                <a:latin typeface="Arial"/>
              </a:rPr>
              <a:t>Is there a safety, harassment, discrimination, retaliation or serious misconduct concern?</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First response</a:t>
            </a:r>
          </a:p>
          <a:p>
            <a:pPr algn="l">
              <a:spcAft>
                <a:spcPts val="300"/>
              </a:spcAft>
            </a:pPr>
            <a:r>
              <a:rPr sz="1200" b="0">
                <a:solidFill>
                  <a:srgbClr val="5B6372"/>
                </a:solidFill>
                <a:latin typeface="Arial"/>
              </a:rPr>
              <a:t>Monitor, clarify, facilitate, escalate or activate a formal process.</a:t>
            </a:r>
          </a:p>
        </p:txBody>
      </p:sp>
      <p:sp>
        <p:nvSpPr>
          <p:cNvPr id="26" name="TextBox 2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7" name="TextBox 2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8" name="TextBox 2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
        <p:nvSpPr>
          <p:cNvPr id="29" name="TextBox 2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Sources: HelpGuide; mindbodygreen; MOM workplace grievances</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LO1 · Topic 1 · T1 · HOW IT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Signal-to-Response Triage</a:t>
            </a:r>
          </a:p>
        </p:txBody>
      </p:sp>
      <p:sp>
        <p:nvSpPr>
          <p:cNvPr id="6" name="Rectangle 5"/>
          <p:cNvSpPr/>
          <p:nvPr/>
        </p:nvSpPr>
        <p:spPr>
          <a:xfrm>
            <a:off x="777240"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01775"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01775"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05256"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Observe</a:t>
            </a:r>
          </a:p>
        </p:txBody>
      </p:sp>
      <p:sp>
        <p:nvSpPr>
          <p:cNvPr id="11" name="TextBox 10"/>
          <p:cNvSpPr txBox="1"/>
          <p:nvPr/>
        </p:nvSpPr>
        <p:spPr>
          <a:xfrm>
            <a:off x="905256"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Record specific changes without labels or blame.</a:t>
            </a:r>
          </a:p>
        </p:txBody>
      </p:sp>
      <p:sp>
        <p:nvSpPr>
          <p:cNvPr id="12" name="Chevron 11"/>
          <p:cNvSpPr/>
          <p:nvPr/>
        </p:nvSpPr>
        <p:spPr>
          <a:xfrm>
            <a:off x="2702966"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58998"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83533"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3533"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87014"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Check impact</a:t>
            </a:r>
          </a:p>
        </p:txBody>
      </p:sp>
      <p:sp>
        <p:nvSpPr>
          <p:cNvPr id="18" name="TextBox 17"/>
          <p:cNvSpPr txBox="1"/>
          <p:nvPr/>
        </p:nvSpPr>
        <p:spPr>
          <a:xfrm>
            <a:off x="3087014"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Test effects on people, work, customers and risk.</a:t>
            </a:r>
          </a:p>
        </p:txBody>
      </p:sp>
      <p:sp>
        <p:nvSpPr>
          <p:cNvPr id="19" name="Chevron 18"/>
          <p:cNvSpPr/>
          <p:nvPr/>
        </p:nvSpPr>
        <p:spPr>
          <a:xfrm>
            <a:off x="4884724"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765291"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65291"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68772"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Seek context</a:t>
            </a:r>
          </a:p>
        </p:txBody>
      </p:sp>
      <p:sp>
        <p:nvSpPr>
          <p:cNvPr id="25" name="TextBox 24"/>
          <p:cNvSpPr txBox="1"/>
          <p:nvPr/>
        </p:nvSpPr>
        <p:spPr>
          <a:xfrm>
            <a:off x="5268772"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Gather more than one perspective and relevant records.</a:t>
            </a:r>
          </a:p>
        </p:txBody>
      </p:sp>
      <p:sp>
        <p:nvSpPr>
          <p:cNvPr id="26" name="Chevron 25"/>
          <p:cNvSpPr/>
          <p:nvPr/>
        </p:nvSpPr>
        <p:spPr>
          <a:xfrm>
            <a:off x="7066482"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2514"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22514"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947049"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47049"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50530"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Screen safety</a:t>
            </a:r>
          </a:p>
        </p:txBody>
      </p:sp>
      <p:sp>
        <p:nvSpPr>
          <p:cNvPr id="32" name="TextBox 31"/>
          <p:cNvSpPr txBox="1"/>
          <p:nvPr/>
        </p:nvSpPr>
        <p:spPr>
          <a:xfrm>
            <a:off x="7450530"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Stop informal handling when policy or urgent protection is required.</a:t>
            </a:r>
          </a:p>
        </p:txBody>
      </p:sp>
      <p:sp>
        <p:nvSpPr>
          <p:cNvPr id="33" name="Chevron 32"/>
          <p:cNvSpPr/>
          <p:nvPr/>
        </p:nvSpPr>
        <p:spPr>
          <a:xfrm>
            <a:off x="9248240"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04272"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28807"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28807"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32288"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Choose next step</a:t>
            </a:r>
          </a:p>
        </p:txBody>
      </p:sp>
      <p:sp>
        <p:nvSpPr>
          <p:cNvPr id="39" name="TextBox 38"/>
          <p:cNvSpPr txBox="1"/>
          <p:nvPr/>
        </p:nvSpPr>
        <p:spPr>
          <a:xfrm>
            <a:off x="9632288"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Name the owner, timing and evidence needed.</a:t>
            </a:r>
          </a:p>
        </p:txBody>
      </p:sp>
      <p:sp>
        <p:nvSpPr>
          <p:cNvPr id="40" name="TextBox 39"/>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41" name="TextBox 40"/>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42" name="TextBox 41"/>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Topic 1 · T1 · COMPARE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Observation vs Assumption</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Assumption</a:t>
            </a:r>
          </a:p>
        </p:txBody>
      </p:sp>
      <p:sp>
        <p:nvSpPr>
          <p:cNvPr id="9" name="TextBox 8"/>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Evidence-ready observation</a:t>
            </a:r>
          </a:p>
        </p:txBody>
      </p:sp>
      <p:sp>
        <p:nvSpPr>
          <p:cNvPr id="10" name="TextBox 9"/>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Aisha is disengaged.</a:t>
            </a:r>
          </a:p>
          <a:p>
            <a:pPr>
              <a:spcAft>
                <a:spcPts val="1000"/>
              </a:spcAft>
            </a:pPr>
            <a:r>
              <a:rPr sz="1600" b="0">
                <a:solidFill>
                  <a:srgbClr val="161B26"/>
                </a:solidFill>
                <a:latin typeface="Arial"/>
              </a:rPr>
              <a:t>•  Ben is sabotaging the rota.</a:t>
            </a:r>
          </a:p>
          <a:p>
            <a:pPr>
              <a:spcAft>
                <a:spcPts val="1000"/>
              </a:spcAft>
            </a:pPr>
            <a:r>
              <a:rPr sz="1600" b="0">
                <a:solidFill>
                  <a:srgbClr val="161B26"/>
                </a:solidFill>
                <a:latin typeface="Arial"/>
              </a:rPr>
              <a:t>•  The team is toxic.</a:t>
            </a:r>
          </a:p>
          <a:p>
            <a:pPr>
              <a:spcAft>
                <a:spcPts val="1000"/>
              </a:spcAft>
            </a:pPr>
            <a:r>
              <a:rPr sz="1600" b="0">
                <a:solidFill>
                  <a:srgbClr val="161B26"/>
                </a:solidFill>
                <a:latin typeface="Arial"/>
              </a:rPr>
              <a:t>•  Everyone hates the new process.</a:t>
            </a:r>
          </a:p>
        </p:txBody>
      </p:sp>
      <p:sp>
        <p:nvSpPr>
          <p:cNvPr id="11" name="TextBox 10"/>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Aisha spoke once in three meetings and cancelled two check-ins.</a:t>
            </a:r>
          </a:p>
          <a:p>
            <a:pPr>
              <a:spcAft>
                <a:spcPts val="1000"/>
              </a:spcAft>
            </a:pPr>
            <a:r>
              <a:rPr sz="1600" b="0">
                <a:solidFill>
                  <a:srgbClr val="161B26"/>
                </a:solidFill>
                <a:latin typeface="Arial"/>
              </a:rPr>
              <a:t>•  Two rota changes were made without the agreed approval note.</a:t>
            </a:r>
          </a:p>
          <a:p>
            <a:pPr>
              <a:spcAft>
                <a:spcPts val="1000"/>
              </a:spcAft>
            </a:pPr>
            <a:r>
              <a:rPr sz="1600" b="0">
                <a:solidFill>
                  <a:srgbClr val="161B26"/>
                </a:solidFill>
                <a:latin typeface="Arial"/>
              </a:rPr>
              <a:t>•  Four handoffs were returned and two staff requested transfers.</a:t>
            </a:r>
          </a:p>
          <a:p>
            <a:pPr>
              <a:spcAft>
                <a:spcPts val="1000"/>
              </a:spcAft>
            </a:pPr>
            <a:r>
              <a:rPr sz="1600" b="0">
                <a:solidFill>
                  <a:srgbClr val="161B26"/>
                </a:solidFill>
                <a:latin typeface="Arial"/>
              </a:rPr>
              <a:t>•  Five of eight staff raised the same unclear-priority concern.</a:t>
            </a:r>
          </a:p>
        </p:txBody>
      </p:sp>
      <p:sp>
        <p:nvSpPr>
          <p:cNvPr id="12" name="TextBox 11"/>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3" name="TextBox 12"/>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4" name="TextBox 13"/>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
        <p:nvSpPr>
          <p:cNvPr id="15" name="TextBox 14"/>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Sources: Atlassian objectivity guidance; UC Berkeley Ombuds</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350"/>
                                        <p:tgtEl>
                                          <p:spTgt spid="10"/>
                                        </p:tgtEl>
                                      </p:cBhvr>
                                    </p:animEffect>
                                    <p:anim calcmode="lin" valueType="num">
                                      <p:cBhvr additive="base">
                                        <p:cTn id="1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350"/>
                                        <p:tgtEl>
                                          <p:spTgt spid="11"/>
                                        </p:tgtEl>
                                      </p:cBhvr>
                                    </p:animEffect>
                                    <p:anim calcmode="lin" valueType="num">
                                      <p:cBhvr additive="base">
                                        <p:cTn id="2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Topic 1 · T1 · SUPPORTING DATA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Triage Decision Matrix</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Low impact · low urgency</a:t>
            </a:r>
          </a:p>
          <a:p>
            <a:pPr algn="l">
              <a:spcAft>
                <a:spcPts val="300"/>
              </a:spcAft>
            </a:pPr>
            <a:r>
              <a:rPr sz="1200" b="0">
                <a:solidFill>
                  <a:srgbClr val="5B6372"/>
                </a:solidFill>
                <a:latin typeface="Arial"/>
              </a:rPr>
              <a:t>Monitor, clarify and set a check-in.</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High impact · low urgency</a:t>
            </a:r>
          </a:p>
          <a:p>
            <a:pPr algn="l">
              <a:spcAft>
                <a:spcPts val="300"/>
              </a:spcAft>
            </a:pPr>
            <a:r>
              <a:rPr sz="1200" b="0">
                <a:solidFill>
                  <a:srgbClr val="5B6372"/>
                </a:solidFill>
                <a:latin typeface="Arial"/>
              </a:rPr>
              <a:t>Plan a structured conversation and evidence review.</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Low impact · high urgency</a:t>
            </a:r>
          </a:p>
          <a:p>
            <a:pPr algn="l">
              <a:spcAft>
                <a:spcPts val="300"/>
              </a:spcAft>
            </a:pPr>
            <a:r>
              <a:rPr sz="1200" b="0">
                <a:solidFill>
                  <a:srgbClr val="5B6372"/>
                </a:solidFill>
                <a:latin typeface="Arial"/>
              </a:rPr>
              <a:t>Stabilise the immediate work issue, then review.</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High impact · high urgency</a:t>
            </a:r>
          </a:p>
          <a:p>
            <a:pPr algn="l">
              <a:spcAft>
                <a:spcPts val="300"/>
              </a:spcAft>
            </a:pPr>
            <a:r>
              <a:rPr sz="1200" b="0">
                <a:solidFill>
                  <a:srgbClr val="5B6372"/>
                </a:solidFill>
                <a:latin typeface="Arial"/>
              </a:rPr>
              <a:t>Protect people, preserve evidence and escalate under policy.</a:t>
            </a:r>
          </a:p>
        </p:txBody>
      </p:sp>
      <p:sp>
        <p:nvSpPr>
          <p:cNvPr id="26" name="TextBox 2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7" name="TextBox 2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8" name="TextBox 2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
        <p:nvSpPr>
          <p:cNvPr id="29" name="TextBox 2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illustrative worked example</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Topic 1 · T1 · REAL-WORLD EXAMPLE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The complaints appeared before the argument</a:t>
            </a:r>
          </a:p>
        </p:txBody>
      </p:sp>
      <p:sp>
        <p:nvSpPr>
          <p:cNvPr id="6" name="Rectangle 5"/>
          <p:cNvSpPr/>
          <p:nvPr/>
        </p:nvSpPr>
        <p:spPr>
          <a:xfrm>
            <a:off x="777240" y="1783080"/>
            <a:ext cx="10634472" cy="4206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28016" cy="42062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97280" y="2103120"/>
            <a:ext cx="2834640"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03120"/>
            <a:ext cx="2834640" cy="502920"/>
          </a:xfrm>
          <a:prstGeom prst="rect">
            <a:avLst/>
          </a:prstGeom>
          <a:noFill/>
        </p:spPr>
        <p:txBody>
          <a:bodyPr wrap="square" anchor="ctr">
            <a:spAutoFit/>
          </a:bodyPr>
          <a:lstStyle/>
          <a:p>
            <a:pPr algn="ctr">
              <a:spcAft>
                <a:spcPts val="400"/>
              </a:spcAft>
            </a:pPr>
            <a:r>
              <a:rPr sz="1300" b="1">
                <a:solidFill>
                  <a:srgbClr val="FFFFFF"/>
                </a:solidFill>
                <a:latin typeface="Arial"/>
              </a:rPr>
              <a:t>REAL-WORLD EXAMPLE</a:t>
            </a:r>
          </a:p>
        </p:txBody>
      </p:sp>
      <p:sp>
        <p:nvSpPr>
          <p:cNvPr id="10" name="TextBox 9"/>
          <p:cNvSpPr txBox="1"/>
          <p:nvPr/>
        </p:nvSpPr>
        <p:spPr>
          <a:xfrm>
            <a:off x="1097280" y="2880360"/>
            <a:ext cx="9966960" cy="640080"/>
          </a:xfrm>
          <a:prstGeom prst="rect">
            <a:avLst/>
          </a:prstGeom>
          <a:noFill/>
        </p:spPr>
        <p:txBody>
          <a:bodyPr wrap="square" anchor="t">
            <a:spAutoFit/>
          </a:bodyPr>
          <a:lstStyle/>
          <a:p>
            <a:pPr algn="l">
              <a:spcAft>
                <a:spcPts val="400"/>
              </a:spcAft>
            </a:pPr>
            <a:r>
              <a:rPr sz="2600" b="1">
                <a:solidFill>
                  <a:srgbClr val="161B26"/>
                </a:solidFill>
                <a:latin typeface="Arial"/>
              </a:rPr>
              <a:t>LionCity Retail</a:t>
            </a:r>
          </a:p>
        </p:txBody>
      </p:sp>
      <p:sp>
        <p:nvSpPr>
          <p:cNvPr id="11" name="TextBox 10"/>
          <p:cNvSpPr txBox="1"/>
          <p:nvPr/>
        </p:nvSpPr>
        <p:spPr>
          <a:xfrm>
            <a:off x="1097280" y="3611880"/>
            <a:ext cx="9966960" cy="2194560"/>
          </a:xfrm>
          <a:prstGeom prst="rect">
            <a:avLst/>
          </a:prstGeom>
          <a:noFill/>
        </p:spPr>
        <p:txBody>
          <a:bodyPr wrap="square" anchor="t">
            <a:spAutoFit/>
          </a:bodyPr>
          <a:lstStyle/>
          <a:p>
            <a:pPr algn="l">
              <a:spcAft>
                <a:spcPts val="400"/>
              </a:spcAft>
            </a:pPr>
            <a:r>
              <a:rPr sz="1600" b="0">
                <a:solidFill>
                  <a:srgbClr val="5B6372"/>
                </a:solidFill>
                <a:latin typeface="Arial"/>
              </a:rPr>
              <a:t>A supervisor notices repeated shift swaps, silence in huddles, customer handoff errors and a private allegation of unfair weekend rostering. The correct first move is structured triage—not deciding who is difficult.</a:t>
            </a:r>
          </a:p>
        </p:txBody>
      </p:sp>
      <p:sp>
        <p:nvSpPr>
          <p:cNvPr id="12" name="TextBox 11"/>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3" name="TextBox 12"/>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4" name="TextBox 13"/>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350"/>
                                        <p:tgtEl>
                                          <p:spTgt spid="10"/>
                                        </p:tgtEl>
                                      </p:cBhvr>
                                    </p:animEffect>
                                    <p:anim calcmode="lin" valueType="num">
                                      <p:cBhvr additive="base">
                                        <p:cTn id="3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350"/>
                                        <p:tgtEl>
                                          <p:spTgt spid="11"/>
                                        </p:tgtEl>
                                      </p:cBhvr>
                                    </p:animEffect>
                                    <p:anim calcmode="lin" valueType="num">
                                      <p:cBhvr additive="base">
                                        <p:cTn id="4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LO1 · Topic 1 · T1 · ACTIVITY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Conflict Signal Triage at LionCity Retail</a:t>
            </a:r>
          </a:p>
        </p:txBody>
      </p:sp>
      <p:sp>
        <p:nvSpPr>
          <p:cNvPr id="6" name="Rectangle 5"/>
          <p:cNvSpPr/>
          <p:nvPr/>
        </p:nvSpPr>
        <p:spPr>
          <a:xfrm>
            <a:off x="777240" y="1691640"/>
            <a:ext cx="16916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28216"/>
            <a:ext cx="1691640" cy="365760"/>
          </a:xfrm>
          <a:prstGeom prst="rect">
            <a:avLst/>
          </a:prstGeom>
          <a:noFill/>
        </p:spPr>
        <p:txBody>
          <a:bodyPr wrap="square" anchor="t">
            <a:spAutoFit/>
          </a:bodyPr>
          <a:lstStyle/>
          <a:p>
            <a:pPr algn="ctr">
              <a:spcAft>
                <a:spcPts val="400"/>
              </a:spcAft>
            </a:pPr>
            <a:r>
              <a:rPr sz="1300" b="1">
                <a:solidFill>
                  <a:srgbClr val="FFFFFF"/>
                </a:solidFill>
                <a:latin typeface="Arial"/>
              </a:rPr>
              <a:t>CASE STUDY</a:t>
            </a:r>
          </a:p>
        </p:txBody>
      </p:sp>
      <p:sp>
        <p:nvSpPr>
          <p:cNvPr id="8" name="Rectangle 7"/>
          <p:cNvSpPr/>
          <p:nvPr/>
        </p:nvSpPr>
        <p:spPr>
          <a:xfrm>
            <a:off x="777240" y="2286000"/>
            <a:ext cx="1063447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86000"/>
            <a:ext cx="91440" cy="2880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487168"/>
            <a:ext cx="9966960" cy="320040"/>
          </a:xfrm>
          <a:prstGeom prst="rect">
            <a:avLst/>
          </a:prstGeom>
          <a:noFill/>
        </p:spPr>
        <p:txBody>
          <a:bodyPr wrap="square" anchor="t">
            <a:spAutoFit/>
          </a:bodyPr>
          <a:lstStyle/>
          <a:p>
            <a:pPr algn="l">
              <a:spcAft>
                <a:spcPts val="400"/>
              </a:spcAft>
            </a:pPr>
            <a:r>
              <a:rPr sz="1200" b="1">
                <a:solidFill>
                  <a:srgbClr val="10B981"/>
                </a:solidFill>
                <a:latin typeface="Arial"/>
              </a:rPr>
              <a:t>THE SITUATION</a:t>
            </a:r>
          </a:p>
        </p:txBody>
      </p:sp>
      <p:sp>
        <p:nvSpPr>
          <p:cNvPr id="11" name="TextBox 10"/>
          <p:cNvSpPr txBox="1"/>
          <p:nvPr/>
        </p:nvSpPr>
        <p:spPr>
          <a:xfrm>
            <a:off x="1097280" y="2834640"/>
            <a:ext cx="10058400" cy="2240280"/>
          </a:xfrm>
          <a:prstGeom prst="rect">
            <a:avLst/>
          </a:prstGeom>
          <a:noFill/>
        </p:spPr>
        <p:txBody>
          <a:bodyPr wrap="square" anchor="t">
            <a:spAutoFit/>
          </a:bodyPr>
          <a:lstStyle/>
          <a:p>
            <a:pPr algn="l">
              <a:spcAft>
                <a:spcPts val="800"/>
              </a:spcAft>
            </a:pPr>
            <a:r>
              <a:rPr sz="1450" b="0">
                <a:solidFill>
                  <a:srgbClr val="161B26"/>
                </a:solidFill>
                <a:latin typeface="Arial"/>
              </a:rPr>
              <a:t>LionCity Retail's Orchard service team is preparing for a major promotion. Over three weeks, two experienced staff have repeatedly swapped shifts, huddles have become quiet, and four customer handoffs were returned for missing information.</a:t>
            </a:r>
          </a:p>
          <a:p>
            <a:pPr algn="l">
              <a:spcAft>
                <a:spcPts val="800"/>
              </a:spcAft>
            </a:pPr>
            <a:r>
              <a:rPr sz="1450" b="0">
                <a:solidFill>
                  <a:srgbClr val="161B26"/>
                </a:solidFill>
                <a:latin typeface="Arial"/>
              </a:rPr>
              <a:t>Aisha privately tells supervisor Marcus that weekend duties are being allocated unfairly. Ben says Aisha is refusing to cooperate. Marcus has only fragments of chat messages and no agreed roster-change record. The promotion starts in five days.</a:t>
            </a:r>
          </a:p>
        </p:txBody>
      </p:sp>
      <p:sp>
        <p:nvSpPr>
          <p:cNvPr id="12" name="Rectangle 11"/>
          <p:cNvSpPr/>
          <p:nvPr/>
        </p:nvSpPr>
        <p:spPr>
          <a:xfrm>
            <a:off x="777240" y="5349240"/>
            <a:ext cx="10634472"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5349240"/>
            <a:ext cx="7315200" cy="685800"/>
          </a:xfrm>
          <a:prstGeom prst="rect">
            <a:avLst/>
          </a:prstGeom>
          <a:noFill/>
        </p:spPr>
        <p:txBody>
          <a:bodyPr wrap="square" anchor="ctr">
            <a:spAutoFit/>
          </a:bodyPr>
          <a:lstStyle/>
          <a:p>
            <a:pPr algn="l">
              <a:spcAft>
                <a:spcPts val="400"/>
              </a:spcAft>
            </a:pPr>
            <a:r>
              <a:rPr sz="1300" b="1">
                <a:solidFill>
                  <a:srgbClr val="1F6FEB"/>
                </a:solidFill>
                <a:latin typeface="Arial"/>
              </a:rPr>
              <a:t>You'll produce:  </a:t>
            </a:r>
            <a:r>
              <a:rPr sz="1300" b="0">
                <a:solidFill>
                  <a:srgbClr val="161B26"/>
                </a:solidFill>
                <a:latin typeface="Arial"/>
              </a:rPr>
              <a:t>A completed signal log, conflict-stage map and first-response decision</a:t>
            </a:r>
          </a:p>
        </p:txBody>
      </p:sp>
      <p:sp>
        <p:nvSpPr>
          <p:cNvPr id="14" name="TextBox 13"/>
          <p:cNvSpPr txBox="1"/>
          <p:nvPr/>
        </p:nvSpPr>
        <p:spPr>
          <a:xfrm>
            <a:off x="8778240" y="5349240"/>
            <a:ext cx="2606040" cy="685800"/>
          </a:xfrm>
          <a:prstGeom prst="rect">
            <a:avLst/>
          </a:prstGeom>
          <a:noFill/>
        </p:spPr>
        <p:txBody>
          <a:bodyPr wrap="square" anchor="ctr">
            <a:spAutoFit/>
          </a:bodyPr>
          <a:lstStyle/>
          <a:p>
            <a:pPr algn="r">
              <a:spcAft>
                <a:spcPts val="400"/>
              </a:spcAft>
            </a:pPr>
            <a:r>
              <a:rPr sz="1300" b="1">
                <a:solidFill>
                  <a:srgbClr val="5B6372"/>
                </a:solidFill>
                <a:latin typeface="Arial"/>
              </a:rPr>
              <a:t>Duration: </a:t>
            </a:r>
            <a:r>
              <a:rPr sz="1300" b="0">
                <a:solidFill>
                  <a:srgbClr val="5B6372"/>
                </a:solidFill>
                <a:latin typeface="Arial"/>
              </a:rPr>
              <a:t>45 minutes</a:t>
            </a:r>
          </a:p>
        </p:txBody>
      </p:sp>
      <p:sp>
        <p:nvSpPr>
          <p:cNvPr id="15" name="TextBox 14"/>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6" name="TextBox 15"/>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7" name="TextBox 16"/>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50"/>
                                        <p:tgtEl>
                                          <p:spTgt spid="11"/>
                                        </p:tgtEl>
                                      </p:cBhvr>
                                    </p:animEffect>
                                    <p:anim calcmode="lin" valueType="num">
                                      <p:cBhvr additive="base">
                                        <p:cTn id="3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50"/>
                                        <p:tgtEl>
                                          <p:spTgt spid="12"/>
                                        </p:tgtEl>
                                      </p:cBhvr>
                                    </p:animEffect>
                                    <p:anim calcmode="lin" valueType="num">
                                      <p:cBhvr additive="base">
                                        <p:cTn id="4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par>
                    <p:cTn id="50" fill="hold">
                      <p:stCondLst>
                        <p:cond delay="0"/>
                      </p:stCondLst>
                      <p:childTnLst>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350"/>
                                        <p:tgtEl>
                                          <p:spTgt spid="13"/>
                                        </p:tgtEl>
                                      </p:cBhvr>
                                    </p:animEffect>
                                    <p:anim calcmode="lin" valueType="num">
                                      <p:cBhvr additive="base">
                                        <p:cTn id="55" dur="350" fill="hold"/>
                                        <p:tgtEl>
                                          <p:spTgt spid="13"/>
                                        </p:tgtEl>
                                        <p:attrNameLst>
                                          <p:attrName>ppt_y</p:attrName>
                                        </p:attrNameLst>
                                      </p:cBhvr>
                                      <p:tavLst>
                                        <p:tav tm="0">
                                          <p:val>
                                            <p:strVal val="#ppt_y+0.0350"/>
                                          </p:val>
                                        </p:tav>
                                        <p:tav tm="100000">
                                          <p:val>
                                            <p:strVal val="#ppt_y"/>
                                          </p:val>
                                        </p:tav>
                                      </p:tavLst>
                                    </p:anim>
                                  </p:childTnLst>
                                </p:cTn>
                              </p:par>
                            </p:childTnLst>
                          </p:cTn>
                        </p:par>
                      </p:childTnLst>
                    </p:cTn>
                  </p:par>
                  <p:par>
                    <p:cTn id="60" fill="hold">
                      <p:stCondLst>
                        <p:cond delay="0"/>
                      </p:stCondLst>
                      <p:childTnLst>
                        <p:par>
                          <p:cTn id="61" fill="hold">
                            <p:stCondLst>
                              <p:cond delay="0"/>
                            </p:stCondLst>
                            <p:childTnLst>
                              <p:par>
                                <p:cTn id="62" presetID="10" presetClass="entr" presetSubtype="0"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350"/>
                                        <p:tgtEl>
                                          <p:spTgt spid="14"/>
                                        </p:tgtEl>
                                      </p:cBhvr>
                                    </p:animEffect>
                                    <p:anim calcmode="lin" valueType="num">
                                      <p:cBhvr additive="base">
                                        <p:cTn id="65" dur="350" fill="hold"/>
                                        <p:tgtEl>
                                          <p:spTgt spid="14"/>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LO1 · Topic 1 · T1 · ACTIVITY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Conflict Signal Triage at LionCity Retail</a:t>
            </a:r>
          </a:p>
        </p:txBody>
      </p:sp>
      <p:sp>
        <p:nvSpPr>
          <p:cNvPr id="6" name="TextBox 5"/>
          <p:cNvSpPr txBox="1"/>
          <p:nvPr/>
        </p:nvSpPr>
        <p:spPr>
          <a:xfrm>
            <a:off x="777240" y="1719072"/>
            <a:ext cx="8229600" cy="365760"/>
          </a:xfrm>
          <a:prstGeom prst="rect">
            <a:avLst/>
          </a:prstGeom>
          <a:noFill/>
        </p:spPr>
        <p:txBody>
          <a:bodyPr wrap="square" anchor="t">
            <a:spAutoFit/>
          </a:bodyPr>
          <a:lstStyle/>
          <a:p>
            <a:pPr algn="l">
              <a:spcAft>
                <a:spcPts val="400"/>
              </a:spcAft>
            </a:pPr>
            <a:r>
              <a:rPr sz="1300" b="1">
                <a:solidFill>
                  <a:srgbClr val="5B6372"/>
                </a:solidFill>
                <a:latin typeface="Arial"/>
              </a:rPr>
              <a:t>DISCUSSION &amp; DECISION PROMPTS</a:t>
            </a:r>
          </a:p>
        </p:txBody>
      </p:sp>
      <p:sp>
        <p:nvSpPr>
          <p:cNvPr id="7" name="Rectangle 6"/>
          <p:cNvSpPr/>
          <p:nvPr/>
        </p:nvSpPr>
        <p:spPr>
          <a:xfrm>
            <a:off x="777240" y="2148840"/>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78408" y="233400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334006"/>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37360" y="2148840"/>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Which details are observable facts, reported claims and interpretations?</a:t>
            </a:r>
          </a:p>
        </p:txBody>
      </p:sp>
      <p:sp>
        <p:nvSpPr>
          <p:cNvPr id="12" name="Rectangle 11"/>
          <p:cNvSpPr/>
          <p:nvPr/>
        </p:nvSpPr>
        <p:spPr>
          <a:xfrm>
            <a:off x="777240" y="3168396"/>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8396"/>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78408" y="3353562"/>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3353562"/>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37360" y="3168396"/>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indicators suggest latent, perceived, felt or manifest conflict?</a:t>
            </a:r>
          </a:p>
        </p:txBody>
      </p:sp>
      <p:sp>
        <p:nvSpPr>
          <p:cNvPr id="17" name="Rectangle 16"/>
          <p:cNvSpPr/>
          <p:nvPr/>
        </p:nvSpPr>
        <p:spPr>
          <a:xfrm>
            <a:off x="777240" y="4187952"/>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87952"/>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78408" y="4373118"/>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373118"/>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37360" y="4187952"/>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immediate impact is visible for staff, customers and the promotion?</a:t>
            </a:r>
          </a:p>
        </p:txBody>
      </p:sp>
      <p:sp>
        <p:nvSpPr>
          <p:cNvPr id="22" name="Rectangle 21"/>
          <p:cNvSpPr/>
          <p:nvPr/>
        </p:nvSpPr>
        <p:spPr>
          <a:xfrm>
            <a:off x="777240" y="5207508"/>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07508"/>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78408" y="5392674"/>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392674"/>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37360" y="5207508"/>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would make informal clarification unsafe or inappropriate?</a:t>
            </a:r>
          </a:p>
        </p:txBody>
      </p:sp>
      <p:sp>
        <p:nvSpPr>
          <p:cNvPr id="27" name="TextBox 26"/>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8" name="TextBox 27"/>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9" name="TextBox 28"/>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fast" advClick="1">
    <p:wipe dir="l"/>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LO1 · Topic 1 · T1 · ACTIVITY 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Conflict Signal Triage at LionCity Retail</a:t>
            </a:r>
          </a:p>
        </p:txBody>
      </p:sp>
      <p:sp>
        <p:nvSpPr>
          <p:cNvPr id="6" name="Rectangle 5"/>
          <p:cNvSpPr/>
          <p:nvPr/>
        </p:nvSpPr>
        <p:spPr>
          <a:xfrm>
            <a:off x="777240" y="1783080"/>
            <a:ext cx="10634472" cy="2651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6517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965960"/>
            <a:ext cx="10058400" cy="365760"/>
          </a:xfrm>
          <a:prstGeom prst="rect">
            <a:avLst/>
          </a:prstGeom>
          <a:noFill/>
        </p:spPr>
        <p:txBody>
          <a:bodyPr wrap="square" anchor="t">
            <a:spAutoFit/>
          </a:bodyPr>
          <a:lstStyle/>
          <a:p>
            <a:pPr algn="l">
              <a:spcAft>
                <a:spcPts val="400"/>
              </a:spcAft>
            </a:pPr>
            <a:r>
              <a:rPr sz="1300" b="1">
                <a:solidFill>
                  <a:srgbClr val="7C3AED"/>
                </a:solidFill>
                <a:latin typeface="Arial"/>
              </a:rPr>
              <a:t>REFLECT &amp; DISCUSS</a:t>
            </a:r>
          </a:p>
        </p:txBody>
      </p:sp>
      <p:sp>
        <p:nvSpPr>
          <p:cNvPr id="9" name="TextBox 8"/>
          <p:cNvSpPr txBox="1"/>
          <p:nvPr/>
        </p:nvSpPr>
        <p:spPr>
          <a:xfrm>
            <a:off x="1051560" y="2377440"/>
            <a:ext cx="10058400" cy="1920240"/>
          </a:xfrm>
          <a:prstGeom prst="rect">
            <a:avLst/>
          </a:prstGeom>
          <a:noFill/>
        </p:spPr>
        <p:txBody>
          <a:bodyPr wrap="square">
            <a:spAutoFit/>
          </a:bodyPr>
          <a:lstStyle/>
          <a:p>
            <a:pPr>
              <a:spcAft>
                <a:spcPts val="900"/>
              </a:spcAft>
            </a:pPr>
            <a:r>
              <a:rPr sz="1450" b="0">
                <a:solidFill>
                  <a:srgbClr val="161B26"/>
                </a:solidFill>
                <a:latin typeface="Arial"/>
              </a:rPr>
              <a:t>•  Did you avoid diagnosing personality from limited evidence?</a:t>
            </a:r>
          </a:p>
          <a:p>
            <a:pPr>
              <a:spcAft>
                <a:spcPts val="900"/>
              </a:spcAft>
            </a:pPr>
            <a:r>
              <a:rPr sz="1450" b="0">
                <a:solidFill>
                  <a:srgbClr val="161B26"/>
                </a:solidFill>
                <a:latin typeface="Arial"/>
              </a:rPr>
              <a:t>•  Did your first response name an owner, deadline and escalation boundary?</a:t>
            </a:r>
          </a:p>
        </p:txBody>
      </p:sp>
      <p:sp>
        <p:nvSpPr>
          <p:cNvPr id="10" name="Rectangle 9"/>
          <p:cNvSpPr/>
          <p:nvPr/>
        </p:nvSpPr>
        <p:spPr>
          <a:xfrm>
            <a:off x="777240" y="4663440"/>
            <a:ext cx="10634472" cy="1371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4864608"/>
            <a:ext cx="10058400" cy="365760"/>
          </a:xfrm>
          <a:prstGeom prst="rect">
            <a:avLst/>
          </a:prstGeom>
          <a:noFill/>
        </p:spPr>
        <p:txBody>
          <a:bodyPr wrap="square" anchor="t">
            <a:spAutoFit/>
          </a:bodyPr>
          <a:lstStyle/>
          <a:p>
            <a:pPr algn="l">
              <a:spcAft>
                <a:spcPts val="400"/>
              </a:spcAft>
            </a:pPr>
            <a:r>
              <a:rPr sz="1500" b="1">
                <a:solidFill>
                  <a:srgbClr val="127A3E"/>
                </a:solidFill>
                <a:latin typeface="Arial"/>
              </a:rPr>
              <a:t>✓  Facilitator debrief check</a:t>
            </a:r>
          </a:p>
        </p:txBody>
      </p:sp>
      <p:sp>
        <p:nvSpPr>
          <p:cNvPr id="12" name="TextBox 11"/>
          <p:cNvSpPr txBox="1"/>
          <p:nvPr/>
        </p:nvSpPr>
        <p:spPr>
          <a:xfrm>
            <a:off x="1051560" y="5257800"/>
            <a:ext cx="10058400" cy="731520"/>
          </a:xfrm>
          <a:prstGeom prst="rect">
            <a:avLst/>
          </a:prstGeom>
          <a:noFill/>
        </p:spPr>
        <p:txBody>
          <a:bodyPr wrap="square" anchor="t">
            <a:spAutoFit/>
          </a:bodyPr>
          <a:lstStyle/>
          <a:p>
            <a:pPr algn="l">
              <a:spcAft>
                <a:spcPts val="400"/>
              </a:spcAft>
            </a:pPr>
            <a:r>
              <a:rPr sz="1300" b="0">
                <a:solidFill>
                  <a:srgbClr val="161B26"/>
                </a:solidFill>
                <a:latin typeface="Arial"/>
              </a:rPr>
              <a:t>The triage separates facts from assumptions, screens safety/policy risk and selects a proportionate next action.</a:t>
            </a:r>
          </a:p>
        </p:txBody>
      </p:sp>
      <p:sp>
        <p:nvSpPr>
          <p:cNvPr id="13" name="TextBox 12"/>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4" name="TextBox 13"/>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5" name="TextBox 14"/>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50"/>
                                        <p:tgtEl>
                                          <p:spTgt spid="9"/>
                                        </p:tgtEl>
                                      </p:cBhvr>
                                    </p:animEffect>
                                    <p:anim calcmode="lin" valueType="num">
                                      <p:cBhvr additive="base">
                                        <p:cTn id="1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350"/>
                                        <p:tgtEl>
                                          <p:spTgt spid="10"/>
                                        </p:tgtEl>
                                      </p:cBhvr>
                                    </p:animEffect>
                                    <p:anim calcmode="lin" valueType="num">
                                      <p:cBhvr additive="base">
                                        <p:cTn id="2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350"/>
                                        <p:tgtEl>
                                          <p:spTgt spid="12"/>
                                        </p:tgtEl>
                                      </p:cBhvr>
                                    </p:animEffect>
                                    <p:anim calcmode="lin" valueType="num">
                                      <p:cBhvr additive="base">
                                        <p:cTn id="3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600" b="1">
                <a:solidFill>
                  <a:srgbClr val="10B981"/>
                </a:solidFill>
                <a:latin typeface="Arial"/>
              </a:rPr>
              <a:t>LO1 · Topic 1 · T2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3400" b="1">
                <a:solidFill>
                  <a:srgbClr val="161B26"/>
                </a:solidFill>
                <a:latin typeface="Arial"/>
              </a:rPr>
              <a:t>an evidence-based conflict diagnosis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T2</a:t>
            </a:r>
          </a:p>
        </p:txBody>
      </p:sp>
      <p:sp>
        <p:nvSpPr>
          <p:cNvPr id="8" name="TextBox 7"/>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9" name="TextBox 8"/>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0" name="TextBox 9"/>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push dir="u"/>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Topic 1 · T2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What is an evidence-based conflict diagnosis?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Position</a:t>
            </a:r>
          </a:p>
          <a:p>
            <a:pPr algn="l">
              <a:spcAft>
                <a:spcPts val="300"/>
              </a:spcAft>
            </a:pPr>
            <a:r>
              <a:rPr sz="1200" b="0">
                <a:solidFill>
                  <a:srgbClr val="5B6372"/>
                </a:solidFill>
                <a:latin typeface="Arial"/>
              </a:rPr>
              <a:t>What each person says should happen.</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Interest</a:t>
            </a:r>
          </a:p>
          <a:p>
            <a:pPr algn="l">
              <a:spcAft>
                <a:spcPts val="300"/>
              </a:spcAft>
            </a:pPr>
            <a:r>
              <a:rPr sz="1200" b="0">
                <a:solidFill>
                  <a:srgbClr val="5B6372"/>
                </a:solidFill>
                <a:latin typeface="Arial"/>
              </a:rPr>
              <a:t>The need, concern or value underneath the position.</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Evidence</a:t>
            </a:r>
          </a:p>
          <a:p>
            <a:pPr algn="l">
              <a:spcAft>
                <a:spcPts val="300"/>
              </a:spcAft>
            </a:pPr>
            <a:r>
              <a:rPr sz="1200" b="0">
                <a:solidFill>
                  <a:srgbClr val="5B6372"/>
                </a:solidFill>
                <a:latin typeface="Arial"/>
              </a:rPr>
              <a:t>Records, observations and corroborated facts relevant to the issue.</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System factor</a:t>
            </a:r>
          </a:p>
          <a:p>
            <a:pPr algn="l">
              <a:spcAft>
                <a:spcPts val="300"/>
              </a:spcAft>
            </a:pPr>
            <a:r>
              <a:rPr sz="1200" b="0">
                <a:solidFill>
                  <a:srgbClr val="5B6372"/>
                </a:solidFill>
                <a:latin typeface="Arial"/>
              </a:rPr>
              <a:t>Role, handoff, incentive, workload or decision-right condition feeding the conflict.</a:t>
            </a:r>
          </a:p>
        </p:txBody>
      </p:sp>
      <p:sp>
        <p:nvSpPr>
          <p:cNvPr id="26" name="TextBox 2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7" name="TextBox 2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8" name="TextBox 2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
        <p:nvSpPr>
          <p:cNvPr id="29" name="TextBox 2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Sources: Harvard PON; Study.com; Indeed workplace strategies</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LO1 · Topic 1 · T2 · HOW IT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Neutral Fact-Finding Interview</a:t>
            </a:r>
          </a:p>
        </p:txBody>
      </p:sp>
      <p:sp>
        <p:nvSpPr>
          <p:cNvPr id="6" name="Rectangle 5"/>
          <p:cNvSpPr/>
          <p:nvPr/>
        </p:nvSpPr>
        <p:spPr>
          <a:xfrm>
            <a:off x="777240"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01775"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01775"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05256"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Prepare</a:t>
            </a:r>
          </a:p>
        </p:txBody>
      </p:sp>
      <p:sp>
        <p:nvSpPr>
          <p:cNvPr id="11" name="TextBox 10"/>
          <p:cNvSpPr txBox="1"/>
          <p:nvPr/>
        </p:nvSpPr>
        <p:spPr>
          <a:xfrm>
            <a:off x="905256"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Set purpose, privacy boundary, questions and records.</a:t>
            </a:r>
          </a:p>
        </p:txBody>
      </p:sp>
      <p:sp>
        <p:nvSpPr>
          <p:cNvPr id="12" name="Chevron 11"/>
          <p:cNvSpPr/>
          <p:nvPr/>
        </p:nvSpPr>
        <p:spPr>
          <a:xfrm>
            <a:off x="2702966"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58998"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83533"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3533"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87014"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Invite account</a:t>
            </a:r>
          </a:p>
        </p:txBody>
      </p:sp>
      <p:sp>
        <p:nvSpPr>
          <p:cNvPr id="18" name="TextBox 17"/>
          <p:cNvSpPr txBox="1"/>
          <p:nvPr/>
        </p:nvSpPr>
        <p:spPr>
          <a:xfrm>
            <a:off x="3087014"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Ask what happened, when, who observed it and what impact followed.</a:t>
            </a:r>
          </a:p>
        </p:txBody>
      </p:sp>
      <p:sp>
        <p:nvSpPr>
          <p:cNvPr id="19" name="Chevron 18"/>
          <p:cNvSpPr/>
          <p:nvPr/>
        </p:nvSpPr>
        <p:spPr>
          <a:xfrm>
            <a:off x="4884724"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765291"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65291"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68772"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Clarify</a:t>
            </a:r>
          </a:p>
        </p:txBody>
      </p:sp>
      <p:sp>
        <p:nvSpPr>
          <p:cNvPr id="25" name="TextBox 24"/>
          <p:cNvSpPr txBox="1"/>
          <p:nvPr/>
        </p:nvSpPr>
        <p:spPr>
          <a:xfrm>
            <a:off x="5268772"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Paraphrase, test sequence and distinguish direct knowledge from hearsay.</a:t>
            </a:r>
          </a:p>
        </p:txBody>
      </p:sp>
      <p:sp>
        <p:nvSpPr>
          <p:cNvPr id="26" name="Chevron 25"/>
          <p:cNvSpPr/>
          <p:nvPr/>
        </p:nvSpPr>
        <p:spPr>
          <a:xfrm>
            <a:off x="7066482"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2514"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22514"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947049"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47049"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50530"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Triangulate</a:t>
            </a:r>
          </a:p>
        </p:txBody>
      </p:sp>
      <p:sp>
        <p:nvSpPr>
          <p:cNvPr id="32" name="TextBox 31"/>
          <p:cNvSpPr txBox="1"/>
          <p:nvPr/>
        </p:nvSpPr>
        <p:spPr>
          <a:xfrm>
            <a:off x="7450530"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Compare accounts with records and plausible alternatives.</a:t>
            </a:r>
          </a:p>
        </p:txBody>
      </p:sp>
      <p:sp>
        <p:nvSpPr>
          <p:cNvPr id="33" name="Chevron 32"/>
          <p:cNvSpPr/>
          <p:nvPr/>
        </p:nvSpPr>
        <p:spPr>
          <a:xfrm>
            <a:off x="9248240"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04272"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28807"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28807"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32288"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Map causes</a:t>
            </a:r>
          </a:p>
        </p:txBody>
      </p:sp>
      <p:sp>
        <p:nvSpPr>
          <p:cNvPr id="39" name="TextBox 38"/>
          <p:cNvSpPr txBox="1"/>
          <p:nvPr/>
        </p:nvSpPr>
        <p:spPr>
          <a:xfrm>
            <a:off x="9632288"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Identify task, process, relationship and structural contributors.</a:t>
            </a:r>
          </a:p>
        </p:txBody>
      </p:sp>
      <p:sp>
        <p:nvSpPr>
          <p:cNvPr id="40" name="TextBox 39"/>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41" name="TextBox 40"/>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42" name="TextBox 41"/>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Topic 1 · T2 · COMPARE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Questioning That Opens vs Closes</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Closing / accusatory</a:t>
            </a:r>
          </a:p>
        </p:txBody>
      </p:sp>
      <p:sp>
        <p:nvSpPr>
          <p:cNvPr id="9" name="TextBox 8"/>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Neutral / exploratory</a:t>
            </a:r>
          </a:p>
        </p:txBody>
      </p:sp>
      <p:sp>
        <p:nvSpPr>
          <p:cNvPr id="10" name="TextBox 9"/>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Why did you ignore the procedure?</a:t>
            </a:r>
          </a:p>
          <a:p>
            <a:pPr>
              <a:spcAft>
                <a:spcPts val="1000"/>
              </a:spcAft>
            </a:pPr>
            <a:r>
              <a:rPr sz="1600" b="0">
                <a:solidFill>
                  <a:srgbClr val="161B26"/>
                </a:solidFill>
                <a:latin typeface="Arial"/>
              </a:rPr>
              <a:t>•  Who started this?</a:t>
            </a:r>
          </a:p>
          <a:p>
            <a:pPr>
              <a:spcAft>
                <a:spcPts val="1000"/>
              </a:spcAft>
            </a:pPr>
            <a:r>
              <a:rPr sz="1600" b="0">
                <a:solidFill>
                  <a:srgbClr val="161B26"/>
                </a:solidFill>
                <a:latin typeface="Arial"/>
              </a:rPr>
              <a:t>•  Don't you think Priya overreacted?</a:t>
            </a:r>
          </a:p>
          <a:p>
            <a:pPr>
              <a:spcAft>
                <a:spcPts val="1000"/>
              </a:spcAft>
            </a:pPr>
            <a:r>
              <a:rPr sz="1600" b="0">
                <a:solidFill>
                  <a:srgbClr val="161B26"/>
                </a:solidFill>
                <a:latin typeface="Arial"/>
              </a:rPr>
              <a:t>•  Can you prove you are right?</a:t>
            </a:r>
          </a:p>
        </p:txBody>
      </p:sp>
      <p:sp>
        <p:nvSpPr>
          <p:cNvPr id="11" name="TextBox 10"/>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Walk me through the handoff from your perspective.</a:t>
            </a:r>
          </a:p>
          <a:p>
            <a:pPr>
              <a:spcAft>
                <a:spcPts val="1000"/>
              </a:spcAft>
            </a:pPr>
            <a:r>
              <a:rPr sz="1600" b="0">
                <a:solidFill>
                  <a:srgbClr val="161B26"/>
                </a:solidFill>
                <a:latin typeface="Arial"/>
              </a:rPr>
              <a:t>•  What happened immediately before and after the missed scan?</a:t>
            </a:r>
          </a:p>
          <a:p>
            <a:pPr>
              <a:spcAft>
                <a:spcPts val="1000"/>
              </a:spcAft>
            </a:pPr>
            <a:r>
              <a:rPr sz="1600" b="0">
                <a:solidFill>
                  <a:srgbClr val="161B26"/>
                </a:solidFill>
                <a:latin typeface="Arial"/>
              </a:rPr>
              <a:t>•  What impact did you observe, and what evidence supports it?</a:t>
            </a:r>
          </a:p>
          <a:p>
            <a:pPr>
              <a:spcAft>
                <a:spcPts val="1000"/>
              </a:spcAft>
            </a:pPr>
            <a:r>
              <a:rPr sz="1600" b="0">
                <a:solidFill>
                  <a:srgbClr val="161B26"/>
                </a:solidFill>
                <a:latin typeface="Arial"/>
              </a:rPr>
              <a:t>•  What need or constraint would a workable solution have to address?</a:t>
            </a:r>
          </a:p>
        </p:txBody>
      </p:sp>
      <p:sp>
        <p:nvSpPr>
          <p:cNvPr id="12" name="TextBox 11"/>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3" name="TextBox 12"/>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4" name="TextBox 13"/>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
        <p:nvSpPr>
          <p:cNvPr id="15" name="TextBox 14"/>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Sources: UC Berkeley Ombuds; active-listening guidance across supplied sources</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350"/>
                                        <p:tgtEl>
                                          <p:spTgt spid="10"/>
                                        </p:tgtEl>
                                      </p:cBhvr>
                                    </p:animEffect>
                                    <p:anim calcmode="lin" valueType="num">
                                      <p:cBhvr additive="base">
                                        <p:cTn id="1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350"/>
                                        <p:tgtEl>
                                          <p:spTgt spid="11"/>
                                        </p:tgtEl>
                                      </p:cBhvr>
                                    </p:animEffect>
                                    <p:anim calcmode="lin" valueType="num">
                                      <p:cBhvr additive="base">
                                        <p:cTn id="2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Topic 1 · T2 · SUPPORTING DATA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Root-Cause Lenses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Task</a:t>
            </a:r>
          </a:p>
          <a:p>
            <a:pPr algn="l">
              <a:spcAft>
                <a:spcPts val="300"/>
              </a:spcAft>
            </a:pPr>
            <a:r>
              <a:rPr sz="1200" b="0">
                <a:solidFill>
                  <a:srgbClr val="5B6372"/>
                </a:solidFill>
                <a:latin typeface="Arial"/>
              </a:rPr>
              <a:t>Different goals, quality standards or priorities.</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Process</a:t>
            </a:r>
          </a:p>
          <a:p>
            <a:pPr algn="l">
              <a:spcAft>
                <a:spcPts val="300"/>
              </a:spcAft>
            </a:pPr>
            <a:r>
              <a:rPr sz="1200" b="0">
                <a:solidFill>
                  <a:srgbClr val="5B6372"/>
                </a:solidFill>
                <a:latin typeface="Arial"/>
              </a:rPr>
              <a:t>Unclear workflow, handoff, information or decision rights.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Relationship</a:t>
            </a:r>
          </a:p>
          <a:p>
            <a:pPr algn="l">
              <a:spcAft>
                <a:spcPts val="300"/>
              </a:spcAft>
            </a:pPr>
            <a:r>
              <a:rPr sz="1200" b="0">
                <a:solidFill>
                  <a:srgbClr val="5B6372"/>
                </a:solidFill>
                <a:latin typeface="Arial"/>
              </a:rPr>
              <a:t>Trust erosion, communication pattern or unresolved history.</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Structure</a:t>
            </a:r>
          </a:p>
          <a:p>
            <a:pPr algn="l">
              <a:spcAft>
                <a:spcPts val="300"/>
              </a:spcAft>
            </a:pPr>
            <a:r>
              <a:rPr sz="1200" b="0">
                <a:solidFill>
                  <a:srgbClr val="5B6372"/>
                </a:solidFill>
                <a:latin typeface="Arial"/>
              </a:rPr>
              <a:t>Resource scarcity, incentives, workload, hierarchy or change.</a:t>
            </a:r>
          </a:p>
        </p:txBody>
      </p:sp>
      <p:sp>
        <p:nvSpPr>
          <p:cNvPr id="26" name="TextBox 2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7" name="TextBox 2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8" name="TextBox 2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
        <p:nvSpPr>
          <p:cNvPr id="29" name="TextBox 2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illustrative worked example</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LO1 · Topic 1 · T2 · ACTIVITY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Evidence Interview and Root-Cause Map at HarborLink Logistics</a:t>
            </a:r>
          </a:p>
        </p:txBody>
      </p:sp>
      <p:sp>
        <p:nvSpPr>
          <p:cNvPr id="6" name="Rectangle 5"/>
          <p:cNvSpPr/>
          <p:nvPr/>
        </p:nvSpPr>
        <p:spPr>
          <a:xfrm>
            <a:off x="777240" y="1691640"/>
            <a:ext cx="16916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28216"/>
            <a:ext cx="1691640" cy="365760"/>
          </a:xfrm>
          <a:prstGeom prst="rect">
            <a:avLst/>
          </a:prstGeom>
          <a:noFill/>
        </p:spPr>
        <p:txBody>
          <a:bodyPr wrap="square" anchor="t">
            <a:spAutoFit/>
          </a:bodyPr>
          <a:lstStyle/>
          <a:p>
            <a:pPr algn="ctr">
              <a:spcAft>
                <a:spcPts val="400"/>
              </a:spcAft>
            </a:pPr>
            <a:r>
              <a:rPr sz="1300" b="1">
                <a:solidFill>
                  <a:srgbClr val="FFFFFF"/>
                </a:solidFill>
                <a:latin typeface="Arial"/>
              </a:rPr>
              <a:t>CASE STUDY</a:t>
            </a:r>
          </a:p>
        </p:txBody>
      </p:sp>
      <p:sp>
        <p:nvSpPr>
          <p:cNvPr id="8" name="Rectangle 7"/>
          <p:cNvSpPr/>
          <p:nvPr/>
        </p:nvSpPr>
        <p:spPr>
          <a:xfrm>
            <a:off x="777240" y="2286000"/>
            <a:ext cx="1063447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86000"/>
            <a:ext cx="91440" cy="2880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487168"/>
            <a:ext cx="9966960" cy="320040"/>
          </a:xfrm>
          <a:prstGeom prst="rect">
            <a:avLst/>
          </a:prstGeom>
          <a:noFill/>
        </p:spPr>
        <p:txBody>
          <a:bodyPr wrap="square" anchor="t">
            <a:spAutoFit/>
          </a:bodyPr>
          <a:lstStyle/>
          <a:p>
            <a:pPr algn="l">
              <a:spcAft>
                <a:spcPts val="400"/>
              </a:spcAft>
            </a:pPr>
            <a:r>
              <a:rPr sz="1200" b="1">
                <a:solidFill>
                  <a:srgbClr val="10B981"/>
                </a:solidFill>
                <a:latin typeface="Arial"/>
              </a:rPr>
              <a:t>THE SITUATION</a:t>
            </a:r>
          </a:p>
        </p:txBody>
      </p:sp>
      <p:sp>
        <p:nvSpPr>
          <p:cNvPr id="11" name="TextBox 10"/>
          <p:cNvSpPr txBox="1"/>
          <p:nvPr/>
        </p:nvSpPr>
        <p:spPr>
          <a:xfrm>
            <a:off x="1097280" y="2834640"/>
            <a:ext cx="10058400" cy="2240280"/>
          </a:xfrm>
          <a:prstGeom prst="rect">
            <a:avLst/>
          </a:prstGeom>
          <a:noFill/>
        </p:spPr>
        <p:txBody>
          <a:bodyPr wrap="square" anchor="t">
            <a:spAutoFit/>
          </a:bodyPr>
          <a:lstStyle/>
          <a:p>
            <a:pPr algn="l">
              <a:spcAft>
                <a:spcPts val="800"/>
              </a:spcAft>
            </a:pPr>
            <a:r>
              <a:rPr sz="1450" b="0">
                <a:solidFill>
                  <a:srgbClr val="161B26"/>
                </a:solidFill>
                <a:latin typeface="Arial"/>
              </a:rPr>
              <a:t>At HarborLink Logistics, warehouse lead Priya says transport planner Daniel repeatedly changes dispatch priorities without warning. Daniel says Priya's team ignores urgent customer requests and hides picking delays until late afternoon.</a:t>
            </a:r>
          </a:p>
          <a:p>
            <a:pPr algn="l">
              <a:spcAft>
                <a:spcPts val="800"/>
              </a:spcAft>
            </a:pPr>
            <a:r>
              <a:rPr sz="1450" b="0">
                <a:solidFill>
                  <a:srgbClr val="161B26"/>
                </a:solidFill>
                <a:latin typeface="Arial"/>
              </a:rPr>
              <a:t>The shared dashboard records timestamps but not who approved priority changes. A new performance incentive rewards each function differently. Learners conduct two short interviews and build a root-cause map before recommending any resolution.</a:t>
            </a:r>
          </a:p>
        </p:txBody>
      </p:sp>
      <p:sp>
        <p:nvSpPr>
          <p:cNvPr id="12" name="Rectangle 11"/>
          <p:cNvSpPr/>
          <p:nvPr/>
        </p:nvSpPr>
        <p:spPr>
          <a:xfrm>
            <a:off x="777240" y="5349240"/>
            <a:ext cx="10634472"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5349240"/>
            <a:ext cx="7315200" cy="685800"/>
          </a:xfrm>
          <a:prstGeom prst="rect">
            <a:avLst/>
          </a:prstGeom>
          <a:noFill/>
        </p:spPr>
        <p:txBody>
          <a:bodyPr wrap="square" anchor="ctr">
            <a:spAutoFit/>
          </a:bodyPr>
          <a:lstStyle/>
          <a:p>
            <a:pPr algn="l">
              <a:spcAft>
                <a:spcPts val="400"/>
              </a:spcAft>
            </a:pPr>
            <a:r>
              <a:rPr sz="1300" b="1">
                <a:solidFill>
                  <a:srgbClr val="1F6FEB"/>
                </a:solidFill>
                <a:latin typeface="Arial"/>
              </a:rPr>
              <a:t>You'll produce:  </a:t>
            </a:r>
            <a:r>
              <a:rPr sz="1300" b="0">
                <a:solidFill>
                  <a:srgbClr val="161B26"/>
                </a:solidFill>
                <a:latin typeface="Arial"/>
              </a:rPr>
              <a:t>Interview notes, an evidence matrix and a multi-cause conflict map</a:t>
            </a:r>
          </a:p>
        </p:txBody>
      </p:sp>
      <p:sp>
        <p:nvSpPr>
          <p:cNvPr id="14" name="TextBox 13"/>
          <p:cNvSpPr txBox="1"/>
          <p:nvPr/>
        </p:nvSpPr>
        <p:spPr>
          <a:xfrm>
            <a:off x="8778240" y="5349240"/>
            <a:ext cx="2606040" cy="685800"/>
          </a:xfrm>
          <a:prstGeom prst="rect">
            <a:avLst/>
          </a:prstGeom>
          <a:noFill/>
        </p:spPr>
        <p:txBody>
          <a:bodyPr wrap="square" anchor="ctr">
            <a:spAutoFit/>
          </a:bodyPr>
          <a:lstStyle/>
          <a:p>
            <a:pPr algn="r">
              <a:spcAft>
                <a:spcPts val="400"/>
              </a:spcAft>
            </a:pPr>
            <a:r>
              <a:rPr sz="1300" b="1">
                <a:solidFill>
                  <a:srgbClr val="5B6372"/>
                </a:solidFill>
                <a:latin typeface="Arial"/>
              </a:rPr>
              <a:t>Duration: </a:t>
            </a:r>
            <a:r>
              <a:rPr sz="1300" b="0">
                <a:solidFill>
                  <a:srgbClr val="5B6372"/>
                </a:solidFill>
                <a:latin typeface="Arial"/>
              </a:rPr>
              <a:t>55 minutes</a:t>
            </a:r>
          </a:p>
        </p:txBody>
      </p:sp>
      <p:sp>
        <p:nvSpPr>
          <p:cNvPr id="15" name="TextBox 14"/>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6" name="TextBox 15"/>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7" name="TextBox 16"/>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50"/>
                                        <p:tgtEl>
                                          <p:spTgt spid="11"/>
                                        </p:tgtEl>
                                      </p:cBhvr>
                                    </p:animEffect>
                                    <p:anim calcmode="lin" valueType="num">
                                      <p:cBhvr additive="base">
                                        <p:cTn id="3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50"/>
                                        <p:tgtEl>
                                          <p:spTgt spid="12"/>
                                        </p:tgtEl>
                                      </p:cBhvr>
                                    </p:animEffect>
                                    <p:anim calcmode="lin" valueType="num">
                                      <p:cBhvr additive="base">
                                        <p:cTn id="4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par>
                    <p:cTn id="50" fill="hold">
                      <p:stCondLst>
                        <p:cond delay="0"/>
                      </p:stCondLst>
                      <p:childTnLst>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350"/>
                                        <p:tgtEl>
                                          <p:spTgt spid="13"/>
                                        </p:tgtEl>
                                      </p:cBhvr>
                                    </p:animEffect>
                                    <p:anim calcmode="lin" valueType="num">
                                      <p:cBhvr additive="base">
                                        <p:cTn id="55" dur="350" fill="hold"/>
                                        <p:tgtEl>
                                          <p:spTgt spid="13"/>
                                        </p:tgtEl>
                                        <p:attrNameLst>
                                          <p:attrName>ppt_y</p:attrName>
                                        </p:attrNameLst>
                                      </p:cBhvr>
                                      <p:tavLst>
                                        <p:tav tm="0">
                                          <p:val>
                                            <p:strVal val="#ppt_y+0.0350"/>
                                          </p:val>
                                        </p:tav>
                                        <p:tav tm="100000">
                                          <p:val>
                                            <p:strVal val="#ppt_y"/>
                                          </p:val>
                                        </p:tav>
                                      </p:tavLst>
                                    </p:anim>
                                  </p:childTnLst>
                                </p:cTn>
                              </p:par>
                            </p:childTnLst>
                          </p:cTn>
                        </p:par>
                      </p:childTnLst>
                    </p:cTn>
                  </p:par>
                  <p:par>
                    <p:cTn id="60" fill="hold">
                      <p:stCondLst>
                        <p:cond delay="0"/>
                      </p:stCondLst>
                      <p:childTnLst>
                        <p:par>
                          <p:cTn id="61" fill="hold">
                            <p:stCondLst>
                              <p:cond delay="0"/>
                            </p:stCondLst>
                            <p:childTnLst>
                              <p:par>
                                <p:cTn id="62" presetID="10" presetClass="entr" presetSubtype="0"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350"/>
                                        <p:tgtEl>
                                          <p:spTgt spid="14"/>
                                        </p:tgtEl>
                                      </p:cBhvr>
                                    </p:animEffect>
                                    <p:anim calcmode="lin" valueType="num">
                                      <p:cBhvr additive="base">
                                        <p:cTn id="65" dur="350" fill="hold"/>
                                        <p:tgtEl>
                                          <p:spTgt spid="14"/>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LO1 · Topic 1 · T2 · ACTIVITY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Evidence Interview and Root-Cause Map at HarborLink Logistics</a:t>
            </a:r>
          </a:p>
        </p:txBody>
      </p:sp>
      <p:sp>
        <p:nvSpPr>
          <p:cNvPr id="6" name="TextBox 5"/>
          <p:cNvSpPr txBox="1"/>
          <p:nvPr/>
        </p:nvSpPr>
        <p:spPr>
          <a:xfrm>
            <a:off x="777240" y="1719072"/>
            <a:ext cx="8229600" cy="365760"/>
          </a:xfrm>
          <a:prstGeom prst="rect">
            <a:avLst/>
          </a:prstGeom>
          <a:noFill/>
        </p:spPr>
        <p:txBody>
          <a:bodyPr wrap="square" anchor="t">
            <a:spAutoFit/>
          </a:bodyPr>
          <a:lstStyle/>
          <a:p>
            <a:pPr algn="l">
              <a:spcAft>
                <a:spcPts val="400"/>
              </a:spcAft>
            </a:pPr>
            <a:r>
              <a:rPr sz="1300" b="1">
                <a:solidFill>
                  <a:srgbClr val="5B6372"/>
                </a:solidFill>
                <a:latin typeface="Arial"/>
              </a:rPr>
              <a:t>DISCUSSION &amp; DECISION PROMPTS</a:t>
            </a:r>
          </a:p>
        </p:txBody>
      </p:sp>
      <p:sp>
        <p:nvSpPr>
          <p:cNvPr id="7" name="Rectangle 6"/>
          <p:cNvSpPr/>
          <p:nvPr/>
        </p:nvSpPr>
        <p:spPr>
          <a:xfrm>
            <a:off x="777240" y="2148840"/>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78408" y="233400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334006"/>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37360" y="2148840"/>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Which questions reveal sequence, impact, evidence and underlying interests?</a:t>
            </a:r>
          </a:p>
        </p:txBody>
      </p:sp>
      <p:sp>
        <p:nvSpPr>
          <p:cNvPr id="12" name="Rectangle 11"/>
          <p:cNvSpPr/>
          <p:nvPr/>
        </p:nvSpPr>
        <p:spPr>
          <a:xfrm>
            <a:off x="777240" y="3168396"/>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8396"/>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78408" y="3353562"/>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3353562"/>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37360" y="3168396"/>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information should be validated before deciding on blame or remedy?</a:t>
            </a:r>
          </a:p>
        </p:txBody>
      </p:sp>
      <p:sp>
        <p:nvSpPr>
          <p:cNvPr id="17" name="Rectangle 16"/>
          <p:cNvSpPr/>
          <p:nvPr/>
        </p:nvSpPr>
        <p:spPr>
          <a:xfrm>
            <a:off x="777240" y="4187952"/>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87952"/>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78408" y="4373118"/>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373118"/>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37360" y="4187952"/>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Which root causes sit in the work system rather than either person's character?</a:t>
            </a:r>
          </a:p>
        </p:txBody>
      </p:sp>
      <p:sp>
        <p:nvSpPr>
          <p:cNvPr id="22" name="Rectangle 21"/>
          <p:cNvSpPr/>
          <p:nvPr/>
        </p:nvSpPr>
        <p:spPr>
          <a:xfrm>
            <a:off x="777240" y="5207508"/>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07508"/>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78408" y="5392674"/>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392674"/>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37360" y="5207508"/>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facts remain unknown, and how will you record that uncertainty?</a:t>
            </a:r>
          </a:p>
        </p:txBody>
      </p:sp>
      <p:sp>
        <p:nvSpPr>
          <p:cNvPr id="27" name="TextBox 26"/>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8" name="TextBox 27"/>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9" name="TextBox 28"/>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fast" advClick="1">
    <p:wipe dir="l"/>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LO1 · Topic 1 · T2 · ACTIVITY 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Evidence Interview and Root-Cause Map at HarborLink Logistics</a:t>
            </a:r>
          </a:p>
        </p:txBody>
      </p:sp>
      <p:sp>
        <p:nvSpPr>
          <p:cNvPr id="6" name="Rectangle 5"/>
          <p:cNvSpPr/>
          <p:nvPr/>
        </p:nvSpPr>
        <p:spPr>
          <a:xfrm>
            <a:off x="777240" y="1783080"/>
            <a:ext cx="10634472" cy="2651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6517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965960"/>
            <a:ext cx="10058400" cy="365760"/>
          </a:xfrm>
          <a:prstGeom prst="rect">
            <a:avLst/>
          </a:prstGeom>
          <a:noFill/>
        </p:spPr>
        <p:txBody>
          <a:bodyPr wrap="square" anchor="t">
            <a:spAutoFit/>
          </a:bodyPr>
          <a:lstStyle/>
          <a:p>
            <a:pPr algn="l">
              <a:spcAft>
                <a:spcPts val="400"/>
              </a:spcAft>
            </a:pPr>
            <a:r>
              <a:rPr sz="1300" b="1">
                <a:solidFill>
                  <a:srgbClr val="7C3AED"/>
                </a:solidFill>
                <a:latin typeface="Arial"/>
              </a:rPr>
              <a:t>REFLECT &amp; DISCUSS</a:t>
            </a:r>
          </a:p>
        </p:txBody>
      </p:sp>
      <p:sp>
        <p:nvSpPr>
          <p:cNvPr id="9" name="TextBox 8"/>
          <p:cNvSpPr txBox="1"/>
          <p:nvPr/>
        </p:nvSpPr>
        <p:spPr>
          <a:xfrm>
            <a:off x="1051560" y="2377440"/>
            <a:ext cx="10058400" cy="1920240"/>
          </a:xfrm>
          <a:prstGeom prst="rect">
            <a:avLst/>
          </a:prstGeom>
          <a:noFill/>
        </p:spPr>
        <p:txBody>
          <a:bodyPr wrap="square">
            <a:spAutoFit/>
          </a:bodyPr>
          <a:lstStyle/>
          <a:p>
            <a:pPr>
              <a:spcAft>
                <a:spcPts val="900"/>
              </a:spcAft>
            </a:pPr>
            <a:r>
              <a:rPr sz="1450" b="0">
                <a:solidFill>
                  <a:srgbClr val="161B26"/>
                </a:solidFill>
                <a:latin typeface="Arial"/>
              </a:rPr>
              <a:t>•  Did each interviewee receive equal opportunity and comparable questions?</a:t>
            </a:r>
          </a:p>
          <a:p>
            <a:pPr>
              <a:spcAft>
                <a:spcPts val="900"/>
              </a:spcAft>
            </a:pPr>
            <a:r>
              <a:rPr sz="1450" b="0">
                <a:solidFill>
                  <a:srgbClr val="161B26"/>
                </a:solidFill>
                <a:latin typeface="Arial"/>
              </a:rPr>
              <a:t>•  Did the root-cause map include the conflicting incentives and missing approval trail?</a:t>
            </a:r>
          </a:p>
        </p:txBody>
      </p:sp>
      <p:sp>
        <p:nvSpPr>
          <p:cNvPr id="10" name="Rectangle 9"/>
          <p:cNvSpPr/>
          <p:nvPr/>
        </p:nvSpPr>
        <p:spPr>
          <a:xfrm>
            <a:off x="777240" y="4663440"/>
            <a:ext cx="10634472" cy="1371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4864608"/>
            <a:ext cx="10058400" cy="365760"/>
          </a:xfrm>
          <a:prstGeom prst="rect">
            <a:avLst/>
          </a:prstGeom>
          <a:noFill/>
        </p:spPr>
        <p:txBody>
          <a:bodyPr wrap="square" anchor="t">
            <a:spAutoFit/>
          </a:bodyPr>
          <a:lstStyle/>
          <a:p>
            <a:pPr algn="l">
              <a:spcAft>
                <a:spcPts val="400"/>
              </a:spcAft>
            </a:pPr>
            <a:r>
              <a:rPr sz="1500" b="1">
                <a:solidFill>
                  <a:srgbClr val="127A3E"/>
                </a:solidFill>
                <a:latin typeface="Arial"/>
              </a:rPr>
              <a:t>✓  Facilitator debrief check</a:t>
            </a:r>
          </a:p>
        </p:txBody>
      </p:sp>
      <p:sp>
        <p:nvSpPr>
          <p:cNvPr id="12" name="TextBox 11"/>
          <p:cNvSpPr txBox="1"/>
          <p:nvPr/>
        </p:nvSpPr>
        <p:spPr>
          <a:xfrm>
            <a:off x="1051560" y="5257800"/>
            <a:ext cx="10058400" cy="731520"/>
          </a:xfrm>
          <a:prstGeom prst="rect">
            <a:avLst/>
          </a:prstGeom>
          <a:noFill/>
        </p:spPr>
        <p:txBody>
          <a:bodyPr wrap="square" anchor="t">
            <a:spAutoFit/>
          </a:bodyPr>
          <a:lstStyle/>
          <a:p>
            <a:pPr algn="l">
              <a:spcAft>
                <a:spcPts val="400"/>
              </a:spcAft>
            </a:pPr>
            <a:r>
              <a:rPr sz="1300" b="0">
                <a:solidFill>
                  <a:srgbClr val="161B26"/>
                </a:solidFill>
                <a:latin typeface="Arial"/>
              </a:rPr>
              <a:t>The diagnosis shows a traceable evidence chain, at least two plausible causes and unanswered questions before strategy selection.</a:t>
            </a:r>
          </a:p>
        </p:txBody>
      </p:sp>
      <p:sp>
        <p:nvSpPr>
          <p:cNvPr id="13" name="TextBox 12"/>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4" name="TextBox 13"/>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5" name="TextBox 14"/>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50"/>
                                        <p:tgtEl>
                                          <p:spTgt spid="9"/>
                                        </p:tgtEl>
                                      </p:cBhvr>
                                    </p:animEffect>
                                    <p:anim calcmode="lin" valueType="num">
                                      <p:cBhvr additive="base">
                                        <p:cTn id="1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350"/>
                                        <p:tgtEl>
                                          <p:spTgt spid="10"/>
                                        </p:tgtEl>
                                      </p:cBhvr>
                                    </p:animEffect>
                                    <p:anim calcmode="lin" valueType="num">
                                      <p:cBhvr additive="base">
                                        <p:cTn id="2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350"/>
                                        <p:tgtEl>
                                          <p:spTgt spid="12"/>
                                        </p:tgtEl>
                                      </p:cBhvr>
                                    </p:animEffect>
                                    <p:anim calcmode="lin" valueType="num">
                                      <p:cBhvr additive="base">
                                        <p:cTn id="3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Recap — Identifying Conflicts</a:t>
            </a:r>
          </a:p>
        </p:txBody>
      </p:sp>
      <p:sp>
        <p:nvSpPr>
          <p:cNvPr id="6" name="Rectangle 5"/>
          <p:cNvSpPr/>
          <p:nvPr/>
        </p:nvSpPr>
        <p:spPr>
          <a:xfrm>
            <a:off x="777240"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4187952"/>
          </a:xfrm>
          <a:prstGeom prst="rect">
            <a:avLst/>
          </a:prstGeom>
          <a:noFill/>
        </p:spPr>
        <p:txBody>
          <a:bodyPr wrap="square" anchor="ctr">
            <a:spAutoFit/>
          </a:bodyPr>
          <a:lstStyle/>
          <a:p>
            <a:pPr algn="l">
              <a:spcAft>
                <a:spcPts val="300"/>
              </a:spcAft>
            </a:pPr>
            <a:r>
              <a:rPr sz="1600" b="1">
                <a:solidFill>
                  <a:srgbClr val="161B26"/>
                </a:solidFill>
                <a:latin typeface="Arial"/>
              </a:rPr>
              <a:t>Conflict Signal Triage at LionCity Retail</a:t>
            </a:r>
          </a:p>
          <a:p>
            <a:pPr algn="l">
              <a:spcAft>
                <a:spcPts val="300"/>
              </a:spcAft>
            </a:pPr>
            <a:r>
              <a:rPr sz="1200" b="0">
                <a:solidFill>
                  <a:srgbClr val="5B6372"/>
                </a:solidFill>
                <a:latin typeface="Arial"/>
              </a:rPr>
              <a:t>You can now: recognise early indicators, assess impact and decide the safe first response.</a:t>
            </a:r>
          </a:p>
        </p:txBody>
      </p:sp>
      <p:sp>
        <p:nvSpPr>
          <p:cNvPr id="11" name="Rectangle 10"/>
          <p:cNvSpPr/>
          <p:nvPr/>
        </p:nvSpPr>
        <p:spPr>
          <a:xfrm>
            <a:off x="6231636"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4370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4187952"/>
          </a:xfrm>
          <a:prstGeom prst="rect">
            <a:avLst/>
          </a:prstGeom>
          <a:noFill/>
        </p:spPr>
        <p:txBody>
          <a:bodyPr wrap="square" anchor="ctr">
            <a:spAutoFit/>
          </a:bodyPr>
          <a:lstStyle/>
          <a:p>
            <a:pPr algn="l">
              <a:spcAft>
                <a:spcPts val="300"/>
              </a:spcAft>
            </a:pPr>
            <a:r>
              <a:rPr sz="1600" b="1">
                <a:solidFill>
                  <a:srgbClr val="161B26"/>
                </a:solidFill>
                <a:latin typeface="Arial"/>
              </a:rPr>
              <a:t>Evidence Interview and Root-Cause Map at HarborLink Logistics</a:t>
            </a:r>
          </a:p>
          <a:p>
            <a:pPr algn="l">
              <a:spcAft>
                <a:spcPts val="300"/>
              </a:spcAft>
            </a:pPr>
            <a:r>
              <a:rPr sz="1200" b="0">
                <a:solidFill>
                  <a:srgbClr val="5B6372"/>
                </a:solidFill>
                <a:latin typeface="Arial"/>
              </a:rPr>
              <a:t>You can now: gather and validate conflict information through neutral interviews and root-cause analysis.</a:t>
            </a:r>
          </a:p>
        </p:txBody>
      </p:sp>
      <p:sp>
        <p:nvSpPr>
          <p:cNvPr id="16" name="TextBox 1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7" name="TextBox 1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8" name="TextBox 1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350"/>
                                        <p:tgtEl>
                                          <p:spTgt spid="13"/>
                                        </p:tgtEl>
                                      </p:cBhvr>
                                    </p:animEffect>
                                    <p:anim calcmode="lin" valueType="num">
                                      <p:cBhvr additive="base">
                                        <p:cTn id="35" dur="350" fill="hold"/>
                                        <p:tgtEl>
                                          <p:spTgt spid="13"/>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350"/>
                                        <p:tgtEl>
                                          <p:spTgt spid="14"/>
                                        </p:tgtEl>
                                      </p:cBhvr>
                                    </p:animEffect>
                                    <p:anim calcmode="lin" valueType="num">
                                      <p:cBhvr additive="base">
                                        <p:cTn id="45" dur="350" fill="hold"/>
                                        <p:tgtEl>
                                          <p:spTgt spid="14"/>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Topic 1 · WHY IT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Treat early signals as data, not proof of blame.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Good assessment separates observable facts, interpretations, needs and risk.</a:t>
            </a:r>
          </a:p>
        </p:txBody>
      </p:sp>
      <p:sp>
        <p:nvSpPr>
          <p:cNvPr id="7" name="TextBox 6"/>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8" name="TextBox 7"/>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9" name="TextBox 8"/>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fast" advClick="1">
    <p:zoom/>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Conflict Resolution Strategies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Emotional regulation · Conflict styles · Active listening · Sensitive dialogue · Negotiation · Mediation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Topic 2</a:t>
            </a:r>
          </a:p>
        </p:txBody>
      </p:sp>
      <p:sp>
        <p:nvSpPr>
          <p:cNvPr id="9" name="TextBox 8"/>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0" name="TextBox 9"/>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1" name="TextBox 10"/>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350"/>
                                        <p:tgtEl>
                                          <p:spTgt spid="7"/>
                                        </p:tgtEl>
                                      </p:cBhvr>
                                    </p:animEffect>
                                    <p:anim calcmode="lin" valueType="num">
                                      <p:cBhvr additive="base">
                                        <p:cTn id="45" dur="350" fill="hold"/>
                                        <p:tgtEl>
                                          <p:spTgt spid="7"/>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KEY CONCEPTS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Key Concepts — Conflict Resolution Strategies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The five common conflict styles—compete, collaborate, compromise, avoid and accommodate—are options with different levels of assertiveness and cooperation.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Emotional regulation comes before problem solving: notice triggers, lower arousal, check safety and agree when and where to talk.</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Active listening uses open questions, paraphrasing, validation and summaries to surface needs without implying agreement with every claim.</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Assertive communication describes observable behaviour and impact, names the need and makes a specific request without attacking character.</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0" name="TextBox 29"/>
          <p:cNvSpPr txBox="1"/>
          <p:nvPr/>
        </p:nvSpPr>
        <p:spPr>
          <a:xfrm>
            <a:off x="1764792"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Interest-based negotiation separates people from the problem, explores underlying interests, generates options and checks agreements against objective criteria.</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5" name="TextBox 34"/>
          <p:cNvSpPr txBox="1"/>
          <p:nvPr/>
        </p:nvSpPr>
        <p:spPr>
          <a:xfrm>
            <a:off x="7219188"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Use a neutral third party when direct dialogue is unsafe, stuck, affected by power imbalance or required by policy; choose facilitation, mediation, conciliation or formal investigation deliberately.</a:t>
            </a:r>
          </a:p>
        </p:txBody>
      </p:sp>
      <p:sp>
        <p:nvSpPr>
          <p:cNvPr id="36" name="TextBox 3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37" name="TextBox 3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38" name="TextBox 3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STYLE FIT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Select a response—do not default to a favourite style</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Score the situation before choosing compete, collaborate, compromise, avoid or accommodate.</a:t>
            </a:r>
          </a:p>
        </p:txBody>
      </p:sp>
      <p:sp>
        <p:nvSpPr>
          <p:cNvPr id="7" name="Rectangle 6"/>
          <p:cNvSpPr/>
          <p:nvPr/>
        </p:nvSpPr>
        <p:spPr>
          <a:xfrm>
            <a:off x="777240" y="2212848"/>
            <a:ext cx="3374136"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12848"/>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487168"/>
            <a:ext cx="3374136" cy="914400"/>
          </a:xfrm>
          <a:prstGeom prst="rect">
            <a:avLst/>
          </a:prstGeom>
          <a:noFill/>
        </p:spPr>
        <p:txBody>
          <a:bodyPr wrap="square" anchor="t">
            <a:spAutoFit/>
          </a:bodyPr>
          <a:lstStyle/>
          <a:p>
            <a:pPr algn="ctr">
              <a:spcAft>
                <a:spcPts val="400"/>
              </a:spcAft>
            </a:pPr>
            <a:r>
              <a:rPr sz="4000" b="1">
                <a:solidFill>
                  <a:srgbClr val="1F6FEB"/>
                </a:solidFill>
                <a:latin typeface="Arial"/>
              </a:rPr>
              <a:t>SAFE?</a:t>
            </a:r>
          </a:p>
        </p:txBody>
      </p:sp>
      <p:sp>
        <p:nvSpPr>
          <p:cNvPr id="10" name="TextBox 9"/>
          <p:cNvSpPr txBox="1"/>
          <p:nvPr/>
        </p:nvSpPr>
        <p:spPr>
          <a:xfrm>
            <a:off x="923544" y="3419856"/>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Urgent protection or non-negotiable standard?</a:t>
            </a:r>
          </a:p>
        </p:txBody>
      </p:sp>
      <p:sp>
        <p:nvSpPr>
          <p:cNvPr id="11" name="Rectangle 10"/>
          <p:cNvSpPr/>
          <p:nvPr/>
        </p:nvSpPr>
        <p:spPr>
          <a:xfrm>
            <a:off x="4407408" y="2212848"/>
            <a:ext cx="3374136"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07408" y="2212848"/>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07408" y="2487168"/>
            <a:ext cx="3374136" cy="914400"/>
          </a:xfrm>
          <a:prstGeom prst="rect">
            <a:avLst/>
          </a:prstGeom>
          <a:noFill/>
        </p:spPr>
        <p:txBody>
          <a:bodyPr wrap="square" anchor="t">
            <a:spAutoFit/>
          </a:bodyPr>
          <a:lstStyle/>
          <a:p>
            <a:pPr algn="ctr">
              <a:spcAft>
                <a:spcPts val="400"/>
              </a:spcAft>
            </a:pPr>
            <a:r>
              <a:rPr sz="3000" b="1">
                <a:solidFill>
                  <a:srgbClr val="10B981"/>
                </a:solidFill>
                <a:latin typeface="Arial"/>
              </a:rPr>
              <a:t>STAKES</a:t>
            </a:r>
          </a:p>
        </p:txBody>
      </p:sp>
      <p:sp>
        <p:nvSpPr>
          <p:cNvPr id="14" name="TextBox 13"/>
          <p:cNvSpPr txBox="1"/>
          <p:nvPr/>
        </p:nvSpPr>
        <p:spPr>
          <a:xfrm>
            <a:off x="4553712" y="3419856"/>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How important is the substantive result?</a:t>
            </a:r>
          </a:p>
        </p:txBody>
      </p:sp>
      <p:sp>
        <p:nvSpPr>
          <p:cNvPr id="15" name="Rectangle 14"/>
          <p:cNvSpPr/>
          <p:nvPr/>
        </p:nvSpPr>
        <p:spPr>
          <a:xfrm>
            <a:off x="8037576" y="2212848"/>
            <a:ext cx="3374136"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37576" y="2212848"/>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37576" y="2487168"/>
            <a:ext cx="3374136" cy="914400"/>
          </a:xfrm>
          <a:prstGeom prst="rect">
            <a:avLst/>
          </a:prstGeom>
          <a:noFill/>
        </p:spPr>
        <p:txBody>
          <a:bodyPr wrap="square" anchor="t">
            <a:spAutoFit/>
          </a:bodyPr>
          <a:lstStyle/>
          <a:p>
            <a:pPr algn="ctr">
              <a:spcAft>
                <a:spcPts val="400"/>
              </a:spcAft>
            </a:pPr>
            <a:r>
              <a:rPr sz="4000" b="1">
                <a:solidFill>
                  <a:srgbClr val="7C3AED"/>
                </a:solidFill>
                <a:latin typeface="Arial"/>
              </a:rPr>
              <a:t>TRUST</a:t>
            </a:r>
          </a:p>
        </p:txBody>
      </p:sp>
      <p:sp>
        <p:nvSpPr>
          <p:cNvPr id="18" name="TextBox 17"/>
          <p:cNvSpPr txBox="1"/>
          <p:nvPr/>
        </p:nvSpPr>
        <p:spPr>
          <a:xfrm>
            <a:off x="8183880" y="3419856"/>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How important is future working trust?</a:t>
            </a:r>
          </a:p>
        </p:txBody>
      </p:sp>
      <p:sp>
        <p:nvSpPr>
          <p:cNvPr id="19" name="Rectangle 18"/>
          <p:cNvSpPr/>
          <p:nvPr/>
        </p:nvSpPr>
        <p:spPr>
          <a:xfrm>
            <a:off x="777240" y="3931920"/>
            <a:ext cx="3374136"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931920"/>
            <a:ext cx="3374136"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206240"/>
            <a:ext cx="3374136" cy="914400"/>
          </a:xfrm>
          <a:prstGeom prst="rect">
            <a:avLst/>
          </a:prstGeom>
          <a:noFill/>
        </p:spPr>
        <p:txBody>
          <a:bodyPr wrap="square" anchor="t">
            <a:spAutoFit/>
          </a:bodyPr>
          <a:lstStyle/>
          <a:p>
            <a:pPr algn="ctr">
              <a:spcAft>
                <a:spcPts val="400"/>
              </a:spcAft>
            </a:pPr>
            <a:r>
              <a:rPr sz="4000" b="1">
                <a:solidFill>
                  <a:srgbClr val="F59E0B"/>
                </a:solidFill>
                <a:latin typeface="Arial"/>
              </a:rPr>
              <a:t>VOICE</a:t>
            </a:r>
          </a:p>
        </p:txBody>
      </p:sp>
      <p:sp>
        <p:nvSpPr>
          <p:cNvPr id="22" name="TextBox 21"/>
          <p:cNvSpPr txBox="1"/>
          <p:nvPr/>
        </p:nvSpPr>
        <p:spPr>
          <a:xfrm>
            <a:off x="923544" y="5138928"/>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Can both parties speak freely and fairly?</a:t>
            </a:r>
          </a:p>
        </p:txBody>
      </p:sp>
      <p:sp>
        <p:nvSpPr>
          <p:cNvPr id="23" name="Rectangle 22"/>
          <p:cNvSpPr/>
          <p:nvPr/>
        </p:nvSpPr>
        <p:spPr>
          <a:xfrm>
            <a:off x="4407408" y="3931920"/>
            <a:ext cx="3374136"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407408" y="393192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07408" y="4206240"/>
            <a:ext cx="3374136" cy="914400"/>
          </a:xfrm>
          <a:prstGeom prst="rect">
            <a:avLst/>
          </a:prstGeom>
          <a:noFill/>
        </p:spPr>
        <p:txBody>
          <a:bodyPr wrap="square" anchor="t">
            <a:spAutoFit/>
          </a:bodyPr>
          <a:lstStyle/>
          <a:p>
            <a:pPr algn="ctr">
              <a:spcAft>
                <a:spcPts val="400"/>
              </a:spcAft>
            </a:pPr>
            <a:r>
              <a:rPr sz="4000" b="1">
                <a:solidFill>
                  <a:srgbClr val="1F6FEB"/>
                </a:solidFill>
                <a:latin typeface="Arial"/>
              </a:rPr>
              <a:t>TIME</a:t>
            </a:r>
          </a:p>
        </p:txBody>
      </p:sp>
      <p:sp>
        <p:nvSpPr>
          <p:cNvPr id="26" name="TextBox 25"/>
          <p:cNvSpPr txBox="1"/>
          <p:nvPr/>
        </p:nvSpPr>
        <p:spPr>
          <a:xfrm>
            <a:off x="4553712" y="5138928"/>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Temporary response before deeper resolution?</a:t>
            </a:r>
          </a:p>
        </p:txBody>
      </p:sp>
      <p:sp>
        <p:nvSpPr>
          <p:cNvPr id="27" name="Rectangle 26"/>
          <p:cNvSpPr/>
          <p:nvPr/>
        </p:nvSpPr>
        <p:spPr>
          <a:xfrm>
            <a:off x="777240" y="58978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8978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97280" y="5897880"/>
            <a:ext cx="10058400" cy="530352"/>
          </a:xfrm>
          <a:prstGeom prst="rect">
            <a:avLst/>
          </a:prstGeom>
          <a:noFill/>
        </p:spPr>
        <p:txBody>
          <a:bodyPr wrap="square" anchor="ctr">
            <a:spAutoFit/>
          </a:bodyPr>
          <a:lstStyle/>
          <a:p>
            <a:pPr algn="l">
              <a:spcAft>
                <a:spcPts val="400"/>
              </a:spcAft>
            </a:pPr>
            <a:r>
              <a:rPr sz="1200" b="1">
                <a:solidFill>
                  <a:srgbClr val="161B26"/>
                </a:solidFill>
                <a:latin typeface="Arial"/>
              </a:rPr>
              <a:t>One conflict may require different styles at different stages.</a:t>
            </a:r>
          </a:p>
        </p:txBody>
      </p:sp>
      <p:sp>
        <p:nvSpPr>
          <p:cNvPr id="30" name="TextBox 29"/>
          <p:cNvSpPr txBox="1"/>
          <p:nvPr/>
        </p:nvSpPr>
        <p:spPr>
          <a:xfrm>
            <a:off x="777240" y="5541264"/>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Sources: HelpGuide, Indeed and Syracuse University conflict-style guidance</a:t>
            </a:r>
          </a:p>
        </p:txBody>
      </p:sp>
      <p:sp>
        <p:nvSpPr>
          <p:cNvPr id="31" name="TextBox 30"/>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32" name="TextBox 31"/>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33" name="TextBox 32"/>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2 · COMMUNICATION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CLEAR: a structure for sensitive conversation</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Regulate first; then create a fair path from accounts to commitments.</a:t>
            </a:r>
          </a:p>
        </p:txBody>
      </p:sp>
      <p:sp>
        <p:nvSpPr>
          <p:cNvPr id="7" name="Rectangle 6"/>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1775" y="2551176"/>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1775"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33756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Cool &amp; check</a:t>
            </a:r>
          </a:p>
        </p:txBody>
      </p:sp>
      <p:sp>
        <p:nvSpPr>
          <p:cNvPr id="12" name="TextBox 11"/>
          <p:cNvSpPr txBox="1"/>
          <p:nvPr/>
        </p:nvSpPr>
        <p:spPr>
          <a:xfrm>
            <a:off x="905256" y="3721608"/>
            <a:ext cx="1651406" cy="1143000"/>
          </a:xfrm>
          <a:prstGeom prst="rect">
            <a:avLst/>
          </a:prstGeom>
          <a:noFill/>
        </p:spPr>
        <p:txBody>
          <a:bodyPr wrap="square" anchor="t">
            <a:spAutoFit/>
          </a:bodyPr>
          <a:lstStyle/>
          <a:p>
            <a:pPr algn="ctr">
              <a:spcAft>
                <a:spcPts val="400"/>
              </a:spcAft>
            </a:pPr>
            <a:r>
              <a:rPr sz="1050" b="0">
                <a:solidFill>
                  <a:srgbClr val="5B6372"/>
                </a:solidFill>
                <a:latin typeface="Arial"/>
              </a:rPr>
              <a:t>Readiness, safety, scope and power.</a:t>
            </a:r>
          </a:p>
        </p:txBody>
      </p:sp>
      <p:sp>
        <p:nvSpPr>
          <p:cNvPr id="13" name="Chevron 12"/>
          <p:cNvSpPr/>
          <p:nvPr/>
        </p:nvSpPr>
        <p:spPr>
          <a:xfrm>
            <a:off x="2702966" y="3447288"/>
            <a:ext cx="237744" cy="329184"/>
          </a:xfrm>
          <a:prstGeom prst="chevron">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8998"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83533" y="2551176"/>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83533"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87014" y="333756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Listen</a:t>
            </a:r>
          </a:p>
        </p:txBody>
      </p:sp>
      <p:sp>
        <p:nvSpPr>
          <p:cNvPr id="19" name="TextBox 18"/>
          <p:cNvSpPr txBox="1"/>
          <p:nvPr/>
        </p:nvSpPr>
        <p:spPr>
          <a:xfrm>
            <a:off x="3087014" y="3721608"/>
            <a:ext cx="1651406" cy="1143000"/>
          </a:xfrm>
          <a:prstGeom prst="rect">
            <a:avLst/>
          </a:prstGeom>
          <a:noFill/>
        </p:spPr>
        <p:txBody>
          <a:bodyPr wrap="square" anchor="t">
            <a:spAutoFit/>
          </a:bodyPr>
          <a:lstStyle/>
          <a:p>
            <a:pPr algn="ctr">
              <a:spcAft>
                <a:spcPts val="400"/>
              </a:spcAft>
            </a:pPr>
            <a:r>
              <a:rPr sz="1050" b="0">
                <a:solidFill>
                  <a:srgbClr val="5B6372"/>
                </a:solidFill>
                <a:latin typeface="Arial"/>
              </a:rPr>
              <a:t>Equal voice, paraphrase, emotion acknowledgement.</a:t>
            </a:r>
          </a:p>
        </p:txBody>
      </p:sp>
      <p:sp>
        <p:nvSpPr>
          <p:cNvPr id="20" name="Chevron 19"/>
          <p:cNvSpPr/>
          <p:nvPr/>
        </p:nvSpPr>
        <p:spPr>
          <a:xfrm>
            <a:off x="4884724" y="3447288"/>
            <a:ext cx="237744" cy="329184"/>
          </a:xfrm>
          <a:prstGeom prst="chevron">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40756"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765291" y="2551176"/>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5291"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68772" y="333756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Explore</a:t>
            </a:r>
          </a:p>
        </p:txBody>
      </p:sp>
      <p:sp>
        <p:nvSpPr>
          <p:cNvPr id="26" name="TextBox 25"/>
          <p:cNvSpPr txBox="1"/>
          <p:nvPr/>
        </p:nvSpPr>
        <p:spPr>
          <a:xfrm>
            <a:off x="5268772" y="3721608"/>
            <a:ext cx="1651406" cy="1143000"/>
          </a:xfrm>
          <a:prstGeom prst="rect">
            <a:avLst/>
          </a:prstGeom>
          <a:noFill/>
        </p:spPr>
        <p:txBody>
          <a:bodyPr wrap="square" anchor="t">
            <a:spAutoFit/>
          </a:bodyPr>
          <a:lstStyle/>
          <a:p>
            <a:pPr algn="ctr">
              <a:spcAft>
                <a:spcPts val="400"/>
              </a:spcAft>
            </a:pPr>
            <a:r>
              <a:rPr sz="1050" b="0">
                <a:solidFill>
                  <a:srgbClr val="5B6372"/>
                </a:solidFill>
                <a:latin typeface="Arial"/>
              </a:rPr>
              <a:t>Impact, interests, needs and shared goals.</a:t>
            </a:r>
          </a:p>
        </p:txBody>
      </p:sp>
      <p:sp>
        <p:nvSpPr>
          <p:cNvPr id="27" name="Chevron 26"/>
          <p:cNvSpPr/>
          <p:nvPr/>
        </p:nvSpPr>
        <p:spPr>
          <a:xfrm>
            <a:off x="7066482" y="3447288"/>
            <a:ext cx="237744" cy="329184"/>
          </a:xfrm>
          <a:prstGeom prst="chevron">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22514"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47049" y="2551176"/>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47049"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50530" y="333756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Agree</a:t>
            </a:r>
          </a:p>
        </p:txBody>
      </p:sp>
      <p:sp>
        <p:nvSpPr>
          <p:cNvPr id="33" name="TextBox 32"/>
          <p:cNvSpPr txBox="1"/>
          <p:nvPr/>
        </p:nvSpPr>
        <p:spPr>
          <a:xfrm>
            <a:off x="7450530" y="3721608"/>
            <a:ext cx="1651406" cy="1143000"/>
          </a:xfrm>
          <a:prstGeom prst="rect">
            <a:avLst/>
          </a:prstGeom>
          <a:noFill/>
        </p:spPr>
        <p:txBody>
          <a:bodyPr wrap="square" anchor="t">
            <a:spAutoFit/>
          </a:bodyPr>
          <a:lstStyle/>
          <a:p>
            <a:pPr algn="ctr">
              <a:spcAft>
                <a:spcPts val="400"/>
              </a:spcAft>
            </a:pPr>
            <a:r>
              <a:rPr sz="1050" b="0">
                <a:solidFill>
                  <a:srgbClr val="5B6372"/>
                </a:solidFill>
                <a:latin typeface="Arial"/>
              </a:rPr>
              <a:t>Generate and reality-test options.</a:t>
            </a:r>
          </a:p>
        </p:txBody>
      </p:sp>
      <p:sp>
        <p:nvSpPr>
          <p:cNvPr id="34" name="Chevron 33"/>
          <p:cNvSpPr/>
          <p:nvPr/>
        </p:nvSpPr>
        <p:spPr>
          <a:xfrm>
            <a:off x="9248240" y="3447288"/>
            <a:ext cx="237744" cy="329184"/>
          </a:xfrm>
          <a:prstGeom prst="chevron">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04272" y="2240280"/>
            <a:ext cx="1907438"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128807" y="2551176"/>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28807"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32288" y="333756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Record &amp; review</a:t>
            </a:r>
          </a:p>
        </p:txBody>
      </p:sp>
      <p:sp>
        <p:nvSpPr>
          <p:cNvPr id="40" name="TextBox 39"/>
          <p:cNvSpPr txBox="1"/>
          <p:nvPr/>
        </p:nvSpPr>
        <p:spPr>
          <a:xfrm>
            <a:off x="9632288" y="3721608"/>
            <a:ext cx="1651406" cy="1143000"/>
          </a:xfrm>
          <a:prstGeom prst="rect">
            <a:avLst/>
          </a:prstGeom>
          <a:noFill/>
        </p:spPr>
        <p:txBody>
          <a:bodyPr wrap="square" anchor="t">
            <a:spAutoFit/>
          </a:bodyPr>
          <a:lstStyle/>
          <a:p>
            <a:pPr algn="ctr">
              <a:spcAft>
                <a:spcPts val="400"/>
              </a:spcAft>
            </a:pPr>
            <a:r>
              <a:rPr sz="1050" b="0">
                <a:solidFill>
                  <a:srgbClr val="5B6372"/>
                </a:solidFill>
                <a:latin typeface="Arial"/>
              </a:rPr>
              <a:t>Owners, behaviours, dates and follow-up.</a:t>
            </a:r>
          </a:p>
        </p:txBody>
      </p:sp>
      <p:sp>
        <p:nvSpPr>
          <p:cNvPr id="41" name="Rectangle 40"/>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5257800"/>
            <a:ext cx="91440" cy="8229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Validation acknowledges experience; it does not decide that every claim is factually correct.</a:t>
            </a:r>
          </a:p>
        </p:txBody>
      </p:sp>
      <p:sp>
        <p:nvSpPr>
          <p:cNvPr id="44" name="TextBox 43"/>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45" name="TextBox 44"/>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46" name="TextBox 45"/>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fast"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MEDIATION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The mediator owns the process—not the outcome</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Neutrality is demonstrated through comparable opportunity, questions and scrutiny.</a:t>
            </a:r>
          </a:p>
        </p:txBody>
      </p:sp>
      <p:sp>
        <p:nvSpPr>
          <p:cNvPr id="7" name="Rectangle 6"/>
          <p:cNvSpPr/>
          <p:nvPr/>
        </p:nvSpPr>
        <p:spPr>
          <a:xfrm>
            <a:off x="777240" y="2057400"/>
            <a:ext cx="5180076" cy="19156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57400"/>
            <a:ext cx="91440" cy="19156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221992"/>
            <a:ext cx="4677156" cy="365760"/>
          </a:xfrm>
          <a:prstGeom prst="rect">
            <a:avLst/>
          </a:prstGeom>
          <a:noFill/>
        </p:spPr>
        <p:txBody>
          <a:bodyPr wrap="square" anchor="t">
            <a:spAutoFit/>
          </a:bodyPr>
          <a:lstStyle/>
          <a:p>
            <a:pPr algn="l">
              <a:spcAft>
                <a:spcPts val="400"/>
              </a:spcAft>
            </a:pPr>
            <a:r>
              <a:rPr sz="1600" b="1">
                <a:solidFill>
                  <a:srgbClr val="1F6FEB"/>
                </a:solidFill>
                <a:latin typeface="Arial"/>
              </a:rPr>
              <a:t>Safety</a:t>
            </a:r>
          </a:p>
        </p:txBody>
      </p:sp>
      <p:sp>
        <p:nvSpPr>
          <p:cNvPr id="10" name="TextBox 9"/>
          <p:cNvSpPr txBox="1"/>
          <p:nvPr/>
        </p:nvSpPr>
        <p:spPr>
          <a:xfrm>
            <a:off x="1051560" y="2624328"/>
            <a:ext cx="4677156" cy="1229868"/>
          </a:xfrm>
          <a:prstGeom prst="rect">
            <a:avLst/>
          </a:prstGeom>
          <a:noFill/>
        </p:spPr>
        <p:txBody>
          <a:bodyPr wrap="square" anchor="t">
            <a:spAutoFit/>
          </a:bodyPr>
          <a:lstStyle/>
          <a:p>
            <a:pPr algn="l">
              <a:spcAft>
                <a:spcPts val="400"/>
              </a:spcAft>
            </a:pPr>
            <a:r>
              <a:rPr sz="1200" b="0">
                <a:solidFill>
                  <a:srgbClr val="161B26"/>
                </a:solidFill>
                <a:latin typeface="Arial"/>
              </a:rPr>
              <a:t>Check suitability, voluntariness, retaliation risk and formal-process boundaries.</a:t>
            </a:r>
          </a:p>
        </p:txBody>
      </p:sp>
      <p:sp>
        <p:nvSpPr>
          <p:cNvPr id="11" name="Rectangle 10"/>
          <p:cNvSpPr/>
          <p:nvPr/>
        </p:nvSpPr>
        <p:spPr>
          <a:xfrm>
            <a:off x="6231636" y="2057400"/>
            <a:ext cx="5180076" cy="19156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2057400"/>
            <a:ext cx="91440" cy="19156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05956" y="2221992"/>
            <a:ext cx="4677156" cy="365760"/>
          </a:xfrm>
          <a:prstGeom prst="rect">
            <a:avLst/>
          </a:prstGeom>
          <a:noFill/>
        </p:spPr>
        <p:txBody>
          <a:bodyPr wrap="square" anchor="t">
            <a:spAutoFit/>
          </a:bodyPr>
          <a:lstStyle/>
          <a:p>
            <a:pPr algn="l">
              <a:spcAft>
                <a:spcPts val="400"/>
              </a:spcAft>
            </a:pPr>
            <a:r>
              <a:rPr sz="1600" b="1">
                <a:solidFill>
                  <a:srgbClr val="10B981"/>
                </a:solidFill>
                <a:latin typeface="Arial"/>
              </a:rPr>
              <a:t>Voice</a:t>
            </a:r>
          </a:p>
        </p:txBody>
      </p:sp>
      <p:sp>
        <p:nvSpPr>
          <p:cNvPr id="14" name="TextBox 13"/>
          <p:cNvSpPr txBox="1"/>
          <p:nvPr/>
        </p:nvSpPr>
        <p:spPr>
          <a:xfrm>
            <a:off x="6505956" y="2624328"/>
            <a:ext cx="4677156" cy="1229868"/>
          </a:xfrm>
          <a:prstGeom prst="rect">
            <a:avLst/>
          </a:prstGeom>
          <a:noFill/>
        </p:spPr>
        <p:txBody>
          <a:bodyPr wrap="square" anchor="t">
            <a:spAutoFit/>
          </a:bodyPr>
          <a:lstStyle/>
          <a:p>
            <a:pPr algn="l">
              <a:spcAft>
                <a:spcPts val="400"/>
              </a:spcAft>
            </a:pPr>
            <a:r>
              <a:rPr sz="1200" b="0">
                <a:solidFill>
                  <a:srgbClr val="161B26"/>
                </a:solidFill>
                <a:latin typeface="Arial"/>
              </a:rPr>
              <a:t>Give comparable uninterrupted time and an opportunity to clarify or respond.</a:t>
            </a:r>
          </a:p>
        </p:txBody>
      </p:sp>
      <p:sp>
        <p:nvSpPr>
          <p:cNvPr id="15" name="Rectangle 14"/>
          <p:cNvSpPr/>
          <p:nvPr/>
        </p:nvSpPr>
        <p:spPr>
          <a:xfrm>
            <a:off x="777240" y="4210812"/>
            <a:ext cx="5180076" cy="19156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210812"/>
            <a:ext cx="91440" cy="19156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375404"/>
            <a:ext cx="4677156" cy="365760"/>
          </a:xfrm>
          <a:prstGeom prst="rect">
            <a:avLst/>
          </a:prstGeom>
          <a:noFill/>
        </p:spPr>
        <p:txBody>
          <a:bodyPr wrap="square" anchor="t">
            <a:spAutoFit/>
          </a:bodyPr>
          <a:lstStyle/>
          <a:p>
            <a:pPr algn="l">
              <a:spcAft>
                <a:spcPts val="400"/>
              </a:spcAft>
            </a:pPr>
            <a:r>
              <a:rPr sz="1600" b="1">
                <a:solidFill>
                  <a:srgbClr val="7C3AED"/>
                </a:solidFill>
                <a:latin typeface="Arial"/>
              </a:rPr>
              <a:t>Reframing</a:t>
            </a:r>
          </a:p>
        </p:txBody>
      </p:sp>
      <p:sp>
        <p:nvSpPr>
          <p:cNvPr id="18" name="TextBox 17"/>
          <p:cNvSpPr txBox="1"/>
          <p:nvPr/>
        </p:nvSpPr>
        <p:spPr>
          <a:xfrm>
            <a:off x="1051560" y="4777740"/>
            <a:ext cx="4677156" cy="1229868"/>
          </a:xfrm>
          <a:prstGeom prst="rect">
            <a:avLst/>
          </a:prstGeom>
          <a:noFill/>
        </p:spPr>
        <p:txBody>
          <a:bodyPr wrap="square" anchor="t">
            <a:spAutoFit/>
          </a:bodyPr>
          <a:lstStyle/>
          <a:p>
            <a:pPr algn="l">
              <a:spcAft>
                <a:spcPts val="400"/>
              </a:spcAft>
            </a:pPr>
            <a:r>
              <a:rPr sz="1200" b="0">
                <a:solidFill>
                  <a:srgbClr val="161B26"/>
                </a:solidFill>
                <a:latin typeface="Arial"/>
              </a:rPr>
              <a:t>Convert blame into observable behaviour, impact, interests and requests.</a:t>
            </a:r>
          </a:p>
        </p:txBody>
      </p:sp>
      <p:sp>
        <p:nvSpPr>
          <p:cNvPr id="19" name="Rectangle 18"/>
          <p:cNvSpPr/>
          <p:nvPr/>
        </p:nvSpPr>
        <p:spPr>
          <a:xfrm>
            <a:off x="6231636" y="4210812"/>
            <a:ext cx="5180076" cy="19156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1636" y="4210812"/>
            <a:ext cx="91440" cy="19156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05956" y="4375404"/>
            <a:ext cx="4677156" cy="365760"/>
          </a:xfrm>
          <a:prstGeom prst="rect">
            <a:avLst/>
          </a:prstGeom>
          <a:noFill/>
        </p:spPr>
        <p:txBody>
          <a:bodyPr wrap="square" anchor="t">
            <a:spAutoFit/>
          </a:bodyPr>
          <a:lstStyle/>
          <a:p>
            <a:pPr algn="l">
              <a:spcAft>
                <a:spcPts val="400"/>
              </a:spcAft>
            </a:pPr>
            <a:r>
              <a:rPr sz="1600" b="1">
                <a:solidFill>
                  <a:srgbClr val="F59E0B"/>
                </a:solidFill>
                <a:latin typeface="Arial"/>
              </a:rPr>
              <a:t>Agreement</a:t>
            </a:r>
          </a:p>
        </p:txBody>
      </p:sp>
      <p:sp>
        <p:nvSpPr>
          <p:cNvPr id="22" name="TextBox 21"/>
          <p:cNvSpPr txBox="1"/>
          <p:nvPr/>
        </p:nvSpPr>
        <p:spPr>
          <a:xfrm>
            <a:off x="6505956" y="4777740"/>
            <a:ext cx="4677156" cy="1229868"/>
          </a:xfrm>
          <a:prstGeom prst="rect">
            <a:avLst/>
          </a:prstGeom>
          <a:noFill/>
        </p:spPr>
        <p:txBody>
          <a:bodyPr wrap="square" anchor="t">
            <a:spAutoFit/>
          </a:bodyPr>
          <a:lstStyle/>
          <a:p>
            <a:pPr algn="l">
              <a:spcAft>
                <a:spcPts val="400"/>
              </a:spcAft>
            </a:pPr>
            <a:r>
              <a:rPr sz="1200" b="0">
                <a:solidFill>
                  <a:srgbClr val="161B26"/>
                </a:solidFill>
                <a:latin typeface="Arial"/>
              </a:rPr>
              <a:t>Record commitments that are specific, lawful, owned, supported and reviewable.</a:t>
            </a:r>
          </a:p>
        </p:txBody>
      </p:sp>
      <p:sp>
        <p:nvSpPr>
          <p:cNvPr id="23" name="TextBox 22"/>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4" name="TextBox 23"/>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5" name="TextBox 24"/>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NEGOTIATION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Position bargaining vs interest-based negotiation</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Move from one demanded answer to several evidence-tested packages.</a:t>
            </a:r>
          </a:p>
        </p:txBody>
      </p:sp>
      <p:sp>
        <p:nvSpPr>
          <p:cNvPr id="7" name="Rectangle 6"/>
          <p:cNvSpPr/>
          <p:nvPr/>
        </p:nvSpPr>
        <p:spPr>
          <a:xfrm>
            <a:off x="2926080" y="2103120"/>
            <a:ext cx="4242816"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26080" y="2103120"/>
            <a:ext cx="4242816" cy="457200"/>
          </a:xfrm>
          <a:prstGeom prst="rect">
            <a:avLst/>
          </a:prstGeom>
          <a:noFill/>
        </p:spPr>
        <p:txBody>
          <a:bodyPr wrap="square" anchor="ctr">
            <a:spAutoFit/>
          </a:bodyPr>
          <a:lstStyle/>
          <a:p>
            <a:pPr algn="ctr">
              <a:spcAft>
                <a:spcPts val="400"/>
              </a:spcAft>
            </a:pPr>
            <a:r>
              <a:rPr sz="1500" b="1">
                <a:solidFill>
                  <a:srgbClr val="FFFFFF"/>
                </a:solidFill>
                <a:latin typeface="Arial"/>
              </a:rPr>
              <a:t>Position bargaining</a:t>
            </a:r>
          </a:p>
        </p:txBody>
      </p:sp>
      <p:sp>
        <p:nvSpPr>
          <p:cNvPr id="9" name="Rectangle 8"/>
          <p:cNvSpPr/>
          <p:nvPr/>
        </p:nvSpPr>
        <p:spPr>
          <a:xfrm>
            <a:off x="7168896" y="2103120"/>
            <a:ext cx="4242816"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8896" y="2103120"/>
            <a:ext cx="4242816" cy="457200"/>
          </a:xfrm>
          <a:prstGeom prst="rect">
            <a:avLst/>
          </a:prstGeom>
          <a:noFill/>
        </p:spPr>
        <p:txBody>
          <a:bodyPr wrap="square" anchor="ctr">
            <a:spAutoFit/>
          </a:bodyPr>
          <a:lstStyle/>
          <a:p>
            <a:pPr algn="ctr">
              <a:spcAft>
                <a:spcPts val="400"/>
              </a:spcAft>
            </a:pPr>
            <a:r>
              <a:rPr sz="1500" b="1">
                <a:solidFill>
                  <a:srgbClr val="FFFFFF"/>
                </a:solidFill>
                <a:latin typeface="Arial"/>
              </a:rPr>
              <a:t>Interest-based negotiation</a:t>
            </a:r>
          </a:p>
        </p:txBody>
      </p:sp>
      <p:sp>
        <p:nvSpPr>
          <p:cNvPr id="11" name="Rectangle 10"/>
          <p:cNvSpPr/>
          <p:nvPr/>
        </p:nvSpPr>
        <p:spPr>
          <a:xfrm>
            <a:off x="777240" y="2560320"/>
            <a:ext cx="2148840" cy="8915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560320"/>
            <a:ext cx="1874520" cy="891540"/>
          </a:xfrm>
          <a:prstGeom prst="rect">
            <a:avLst/>
          </a:prstGeom>
          <a:noFill/>
        </p:spPr>
        <p:txBody>
          <a:bodyPr wrap="square" anchor="ctr">
            <a:spAutoFit/>
          </a:bodyPr>
          <a:lstStyle/>
          <a:p>
            <a:pPr algn="l">
              <a:spcAft>
                <a:spcPts val="400"/>
              </a:spcAft>
            </a:pPr>
            <a:r>
              <a:rPr sz="1400" b="1">
                <a:solidFill>
                  <a:srgbClr val="161B26"/>
                </a:solidFill>
                <a:latin typeface="Arial"/>
              </a:rPr>
              <a:t>Focus</a:t>
            </a:r>
          </a:p>
        </p:txBody>
      </p:sp>
      <p:sp>
        <p:nvSpPr>
          <p:cNvPr id="13" name="Rectangle 12"/>
          <p:cNvSpPr/>
          <p:nvPr/>
        </p:nvSpPr>
        <p:spPr>
          <a:xfrm>
            <a:off x="2926080" y="2560320"/>
            <a:ext cx="4242816" cy="8915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90672" y="2560320"/>
            <a:ext cx="3913632" cy="891540"/>
          </a:xfrm>
          <a:prstGeom prst="rect">
            <a:avLst/>
          </a:prstGeom>
          <a:noFill/>
        </p:spPr>
        <p:txBody>
          <a:bodyPr wrap="square" anchor="ctr">
            <a:spAutoFit/>
          </a:bodyPr>
          <a:lstStyle/>
          <a:p>
            <a:pPr algn="l">
              <a:spcAft>
                <a:spcPts val="400"/>
              </a:spcAft>
            </a:pPr>
            <a:r>
              <a:rPr sz="1300" b="0">
                <a:solidFill>
                  <a:srgbClr val="161B26"/>
                </a:solidFill>
                <a:latin typeface="Arial"/>
              </a:rPr>
              <a:t>Argues for a fixed demand</a:t>
            </a:r>
          </a:p>
        </p:txBody>
      </p:sp>
      <p:sp>
        <p:nvSpPr>
          <p:cNvPr id="15" name="Rectangle 14"/>
          <p:cNvSpPr/>
          <p:nvPr/>
        </p:nvSpPr>
        <p:spPr>
          <a:xfrm>
            <a:off x="7168896" y="2560320"/>
            <a:ext cx="4242816" cy="8915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33488" y="2560320"/>
            <a:ext cx="3913632" cy="891540"/>
          </a:xfrm>
          <a:prstGeom prst="rect">
            <a:avLst/>
          </a:prstGeom>
          <a:noFill/>
        </p:spPr>
        <p:txBody>
          <a:bodyPr wrap="square" anchor="ctr">
            <a:spAutoFit/>
          </a:bodyPr>
          <a:lstStyle/>
          <a:p>
            <a:pPr algn="l">
              <a:spcAft>
                <a:spcPts val="400"/>
              </a:spcAft>
            </a:pPr>
            <a:r>
              <a:rPr sz="1300" b="0">
                <a:solidFill>
                  <a:srgbClr val="161B26"/>
                </a:solidFill>
                <a:latin typeface="Arial"/>
              </a:rPr>
              <a:t>Explores the needs and constraints beneath the demand</a:t>
            </a:r>
          </a:p>
        </p:txBody>
      </p:sp>
      <p:sp>
        <p:nvSpPr>
          <p:cNvPr id="17" name="Rectangle 16"/>
          <p:cNvSpPr/>
          <p:nvPr/>
        </p:nvSpPr>
        <p:spPr>
          <a:xfrm>
            <a:off x="777240" y="3451860"/>
            <a:ext cx="2148840" cy="8915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451860"/>
            <a:ext cx="1874520" cy="891540"/>
          </a:xfrm>
          <a:prstGeom prst="rect">
            <a:avLst/>
          </a:prstGeom>
          <a:noFill/>
        </p:spPr>
        <p:txBody>
          <a:bodyPr wrap="square" anchor="ctr">
            <a:spAutoFit/>
          </a:bodyPr>
          <a:lstStyle/>
          <a:p>
            <a:pPr algn="l">
              <a:spcAft>
                <a:spcPts val="400"/>
              </a:spcAft>
            </a:pPr>
            <a:r>
              <a:rPr sz="1400" b="1">
                <a:solidFill>
                  <a:srgbClr val="161B26"/>
                </a:solidFill>
                <a:latin typeface="Arial"/>
              </a:rPr>
              <a:t>Value</a:t>
            </a:r>
          </a:p>
        </p:txBody>
      </p:sp>
      <p:sp>
        <p:nvSpPr>
          <p:cNvPr id="19" name="Rectangle 18"/>
          <p:cNvSpPr/>
          <p:nvPr/>
        </p:nvSpPr>
        <p:spPr>
          <a:xfrm>
            <a:off x="2926080" y="3451860"/>
            <a:ext cx="4242816" cy="8915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90672" y="3451860"/>
            <a:ext cx="3913632" cy="891540"/>
          </a:xfrm>
          <a:prstGeom prst="rect">
            <a:avLst/>
          </a:prstGeom>
          <a:noFill/>
        </p:spPr>
        <p:txBody>
          <a:bodyPr wrap="square" anchor="ctr">
            <a:spAutoFit/>
          </a:bodyPr>
          <a:lstStyle/>
          <a:p>
            <a:pPr algn="l">
              <a:spcAft>
                <a:spcPts val="400"/>
              </a:spcAft>
            </a:pPr>
            <a:r>
              <a:rPr sz="1300" b="0">
                <a:solidFill>
                  <a:srgbClr val="161B26"/>
                </a:solidFill>
                <a:latin typeface="Arial"/>
              </a:rPr>
              <a:t>Treats concessions as loss</a:t>
            </a:r>
          </a:p>
        </p:txBody>
      </p:sp>
      <p:sp>
        <p:nvSpPr>
          <p:cNvPr id="21" name="Rectangle 20"/>
          <p:cNvSpPr/>
          <p:nvPr/>
        </p:nvSpPr>
        <p:spPr>
          <a:xfrm>
            <a:off x="7168896" y="3451860"/>
            <a:ext cx="4242816" cy="8915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33488" y="3451860"/>
            <a:ext cx="3913632" cy="891540"/>
          </a:xfrm>
          <a:prstGeom prst="rect">
            <a:avLst/>
          </a:prstGeom>
          <a:noFill/>
        </p:spPr>
        <p:txBody>
          <a:bodyPr wrap="square" anchor="ctr">
            <a:spAutoFit/>
          </a:bodyPr>
          <a:lstStyle/>
          <a:p>
            <a:pPr algn="l">
              <a:spcAft>
                <a:spcPts val="400"/>
              </a:spcAft>
            </a:pPr>
            <a:r>
              <a:rPr sz="1300" b="0">
                <a:solidFill>
                  <a:srgbClr val="161B26"/>
                </a:solidFill>
                <a:latin typeface="Arial"/>
              </a:rPr>
              <a:t>Trades across differences and creates packages</a:t>
            </a:r>
          </a:p>
        </p:txBody>
      </p:sp>
      <p:sp>
        <p:nvSpPr>
          <p:cNvPr id="23" name="Rectangle 22"/>
          <p:cNvSpPr/>
          <p:nvPr/>
        </p:nvSpPr>
        <p:spPr>
          <a:xfrm>
            <a:off x="777240" y="4343400"/>
            <a:ext cx="2148840" cy="8915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4343400"/>
            <a:ext cx="1874520" cy="891540"/>
          </a:xfrm>
          <a:prstGeom prst="rect">
            <a:avLst/>
          </a:prstGeom>
          <a:noFill/>
        </p:spPr>
        <p:txBody>
          <a:bodyPr wrap="square" anchor="ctr">
            <a:spAutoFit/>
          </a:bodyPr>
          <a:lstStyle/>
          <a:p>
            <a:pPr algn="l">
              <a:spcAft>
                <a:spcPts val="400"/>
              </a:spcAft>
            </a:pPr>
            <a:r>
              <a:rPr sz="1400" b="1">
                <a:solidFill>
                  <a:srgbClr val="161B26"/>
                </a:solidFill>
                <a:latin typeface="Arial"/>
              </a:rPr>
              <a:t>Basis</a:t>
            </a:r>
          </a:p>
        </p:txBody>
      </p:sp>
      <p:sp>
        <p:nvSpPr>
          <p:cNvPr id="25" name="Rectangle 24"/>
          <p:cNvSpPr/>
          <p:nvPr/>
        </p:nvSpPr>
        <p:spPr>
          <a:xfrm>
            <a:off x="2926080" y="4343400"/>
            <a:ext cx="4242816" cy="8915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90672" y="4343400"/>
            <a:ext cx="3913632" cy="891540"/>
          </a:xfrm>
          <a:prstGeom prst="rect">
            <a:avLst/>
          </a:prstGeom>
          <a:noFill/>
        </p:spPr>
        <p:txBody>
          <a:bodyPr wrap="square" anchor="ctr">
            <a:spAutoFit/>
          </a:bodyPr>
          <a:lstStyle/>
          <a:p>
            <a:pPr algn="l">
              <a:spcAft>
                <a:spcPts val="400"/>
              </a:spcAft>
            </a:pPr>
            <a:r>
              <a:rPr sz="1300" b="0">
                <a:solidFill>
                  <a:srgbClr val="161B26"/>
                </a:solidFill>
                <a:latin typeface="Arial"/>
              </a:rPr>
              <a:t>Relies on power or persistence</a:t>
            </a:r>
          </a:p>
        </p:txBody>
      </p:sp>
      <p:sp>
        <p:nvSpPr>
          <p:cNvPr id="27" name="Rectangle 26"/>
          <p:cNvSpPr/>
          <p:nvPr/>
        </p:nvSpPr>
        <p:spPr>
          <a:xfrm>
            <a:off x="7168896" y="4343400"/>
            <a:ext cx="4242816" cy="8915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33488" y="4343400"/>
            <a:ext cx="3913632" cy="891540"/>
          </a:xfrm>
          <a:prstGeom prst="rect">
            <a:avLst/>
          </a:prstGeom>
          <a:noFill/>
        </p:spPr>
        <p:txBody>
          <a:bodyPr wrap="square" anchor="ctr">
            <a:spAutoFit/>
          </a:bodyPr>
          <a:lstStyle/>
          <a:p>
            <a:pPr algn="l">
              <a:spcAft>
                <a:spcPts val="400"/>
              </a:spcAft>
            </a:pPr>
            <a:r>
              <a:rPr sz="1300" b="0">
                <a:solidFill>
                  <a:srgbClr val="161B26"/>
                </a:solidFill>
                <a:latin typeface="Arial"/>
              </a:rPr>
              <a:t>Uses objective criteria, evidence and authority</a:t>
            </a:r>
          </a:p>
        </p:txBody>
      </p:sp>
      <p:sp>
        <p:nvSpPr>
          <p:cNvPr id="29" name="Rectangle 28"/>
          <p:cNvSpPr/>
          <p:nvPr/>
        </p:nvSpPr>
        <p:spPr>
          <a:xfrm>
            <a:off x="777240" y="5234940"/>
            <a:ext cx="2148840" cy="8915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5234940"/>
            <a:ext cx="1874520" cy="891540"/>
          </a:xfrm>
          <a:prstGeom prst="rect">
            <a:avLst/>
          </a:prstGeom>
          <a:noFill/>
        </p:spPr>
        <p:txBody>
          <a:bodyPr wrap="square" anchor="ctr">
            <a:spAutoFit/>
          </a:bodyPr>
          <a:lstStyle/>
          <a:p>
            <a:pPr algn="l">
              <a:spcAft>
                <a:spcPts val="400"/>
              </a:spcAft>
            </a:pPr>
            <a:r>
              <a:rPr sz="1400" b="1">
                <a:solidFill>
                  <a:srgbClr val="161B26"/>
                </a:solidFill>
                <a:latin typeface="Arial"/>
              </a:rPr>
              <a:t>Finish</a:t>
            </a:r>
          </a:p>
        </p:txBody>
      </p:sp>
      <p:sp>
        <p:nvSpPr>
          <p:cNvPr id="31" name="Rectangle 30"/>
          <p:cNvSpPr/>
          <p:nvPr/>
        </p:nvSpPr>
        <p:spPr>
          <a:xfrm>
            <a:off x="2926080" y="5234940"/>
            <a:ext cx="4242816" cy="8915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90672" y="5234940"/>
            <a:ext cx="3913632" cy="891540"/>
          </a:xfrm>
          <a:prstGeom prst="rect">
            <a:avLst/>
          </a:prstGeom>
          <a:noFill/>
        </p:spPr>
        <p:txBody>
          <a:bodyPr wrap="square" anchor="ctr">
            <a:spAutoFit/>
          </a:bodyPr>
          <a:lstStyle/>
          <a:p>
            <a:pPr algn="l">
              <a:spcAft>
                <a:spcPts val="400"/>
              </a:spcAft>
            </a:pPr>
            <a:r>
              <a:rPr sz="1300" b="0">
                <a:solidFill>
                  <a:srgbClr val="161B26"/>
                </a:solidFill>
                <a:latin typeface="Arial"/>
              </a:rPr>
              <a:t>Stops at verbal compromise</a:t>
            </a:r>
          </a:p>
        </p:txBody>
      </p:sp>
      <p:sp>
        <p:nvSpPr>
          <p:cNvPr id="33" name="Rectangle 32"/>
          <p:cNvSpPr/>
          <p:nvPr/>
        </p:nvSpPr>
        <p:spPr>
          <a:xfrm>
            <a:off x="7168896" y="5234940"/>
            <a:ext cx="4242816" cy="8915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33488" y="5234940"/>
            <a:ext cx="3913632" cy="891540"/>
          </a:xfrm>
          <a:prstGeom prst="rect">
            <a:avLst/>
          </a:prstGeom>
          <a:noFill/>
        </p:spPr>
        <p:txBody>
          <a:bodyPr wrap="square" anchor="ctr">
            <a:spAutoFit/>
          </a:bodyPr>
          <a:lstStyle/>
          <a:p>
            <a:pPr algn="l">
              <a:spcAft>
                <a:spcPts val="400"/>
              </a:spcAft>
            </a:pPr>
            <a:r>
              <a:rPr sz="1300" b="0">
                <a:solidFill>
                  <a:srgbClr val="161B26"/>
                </a:solidFill>
                <a:latin typeface="Arial"/>
              </a:rPr>
              <a:t>Records action, owner, timing, review and no-agreement route</a:t>
            </a:r>
          </a:p>
        </p:txBody>
      </p:sp>
      <p:sp>
        <p:nvSpPr>
          <p:cNvPr id="35" name="TextBox 34"/>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36" name="TextBox 35"/>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37" name="TextBox 36"/>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SENSITIVE HANDLING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Regulation precedes resolution.</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 good technique fails when timing, safety or power makes the conversation unfair.</a:t>
            </a:r>
          </a:p>
        </p:txBody>
      </p:sp>
      <p:sp>
        <p:nvSpPr>
          <p:cNvPr id="7" name="TextBox 6"/>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8" name="TextBox 7"/>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9" name="TextBox 8"/>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350"/>
                                        <p:tgtEl>
                                          <p:spTgt spid="5"/>
                                        </p:tgtEl>
                                      </p:cBhvr>
                                    </p:animEffect>
                                    <p:anim calcmode="lin" valueType="num">
                                      <p:cBhvr additive="base">
                                        <p:cTn id="1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350"/>
                                        <p:tgtEl>
                                          <p:spTgt spid="6"/>
                                        </p:tgtEl>
                                      </p:cBhvr>
                                    </p:animEffect>
                                    <p:anim calcmode="lin" valueType="num">
                                      <p:cBhvr additive="base">
                                        <p:cTn id="2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600" b="1">
                <a:solidFill>
                  <a:srgbClr val="10B981"/>
                </a:solidFill>
                <a:latin typeface="Arial"/>
              </a:rPr>
              <a:t>LO2 · Topic 2 · T1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3400" b="1">
                <a:solidFill>
                  <a:srgbClr val="161B26"/>
                </a:solidFill>
                <a:latin typeface="Arial"/>
              </a:rPr>
              <a:t>a fit-for-purpose conflict style decision</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T1</a:t>
            </a:r>
          </a:p>
        </p:txBody>
      </p:sp>
      <p:sp>
        <p:nvSpPr>
          <p:cNvPr id="8" name="TextBox 7"/>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9" name="TextBox 8"/>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0" name="TextBox 9"/>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fast" advClick="1">
    <p:push dir="u"/>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Topic 2 · T1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What is a fit-for-purpose conflict style decision?</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Compete</a:t>
            </a:r>
          </a:p>
          <a:p>
            <a:pPr algn="l">
              <a:spcAft>
                <a:spcPts val="300"/>
              </a:spcAft>
            </a:pPr>
            <a:r>
              <a:rPr sz="1200" b="0">
                <a:solidFill>
                  <a:srgbClr val="5B6372"/>
                </a:solidFill>
                <a:latin typeface="Arial"/>
              </a:rPr>
              <a:t>High assertiveness, low cooperation; useful for urgent safety or non-negotiable standards.</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Collaborate</a:t>
            </a:r>
          </a:p>
          <a:p>
            <a:pPr algn="l">
              <a:spcAft>
                <a:spcPts val="300"/>
              </a:spcAft>
            </a:pPr>
            <a:r>
              <a:rPr sz="1200" b="0">
                <a:solidFill>
                  <a:srgbClr val="5B6372"/>
                </a:solidFill>
                <a:latin typeface="Arial"/>
              </a:rPr>
              <a:t>High assertiveness and cooperation; useful for important, interdependent issues.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Compromise</a:t>
            </a:r>
          </a:p>
          <a:p>
            <a:pPr algn="l">
              <a:spcAft>
                <a:spcPts val="300"/>
              </a:spcAft>
            </a:pPr>
            <a:r>
              <a:rPr sz="1200" b="0">
                <a:solidFill>
                  <a:srgbClr val="5B6372"/>
                </a:solidFill>
                <a:latin typeface="Arial"/>
              </a:rPr>
              <a:t>Moderate exchange; useful when time matters and both can trade.</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Avoid / accommodate</a:t>
            </a:r>
          </a:p>
          <a:p>
            <a:pPr algn="l">
              <a:spcAft>
                <a:spcPts val="300"/>
              </a:spcAft>
            </a:pPr>
            <a:r>
              <a:rPr sz="1200" b="0">
                <a:solidFill>
                  <a:srgbClr val="5B6372"/>
                </a:solidFill>
                <a:latin typeface="Arial"/>
              </a:rPr>
              <a:t>Useful for cooling off, low stakes or learning—but risky when overused.</a:t>
            </a:r>
          </a:p>
        </p:txBody>
      </p:sp>
      <p:sp>
        <p:nvSpPr>
          <p:cNvPr id="26" name="TextBox 2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7" name="TextBox 2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8" name="TextBox 2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
        <p:nvSpPr>
          <p:cNvPr id="29" name="TextBox 2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Sources: HelpGuide; Indeed; Coursera conflict management; Syracuse University</a:t>
            </a:r>
          </a:p>
        </p:txBody>
      </p:sp>
    </p:spTree>
  </p:cSld>
  <p:clrMapOvr>
    <a:masterClrMapping/>
  </p:clrMapOvr>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Topic 2 · T1 · HOW IT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Choose a Style Deliberately</a:t>
            </a:r>
          </a:p>
        </p:txBody>
      </p:sp>
      <p:sp>
        <p:nvSpPr>
          <p:cNvPr id="6" name="Rectangle 5"/>
          <p:cNvSpPr/>
          <p:nvPr/>
        </p:nvSpPr>
        <p:spPr>
          <a:xfrm>
            <a:off x="777240"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01775"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01775"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05256"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Safety</a:t>
            </a:r>
          </a:p>
        </p:txBody>
      </p:sp>
      <p:sp>
        <p:nvSpPr>
          <p:cNvPr id="11" name="TextBox 10"/>
          <p:cNvSpPr txBox="1"/>
          <p:nvPr/>
        </p:nvSpPr>
        <p:spPr>
          <a:xfrm>
            <a:off x="905256"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Is harm, policy breach or urgent action involved?</a:t>
            </a:r>
          </a:p>
        </p:txBody>
      </p:sp>
      <p:sp>
        <p:nvSpPr>
          <p:cNvPr id="12" name="Chevron 11"/>
          <p:cNvSpPr/>
          <p:nvPr/>
        </p:nvSpPr>
        <p:spPr>
          <a:xfrm>
            <a:off x="2702966"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58998"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83533"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3533"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87014"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Importance</a:t>
            </a:r>
          </a:p>
        </p:txBody>
      </p:sp>
      <p:sp>
        <p:nvSpPr>
          <p:cNvPr id="18" name="TextBox 17"/>
          <p:cNvSpPr txBox="1"/>
          <p:nvPr/>
        </p:nvSpPr>
        <p:spPr>
          <a:xfrm>
            <a:off x="3087014"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How important is the substantive outcome?</a:t>
            </a:r>
          </a:p>
        </p:txBody>
      </p:sp>
      <p:sp>
        <p:nvSpPr>
          <p:cNvPr id="19" name="Chevron 18"/>
          <p:cNvSpPr/>
          <p:nvPr/>
        </p:nvSpPr>
        <p:spPr>
          <a:xfrm>
            <a:off x="4884724"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765291"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65291"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68772"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Relationship</a:t>
            </a:r>
          </a:p>
        </p:txBody>
      </p:sp>
      <p:sp>
        <p:nvSpPr>
          <p:cNvPr id="25" name="TextBox 24"/>
          <p:cNvSpPr txBox="1"/>
          <p:nvPr/>
        </p:nvSpPr>
        <p:spPr>
          <a:xfrm>
            <a:off x="5268772"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How important is trust and future interdependence?</a:t>
            </a:r>
          </a:p>
        </p:txBody>
      </p:sp>
      <p:sp>
        <p:nvSpPr>
          <p:cNvPr id="26" name="Chevron 25"/>
          <p:cNvSpPr/>
          <p:nvPr/>
        </p:nvSpPr>
        <p:spPr>
          <a:xfrm>
            <a:off x="7066482"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2514"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22514"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947049"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47049"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50530"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Power and voice</a:t>
            </a:r>
          </a:p>
        </p:txBody>
      </p:sp>
      <p:sp>
        <p:nvSpPr>
          <p:cNvPr id="32" name="TextBox 31"/>
          <p:cNvSpPr txBox="1"/>
          <p:nvPr/>
        </p:nvSpPr>
        <p:spPr>
          <a:xfrm>
            <a:off x="7450530"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Can both parties participate freely and fairly?</a:t>
            </a:r>
          </a:p>
        </p:txBody>
      </p:sp>
      <p:sp>
        <p:nvSpPr>
          <p:cNvPr id="33" name="Chevron 32"/>
          <p:cNvSpPr/>
          <p:nvPr/>
        </p:nvSpPr>
        <p:spPr>
          <a:xfrm>
            <a:off x="9248240"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04272"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28807"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28807"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32288"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Time</a:t>
            </a:r>
          </a:p>
        </p:txBody>
      </p:sp>
      <p:sp>
        <p:nvSpPr>
          <p:cNvPr id="39" name="TextBox 38"/>
          <p:cNvSpPr txBox="1"/>
          <p:nvPr/>
        </p:nvSpPr>
        <p:spPr>
          <a:xfrm>
            <a:off x="9632288"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Is a temporary response needed before deeper resolution?</a:t>
            </a:r>
          </a:p>
        </p:txBody>
      </p:sp>
      <p:sp>
        <p:nvSpPr>
          <p:cNvPr id="40" name="TextBox 39"/>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41" name="TextBox 40"/>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42" name="TextBox 41"/>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Topic 2 · T1 · COMPARE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Helpful Use vs Costly Overuse</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Helpful use</a:t>
            </a:r>
          </a:p>
        </p:txBody>
      </p:sp>
      <p:sp>
        <p:nvSpPr>
          <p:cNvPr id="9" name="TextBox 8"/>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Costly overuse</a:t>
            </a:r>
          </a:p>
        </p:txBody>
      </p:sp>
      <p:sp>
        <p:nvSpPr>
          <p:cNvPr id="10" name="TextBox 9"/>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Compete to stop an unsafe act.</a:t>
            </a:r>
          </a:p>
          <a:p>
            <a:pPr>
              <a:spcAft>
                <a:spcPts val="1000"/>
              </a:spcAft>
            </a:pPr>
            <a:r>
              <a:rPr sz="1600" b="0">
                <a:solidFill>
                  <a:srgbClr val="161B26"/>
                </a:solidFill>
                <a:latin typeface="Arial"/>
              </a:rPr>
              <a:t>•  Avoid briefly to cool down and prepare.</a:t>
            </a:r>
          </a:p>
          <a:p>
            <a:pPr>
              <a:spcAft>
                <a:spcPts val="1000"/>
              </a:spcAft>
            </a:pPr>
            <a:r>
              <a:rPr sz="1600" b="0">
                <a:solidFill>
                  <a:srgbClr val="161B26"/>
                </a:solidFill>
                <a:latin typeface="Arial"/>
              </a:rPr>
              <a:t>•  Accommodate a low-value preference.</a:t>
            </a:r>
          </a:p>
          <a:p>
            <a:pPr>
              <a:spcAft>
                <a:spcPts val="1000"/>
              </a:spcAft>
            </a:pPr>
            <a:r>
              <a:rPr sz="1600" b="0">
                <a:solidFill>
                  <a:srgbClr val="161B26"/>
                </a:solidFill>
                <a:latin typeface="Arial"/>
              </a:rPr>
              <a:t>•  Compromise on a temporary schedule.</a:t>
            </a:r>
          </a:p>
        </p:txBody>
      </p:sp>
      <p:sp>
        <p:nvSpPr>
          <p:cNvPr id="11" name="TextBox 10"/>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Compete to protect ego or silence dissent.</a:t>
            </a:r>
          </a:p>
          <a:p>
            <a:pPr>
              <a:spcAft>
                <a:spcPts val="1000"/>
              </a:spcAft>
            </a:pPr>
            <a:r>
              <a:rPr sz="1600" b="0">
                <a:solidFill>
                  <a:srgbClr val="161B26"/>
                </a:solidFill>
                <a:latin typeface="Arial"/>
              </a:rPr>
              <a:t>•  Avoid a recurring fairness problem.</a:t>
            </a:r>
          </a:p>
          <a:p>
            <a:pPr>
              <a:spcAft>
                <a:spcPts val="1000"/>
              </a:spcAft>
            </a:pPr>
            <a:r>
              <a:rPr sz="1600" b="0">
                <a:solidFill>
                  <a:srgbClr val="161B26"/>
                </a:solidFill>
                <a:latin typeface="Arial"/>
              </a:rPr>
              <a:t>•  Accommodate until resentment grows.</a:t>
            </a:r>
          </a:p>
          <a:p>
            <a:pPr>
              <a:spcAft>
                <a:spcPts val="1000"/>
              </a:spcAft>
            </a:pPr>
            <a:r>
              <a:rPr sz="1600" b="0">
                <a:solidFill>
                  <a:srgbClr val="161B26"/>
                </a:solidFill>
                <a:latin typeface="Arial"/>
              </a:rPr>
              <a:t>•  Compromise on ethics or safety standards.</a:t>
            </a:r>
          </a:p>
        </p:txBody>
      </p:sp>
      <p:sp>
        <p:nvSpPr>
          <p:cNvPr id="12" name="TextBox 11"/>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3" name="TextBox 12"/>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4" name="TextBox 13"/>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
        <p:nvSpPr>
          <p:cNvPr id="15" name="TextBox 14"/>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Sources: HelpGuide Thomas-Kilmann overview; Indeed strategy guidance</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350"/>
                                        <p:tgtEl>
                                          <p:spTgt spid="10"/>
                                        </p:tgtEl>
                                      </p:cBhvr>
                                    </p:animEffect>
                                    <p:anim calcmode="lin" valueType="num">
                                      <p:cBhvr additive="base">
                                        <p:cTn id="1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350"/>
                                        <p:tgtEl>
                                          <p:spTgt spid="11"/>
                                        </p:tgtEl>
                                      </p:cBhvr>
                                    </p:animEffect>
                                    <p:anim calcmode="lin" valueType="num">
                                      <p:cBhvr additive="base">
                                        <p:cTn id="2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Topic 2 · T1 · SUPPORTING DATA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Style Selection Cases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Safety breach</a:t>
            </a:r>
          </a:p>
          <a:p>
            <a:pPr algn="l">
              <a:spcAft>
                <a:spcPts val="300"/>
              </a:spcAft>
            </a:pPr>
            <a:r>
              <a:rPr sz="1200" b="0">
                <a:solidFill>
                  <a:srgbClr val="5B6372"/>
                </a:solidFill>
                <a:latin typeface="Arial"/>
              </a:rPr>
              <a:t>Compete/decide now; investigate and learn later.</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Shared product risk</a:t>
            </a:r>
          </a:p>
          <a:p>
            <a:pPr algn="l">
              <a:spcAft>
                <a:spcPts val="300"/>
              </a:spcAft>
            </a:pPr>
            <a:r>
              <a:rPr sz="1200" b="0">
                <a:solidFill>
                  <a:srgbClr val="5B6372"/>
                </a:solidFill>
                <a:latin typeface="Arial"/>
              </a:rPr>
              <a:t>Collaborate around evidence and common goals.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Temporary rota gap</a:t>
            </a:r>
          </a:p>
          <a:p>
            <a:pPr algn="l">
              <a:spcAft>
                <a:spcPts val="300"/>
              </a:spcAft>
            </a:pPr>
            <a:r>
              <a:rPr sz="1200" b="0">
                <a:solidFill>
                  <a:srgbClr val="5B6372"/>
                </a:solidFill>
                <a:latin typeface="Arial"/>
              </a:rPr>
              <a:t>Compromise with a review date.</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Heated but non-urgent</a:t>
            </a:r>
          </a:p>
          <a:p>
            <a:pPr algn="l">
              <a:spcAft>
                <a:spcPts val="300"/>
              </a:spcAft>
            </a:pPr>
            <a:r>
              <a:rPr sz="1200" b="0">
                <a:solidFill>
                  <a:srgbClr val="5B6372"/>
                </a:solidFill>
                <a:latin typeface="Arial"/>
              </a:rPr>
              <a:t>Pause/avoid briefly, then re-engage.</a:t>
            </a:r>
          </a:p>
        </p:txBody>
      </p:sp>
      <p:sp>
        <p:nvSpPr>
          <p:cNvPr id="26" name="TextBox 2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7" name="TextBox 2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8" name="TextBox 2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
        <p:nvSpPr>
          <p:cNvPr id="29" name="TextBox 2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illustrative worked example</a:t>
            </a:r>
          </a:p>
        </p:txBody>
      </p:sp>
    </p:spTree>
  </p:cSld>
  <p:clrMapOvr>
    <a:masterClrMapping/>
  </p:clrMapOvr>
  <p:transition spd="fast" advClick="1">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Topic 2 · T1 · ACTIVITY 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Conflict Style Choice Clinic at BrightWorks Digital</a:t>
            </a:r>
          </a:p>
        </p:txBody>
      </p:sp>
      <p:sp>
        <p:nvSpPr>
          <p:cNvPr id="6" name="Rectangle 5"/>
          <p:cNvSpPr/>
          <p:nvPr/>
        </p:nvSpPr>
        <p:spPr>
          <a:xfrm>
            <a:off x="777240" y="1691640"/>
            <a:ext cx="16916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28216"/>
            <a:ext cx="1691640" cy="365760"/>
          </a:xfrm>
          <a:prstGeom prst="rect">
            <a:avLst/>
          </a:prstGeom>
          <a:noFill/>
        </p:spPr>
        <p:txBody>
          <a:bodyPr wrap="square" anchor="t">
            <a:spAutoFit/>
          </a:bodyPr>
          <a:lstStyle/>
          <a:p>
            <a:pPr algn="ctr">
              <a:spcAft>
                <a:spcPts val="400"/>
              </a:spcAft>
            </a:pPr>
            <a:r>
              <a:rPr sz="1300" b="1">
                <a:solidFill>
                  <a:srgbClr val="FFFFFF"/>
                </a:solidFill>
                <a:latin typeface="Arial"/>
              </a:rPr>
              <a:t>CASE STUDY</a:t>
            </a:r>
          </a:p>
        </p:txBody>
      </p:sp>
      <p:sp>
        <p:nvSpPr>
          <p:cNvPr id="8" name="Rectangle 7"/>
          <p:cNvSpPr/>
          <p:nvPr/>
        </p:nvSpPr>
        <p:spPr>
          <a:xfrm>
            <a:off x="777240" y="2286000"/>
            <a:ext cx="1063447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86000"/>
            <a:ext cx="91440" cy="2880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487168"/>
            <a:ext cx="9966960" cy="320040"/>
          </a:xfrm>
          <a:prstGeom prst="rect">
            <a:avLst/>
          </a:prstGeom>
          <a:noFill/>
        </p:spPr>
        <p:txBody>
          <a:bodyPr wrap="square" anchor="t">
            <a:spAutoFit/>
          </a:bodyPr>
          <a:lstStyle/>
          <a:p>
            <a:pPr algn="l">
              <a:spcAft>
                <a:spcPts val="400"/>
              </a:spcAft>
            </a:pPr>
            <a:r>
              <a:rPr sz="1200" b="1">
                <a:solidFill>
                  <a:srgbClr val="10B981"/>
                </a:solidFill>
                <a:latin typeface="Arial"/>
              </a:rPr>
              <a:t>THE SITUATION</a:t>
            </a:r>
          </a:p>
        </p:txBody>
      </p:sp>
      <p:sp>
        <p:nvSpPr>
          <p:cNvPr id="11" name="TextBox 10"/>
          <p:cNvSpPr txBox="1"/>
          <p:nvPr/>
        </p:nvSpPr>
        <p:spPr>
          <a:xfrm>
            <a:off x="1097280" y="2834640"/>
            <a:ext cx="10058400" cy="2240280"/>
          </a:xfrm>
          <a:prstGeom prst="rect">
            <a:avLst/>
          </a:prstGeom>
          <a:noFill/>
        </p:spPr>
        <p:txBody>
          <a:bodyPr wrap="square" anchor="t">
            <a:spAutoFit/>
          </a:bodyPr>
          <a:lstStyle/>
          <a:p>
            <a:pPr algn="l">
              <a:spcAft>
                <a:spcPts val="800"/>
              </a:spcAft>
            </a:pPr>
            <a:r>
              <a:rPr sz="1450" b="0">
                <a:solidFill>
                  <a:srgbClr val="161B26"/>
                </a:solidFill>
                <a:latin typeface="Arial"/>
              </a:rPr>
              <a:t>BrightWorks Digital's product and sales teams disagree about releasing a feature before security testing is complete. Sales promises a launch date to a key client; Product says the unresolved issue may expose customer data.</a:t>
            </a:r>
          </a:p>
          <a:p>
            <a:pPr algn="l">
              <a:spcAft>
                <a:spcPts val="800"/>
              </a:spcAft>
            </a:pPr>
            <a:r>
              <a:rPr sz="1450" b="0">
                <a:solidFill>
                  <a:srgbClr val="161B26"/>
                </a:solidFill>
                <a:latin typeface="Arial"/>
              </a:rPr>
              <a:t>The CEO wants a decision today, but both teams must work together for the next six months. Learners assess five possible styles and explain a staged response rather than declaring one style universally best.</a:t>
            </a:r>
          </a:p>
        </p:txBody>
      </p:sp>
      <p:sp>
        <p:nvSpPr>
          <p:cNvPr id="12" name="Rectangle 11"/>
          <p:cNvSpPr/>
          <p:nvPr/>
        </p:nvSpPr>
        <p:spPr>
          <a:xfrm>
            <a:off x="777240" y="5349240"/>
            <a:ext cx="10634472"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5349240"/>
            <a:ext cx="7315200" cy="685800"/>
          </a:xfrm>
          <a:prstGeom prst="rect">
            <a:avLst/>
          </a:prstGeom>
          <a:noFill/>
        </p:spPr>
        <p:txBody>
          <a:bodyPr wrap="square" anchor="ctr">
            <a:spAutoFit/>
          </a:bodyPr>
          <a:lstStyle/>
          <a:p>
            <a:pPr algn="l">
              <a:spcAft>
                <a:spcPts val="400"/>
              </a:spcAft>
            </a:pPr>
            <a:r>
              <a:rPr sz="1300" b="1">
                <a:solidFill>
                  <a:srgbClr val="1F6FEB"/>
                </a:solidFill>
                <a:latin typeface="Arial"/>
              </a:rPr>
              <a:t>You'll produce:  </a:t>
            </a:r>
            <a:r>
              <a:rPr sz="1300" b="0">
                <a:solidFill>
                  <a:srgbClr val="161B26"/>
                </a:solidFill>
                <a:latin typeface="Arial"/>
              </a:rPr>
              <a:t>A conflict-style decision matrix with a staged response rationale</a:t>
            </a:r>
          </a:p>
        </p:txBody>
      </p:sp>
      <p:sp>
        <p:nvSpPr>
          <p:cNvPr id="14" name="TextBox 13"/>
          <p:cNvSpPr txBox="1"/>
          <p:nvPr/>
        </p:nvSpPr>
        <p:spPr>
          <a:xfrm>
            <a:off x="8778240" y="5349240"/>
            <a:ext cx="2606040" cy="685800"/>
          </a:xfrm>
          <a:prstGeom prst="rect">
            <a:avLst/>
          </a:prstGeom>
          <a:noFill/>
        </p:spPr>
        <p:txBody>
          <a:bodyPr wrap="square" anchor="ctr">
            <a:spAutoFit/>
          </a:bodyPr>
          <a:lstStyle/>
          <a:p>
            <a:pPr algn="r">
              <a:spcAft>
                <a:spcPts val="400"/>
              </a:spcAft>
            </a:pPr>
            <a:r>
              <a:rPr sz="1300" b="1">
                <a:solidFill>
                  <a:srgbClr val="5B6372"/>
                </a:solidFill>
                <a:latin typeface="Arial"/>
              </a:rPr>
              <a:t>Duration: </a:t>
            </a:r>
            <a:r>
              <a:rPr sz="1300" b="0">
                <a:solidFill>
                  <a:srgbClr val="5B6372"/>
                </a:solidFill>
                <a:latin typeface="Arial"/>
              </a:rPr>
              <a:t>45 minutes</a:t>
            </a:r>
          </a:p>
        </p:txBody>
      </p:sp>
      <p:sp>
        <p:nvSpPr>
          <p:cNvPr id="15" name="TextBox 14"/>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6" name="TextBox 15"/>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7" name="TextBox 16"/>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50"/>
                                        <p:tgtEl>
                                          <p:spTgt spid="11"/>
                                        </p:tgtEl>
                                      </p:cBhvr>
                                    </p:animEffect>
                                    <p:anim calcmode="lin" valueType="num">
                                      <p:cBhvr additive="base">
                                        <p:cTn id="3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50"/>
                                        <p:tgtEl>
                                          <p:spTgt spid="12"/>
                                        </p:tgtEl>
                                      </p:cBhvr>
                                    </p:animEffect>
                                    <p:anim calcmode="lin" valueType="num">
                                      <p:cBhvr additive="base">
                                        <p:cTn id="4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par>
                    <p:cTn id="50" fill="hold">
                      <p:stCondLst>
                        <p:cond delay="0"/>
                      </p:stCondLst>
                      <p:childTnLst>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350"/>
                                        <p:tgtEl>
                                          <p:spTgt spid="13"/>
                                        </p:tgtEl>
                                      </p:cBhvr>
                                    </p:animEffect>
                                    <p:anim calcmode="lin" valueType="num">
                                      <p:cBhvr additive="base">
                                        <p:cTn id="55" dur="350" fill="hold"/>
                                        <p:tgtEl>
                                          <p:spTgt spid="13"/>
                                        </p:tgtEl>
                                        <p:attrNameLst>
                                          <p:attrName>ppt_y</p:attrName>
                                        </p:attrNameLst>
                                      </p:cBhvr>
                                      <p:tavLst>
                                        <p:tav tm="0">
                                          <p:val>
                                            <p:strVal val="#ppt_y+0.0350"/>
                                          </p:val>
                                        </p:tav>
                                        <p:tav tm="100000">
                                          <p:val>
                                            <p:strVal val="#ppt_y"/>
                                          </p:val>
                                        </p:tav>
                                      </p:tavLst>
                                    </p:anim>
                                  </p:childTnLst>
                                </p:cTn>
                              </p:par>
                            </p:childTnLst>
                          </p:cTn>
                        </p:par>
                      </p:childTnLst>
                    </p:cTn>
                  </p:par>
                  <p:par>
                    <p:cTn id="60" fill="hold">
                      <p:stCondLst>
                        <p:cond delay="0"/>
                      </p:stCondLst>
                      <p:childTnLst>
                        <p:par>
                          <p:cTn id="61" fill="hold">
                            <p:stCondLst>
                              <p:cond delay="0"/>
                            </p:stCondLst>
                            <p:childTnLst>
                              <p:par>
                                <p:cTn id="62" presetID="10" presetClass="entr" presetSubtype="0"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350"/>
                                        <p:tgtEl>
                                          <p:spTgt spid="14"/>
                                        </p:tgtEl>
                                      </p:cBhvr>
                                    </p:animEffect>
                                    <p:anim calcmode="lin" valueType="num">
                                      <p:cBhvr additive="base">
                                        <p:cTn id="65" dur="350" fill="hold"/>
                                        <p:tgtEl>
                                          <p:spTgt spid="14"/>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Topic 2 · T1 · ACTIVITY 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Conflict Style Choice Clinic at BrightWorks Digital</a:t>
            </a:r>
          </a:p>
        </p:txBody>
      </p:sp>
      <p:sp>
        <p:nvSpPr>
          <p:cNvPr id="6" name="TextBox 5"/>
          <p:cNvSpPr txBox="1"/>
          <p:nvPr/>
        </p:nvSpPr>
        <p:spPr>
          <a:xfrm>
            <a:off x="777240" y="1719072"/>
            <a:ext cx="8229600" cy="365760"/>
          </a:xfrm>
          <a:prstGeom prst="rect">
            <a:avLst/>
          </a:prstGeom>
          <a:noFill/>
        </p:spPr>
        <p:txBody>
          <a:bodyPr wrap="square" anchor="t">
            <a:spAutoFit/>
          </a:bodyPr>
          <a:lstStyle/>
          <a:p>
            <a:pPr algn="l">
              <a:spcAft>
                <a:spcPts val="400"/>
              </a:spcAft>
            </a:pPr>
            <a:r>
              <a:rPr sz="1300" b="1">
                <a:solidFill>
                  <a:srgbClr val="5B6372"/>
                </a:solidFill>
                <a:latin typeface="Arial"/>
              </a:rPr>
              <a:t>DISCUSSION &amp; DECISION PROMPTS</a:t>
            </a:r>
          </a:p>
        </p:txBody>
      </p:sp>
      <p:sp>
        <p:nvSpPr>
          <p:cNvPr id="7" name="Rectangle 6"/>
          <p:cNvSpPr/>
          <p:nvPr/>
        </p:nvSpPr>
        <p:spPr>
          <a:xfrm>
            <a:off x="777240" y="2148840"/>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78408" y="233400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334006"/>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37360" y="2148840"/>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Which part of the issue is non-negotiable, and who has authority to decide it?</a:t>
            </a:r>
          </a:p>
        </p:txBody>
      </p:sp>
      <p:sp>
        <p:nvSpPr>
          <p:cNvPr id="12" name="Rectangle 11"/>
          <p:cNvSpPr/>
          <p:nvPr/>
        </p:nvSpPr>
        <p:spPr>
          <a:xfrm>
            <a:off x="777240" y="3168396"/>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8396"/>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78408" y="3353562"/>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3353562"/>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37360" y="3168396"/>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Where would collaboration add value after the immediate decision?</a:t>
            </a:r>
          </a:p>
        </p:txBody>
      </p:sp>
      <p:sp>
        <p:nvSpPr>
          <p:cNvPr id="17" name="Rectangle 16"/>
          <p:cNvSpPr/>
          <p:nvPr/>
        </p:nvSpPr>
        <p:spPr>
          <a:xfrm>
            <a:off x="777240" y="4187952"/>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87952"/>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78408" y="4373118"/>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373118"/>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37360" y="4187952"/>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power imbalance or voice risk must the facilitator manage?</a:t>
            </a:r>
          </a:p>
        </p:txBody>
      </p:sp>
      <p:sp>
        <p:nvSpPr>
          <p:cNvPr id="22" name="Rectangle 21"/>
          <p:cNvSpPr/>
          <p:nvPr/>
        </p:nvSpPr>
        <p:spPr>
          <a:xfrm>
            <a:off x="777240" y="5207508"/>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07508"/>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78408" y="5392674"/>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392674"/>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37360" y="5207508"/>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temporary agreement could protect the client relationship without compromising security?</a:t>
            </a:r>
          </a:p>
        </p:txBody>
      </p:sp>
      <p:sp>
        <p:nvSpPr>
          <p:cNvPr id="27" name="TextBox 26"/>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8" name="TextBox 27"/>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9" name="TextBox 28"/>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fast" advClick="1">
    <p:wipe dir="l"/>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Topic 2 · T1 · ACTIVITY 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Conflict Style Choice Clinic at BrightWorks Digital</a:t>
            </a:r>
          </a:p>
        </p:txBody>
      </p:sp>
      <p:sp>
        <p:nvSpPr>
          <p:cNvPr id="6" name="Rectangle 5"/>
          <p:cNvSpPr/>
          <p:nvPr/>
        </p:nvSpPr>
        <p:spPr>
          <a:xfrm>
            <a:off x="777240" y="1783080"/>
            <a:ext cx="10634472" cy="2651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6517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965960"/>
            <a:ext cx="10058400" cy="365760"/>
          </a:xfrm>
          <a:prstGeom prst="rect">
            <a:avLst/>
          </a:prstGeom>
          <a:noFill/>
        </p:spPr>
        <p:txBody>
          <a:bodyPr wrap="square" anchor="t">
            <a:spAutoFit/>
          </a:bodyPr>
          <a:lstStyle/>
          <a:p>
            <a:pPr algn="l">
              <a:spcAft>
                <a:spcPts val="400"/>
              </a:spcAft>
            </a:pPr>
            <a:r>
              <a:rPr sz="1300" b="1">
                <a:solidFill>
                  <a:srgbClr val="7C3AED"/>
                </a:solidFill>
                <a:latin typeface="Arial"/>
              </a:rPr>
              <a:t>REFLECT &amp; DISCUSS</a:t>
            </a:r>
          </a:p>
        </p:txBody>
      </p:sp>
      <p:sp>
        <p:nvSpPr>
          <p:cNvPr id="9" name="TextBox 8"/>
          <p:cNvSpPr txBox="1"/>
          <p:nvPr/>
        </p:nvSpPr>
        <p:spPr>
          <a:xfrm>
            <a:off x="1051560" y="2377440"/>
            <a:ext cx="10058400" cy="1920240"/>
          </a:xfrm>
          <a:prstGeom prst="rect">
            <a:avLst/>
          </a:prstGeom>
          <a:noFill/>
        </p:spPr>
        <p:txBody>
          <a:bodyPr wrap="square">
            <a:spAutoFit/>
          </a:bodyPr>
          <a:lstStyle/>
          <a:p>
            <a:pPr>
              <a:spcAft>
                <a:spcPts val="900"/>
              </a:spcAft>
            </a:pPr>
            <a:r>
              <a:rPr sz="1450" b="0">
                <a:solidFill>
                  <a:srgbClr val="161B26"/>
                </a:solidFill>
                <a:latin typeface="Arial"/>
              </a:rPr>
              <a:t>•  Did you distinguish a short-term emergency response from long-term resolution?</a:t>
            </a:r>
          </a:p>
          <a:p>
            <a:pPr>
              <a:spcAft>
                <a:spcPts val="900"/>
              </a:spcAft>
            </a:pPr>
            <a:r>
              <a:rPr sz="1450" b="0">
                <a:solidFill>
                  <a:srgbClr val="161B26"/>
                </a:solidFill>
                <a:latin typeface="Arial"/>
              </a:rPr>
              <a:t>•  Did you name the risks of overusing your preferred style?</a:t>
            </a:r>
          </a:p>
        </p:txBody>
      </p:sp>
      <p:sp>
        <p:nvSpPr>
          <p:cNvPr id="10" name="Rectangle 9"/>
          <p:cNvSpPr/>
          <p:nvPr/>
        </p:nvSpPr>
        <p:spPr>
          <a:xfrm>
            <a:off x="777240" y="4663440"/>
            <a:ext cx="10634472" cy="1371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4864608"/>
            <a:ext cx="10058400" cy="365760"/>
          </a:xfrm>
          <a:prstGeom prst="rect">
            <a:avLst/>
          </a:prstGeom>
          <a:noFill/>
        </p:spPr>
        <p:txBody>
          <a:bodyPr wrap="square" anchor="t">
            <a:spAutoFit/>
          </a:bodyPr>
          <a:lstStyle/>
          <a:p>
            <a:pPr algn="l">
              <a:spcAft>
                <a:spcPts val="400"/>
              </a:spcAft>
            </a:pPr>
            <a:r>
              <a:rPr sz="1500" b="1">
                <a:solidFill>
                  <a:srgbClr val="127A3E"/>
                </a:solidFill>
                <a:latin typeface="Arial"/>
              </a:rPr>
              <a:t>✓  Facilitator debrief check</a:t>
            </a:r>
          </a:p>
        </p:txBody>
      </p:sp>
      <p:sp>
        <p:nvSpPr>
          <p:cNvPr id="12" name="TextBox 11"/>
          <p:cNvSpPr txBox="1"/>
          <p:nvPr/>
        </p:nvSpPr>
        <p:spPr>
          <a:xfrm>
            <a:off x="1051560" y="5257800"/>
            <a:ext cx="10058400" cy="731520"/>
          </a:xfrm>
          <a:prstGeom prst="rect">
            <a:avLst/>
          </a:prstGeom>
          <a:noFill/>
        </p:spPr>
        <p:txBody>
          <a:bodyPr wrap="square" anchor="t">
            <a:spAutoFit/>
          </a:bodyPr>
          <a:lstStyle/>
          <a:p>
            <a:pPr algn="l">
              <a:spcAft>
                <a:spcPts val="400"/>
              </a:spcAft>
            </a:pPr>
            <a:r>
              <a:rPr sz="1300" b="0">
                <a:solidFill>
                  <a:srgbClr val="161B26"/>
                </a:solidFill>
                <a:latin typeface="Arial"/>
              </a:rPr>
              <a:t>The recommendation links each style choice to evidence about safety, stakes, relationship, power and time.</a:t>
            </a:r>
          </a:p>
        </p:txBody>
      </p:sp>
      <p:sp>
        <p:nvSpPr>
          <p:cNvPr id="13" name="TextBox 12"/>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4" name="TextBox 13"/>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5" name="TextBox 14"/>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50"/>
                                        <p:tgtEl>
                                          <p:spTgt spid="9"/>
                                        </p:tgtEl>
                                      </p:cBhvr>
                                    </p:animEffect>
                                    <p:anim calcmode="lin" valueType="num">
                                      <p:cBhvr additive="base">
                                        <p:cTn id="1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350"/>
                                        <p:tgtEl>
                                          <p:spTgt spid="10"/>
                                        </p:tgtEl>
                                      </p:cBhvr>
                                    </p:animEffect>
                                    <p:anim calcmode="lin" valueType="num">
                                      <p:cBhvr additive="base">
                                        <p:cTn id="2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350"/>
                                        <p:tgtEl>
                                          <p:spTgt spid="12"/>
                                        </p:tgtEl>
                                      </p:cBhvr>
                                    </p:animEffect>
                                    <p:anim calcmode="lin" valueType="num">
                                      <p:cBhvr additive="base">
                                        <p:cTn id="3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600" b="1">
                <a:solidFill>
                  <a:srgbClr val="10B981"/>
                </a:solidFill>
                <a:latin typeface="Arial"/>
              </a:rPr>
              <a:t>LO2 · Topic 2 · T2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3400" b="1">
                <a:solidFill>
                  <a:srgbClr val="161B26"/>
                </a:solidFill>
                <a:latin typeface="Arial"/>
              </a:rPr>
              <a:t>a structured mediation conversation</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T2</a:t>
            </a:r>
          </a:p>
        </p:txBody>
      </p:sp>
      <p:sp>
        <p:nvSpPr>
          <p:cNvPr id="8" name="TextBox 7"/>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9" name="TextBox 8"/>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0" name="TextBox 9"/>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fast" advClick="1">
    <p:push dir="u"/>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Topic 2 · T2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What is a structured mediation conversation?</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Neutral process</a:t>
            </a:r>
          </a:p>
          <a:p>
            <a:pPr algn="l">
              <a:spcAft>
                <a:spcPts val="300"/>
              </a:spcAft>
            </a:pPr>
            <a:r>
              <a:rPr sz="1200" b="0">
                <a:solidFill>
                  <a:srgbClr val="5B6372"/>
                </a:solidFill>
                <a:latin typeface="Arial"/>
              </a:rPr>
              <a:t>The mediator manages fairness and dialogue, not a preferred outcome.</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Validation</a:t>
            </a:r>
          </a:p>
          <a:p>
            <a:pPr algn="l">
              <a:spcAft>
                <a:spcPts val="300"/>
              </a:spcAft>
            </a:pPr>
            <a:r>
              <a:rPr sz="1200" b="0">
                <a:solidFill>
                  <a:srgbClr val="5B6372"/>
                </a:solidFill>
                <a:latin typeface="Arial"/>
              </a:rPr>
              <a:t>Recognise a person's experience without deciding that every claim is correct.</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Reframing</a:t>
            </a:r>
          </a:p>
          <a:p>
            <a:pPr algn="l">
              <a:spcAft>
                <a:spcPts val="300"/>
              </a:spcAft>
            </a:pPr>
            <a:r>
              <a:rPr sz="1200" b="0">
                <a:solidFill>
                  <a:srgbClr val="5B6372"/>
                </a:solidFill>
                <a:latin typeface="Arial"/>
              </a:rPr>
              <a:t>Translate blame and fixed positions into interests, impact and requests.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Agreement</a:t>
            </a:r>
          </a:p>
          <a:p>
            <a:pPr algn="l">
              <a:spcAft>
                <a:spcPts val="300"/>
              </a:spcAft>
            </a:pPr>
            <a:r>
              <a:rPr sz="1200" b="0">
                <a:solidFill>
                  <a:srgbClr val="5B6372"/>
                </a:solidFill>
                <a:latin typeface="Arial"/>
              </a:rPr>
              <a:t>Record specific behaviours, owners, timing, support and review.</a:t>
            </a:r>
          </a:p>
        </p:txBody>
      </p:sp>
      <p:sp>
        <p:nvSpPr>
          <p:cNvPr id="26" name="TextBox 2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7" name="TextBox 2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8" name="TextBox 2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
        <p:nvSpPr>
          <p:cNvPr id="29" name="TextBox 2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Sources: UC Berkeley Ombuds; Training Industry; Study.com</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Topic 2 · T2 · HOW IT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CLEAR Mediation Cycle</a:t>
            </a:r>
          </a:p>
        </p:txBody>
      </p:sp>
      <p:sp>
        <p:nvSpPr>
          <p:cNvPr id="6" name="Rectangle 5"/>
          <p:cNvSpPr/>
          <p:nvPr/>
        </p:nvSpPr>
        <p:spPr>
          <a:xfrm>
            <a:off x="777240"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01775"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01775"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05256"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Cool and check</a:t>
            </a:r>
          </a:p>
        </p:txBody>
      </p:sp>
      <p:sp>
        <p:nvSpPr>
          <p:cNvPr id="11" name="TextBox 10"/>
          <p:cNvSpPr txBox="1"/>
          <p:nvPr/>
        </p:nvSpPr>
        <p:spPr>
          <a:xfrm>
            <a:off x="905256"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Confirm readiness, safety, scope and confidentiality boundary.</a:t>
            </a:r>
          </a:p>
        </p:txBody>
      </p:sp>
      <p:sp>
        <p:nvSpPr>
          <p:cNvPr id="12" name="Chevron 11"/>
          <p:cNvSpPr/>
          <p:nvPr/>
        </p:nvSpPr>
        <p:spPr>
          <a:xfrm>
            <a:off x="2702966"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58998"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83533"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3533"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87014"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Listen</a:t>
            </a:r>
          </a:p>
        </p:txBody>
      </p:sp>
      <p:sp>
        <p:nvSpPr>
          <p:cNvPr id="18" name="TextBox 17"/>
          <p:cNvSpPr txBox="1"/>
          <p:nvPr/>
        </p:nvSpPr>
        <p:spPr>
          <a:xfrm>
            <a:off x="3087014"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Give equal uninterrupted time; paraphrase and clarify.</a:t>
            </a:r>
          </a:p>
        </p:txBody>
      </p:sp>
      <p:sp>
        <p:nvSpPr>
          <p:cNvPr id="19" name="Chevron 18"/>
          <p:cNvSpPr/>
          <p:nvPr/>
        </p:nvSpPr>
        <p:spPr>
          <a:xfrm>
            <a:off x="4884724"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765291"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65291"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68772"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Explore</a:t>
            </a:r>
          </a:p>
        </p:txBody>
      </p:sp>
      <p:sp>
        <p:nvSpPr>
          <p:cNvPr id="25" name="TextBox 24"/>
          <p:cNvSpPr txBox="1"/>
          <p:nvPr/>
        </p:nvSpPr>
        <p:spPr>
          <a:xfrm>
            <a:off x="5268772"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Surface impact, needs, common goals and root causes.</a:t>
            </a:r>
          </a:p>
        </p:txBody>
      </p:sp>
      <p:sp>
        <p:nvSpPr>
          <p:cNvPr id="26" name="Chevron 25"/>
          <p:cNvSpPr/>
          <p:nvPr/>
        </p:nvSpPr>
        <p:spPr>
          <a:xfrm>
            <a:off x="7066482"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2514"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22514"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947049"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47049"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50530"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Agree</a:t>
            </a:r>
          </a:p>
        </p:txBody>
      </p:sp>
      <p:sp>
        <p:nvSpPr>
          <p:cNvPr id="32" name="TextBox 31"/>
          <p:cNvSpPr txBox="1"/>
          <p:nvPr/>
        </p:nvSpPr>
        <p:spPr>
          <a:xfrm>
            <a:off x="7450530"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Generate options and reality-test fairness and feasibility.</a:t>
            </a:r>
          </a:p>
        </p:txBody>
      </p:sp>
      <p:sp>
        <p:nvSpPr>
          <p:cNvPr id="33" name="Chevron 32"/>
          <p:cNvSpPr/>
          <p:nvPr/>
        </p:nvSpPr>
        <p:spPr>
          <a:xfrm>
            <a:off x="9248240"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04272"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28807"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28807"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32288"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Record and review</a:t>
            </a:r>
          </a:p>
        </p:txBody>
      </p:sp>
      <p:sp>
        <p:nvSpPr>
          <p:cNvPr id="39" name="TextBox 38"/>
          <p:cNvSpPr txBox="1"/>
          <p:nvPr/>
        </p:nvSpPr>
        <p:spPr>
          <a:xfrm>
            <a:off x="9632288"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Document commitments and schedule follow-up.</a:t>
            </a:r>
          </a:p>
        </p:txBody>
      </p:sp>
      <p:sp>
        <p:nvSpPr>
          <p:cNvPr id="40" name="TextBox 39"/>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41" name="TextBox 40"/>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42" name="TextBox 41"/>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Topic 2 · T2 · COMPARE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Blame Language vs Reframing</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Escalating statement</a:t>
            </a:r>
          </a:p>
        </p:txBody>
      </p:sp>
      <p:sp>
        <p:nvSpPr>
          <p:cNvPr id="9" name="TextBox 8"/>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Mediator reframe</a:t>
            </a:r>
          </a:p>
        </p:txBody>
      </p:sp>
      <p:sp>
        <p:nvSpPr>
          <p:cNvPr id="10" name="TextBox 9"/>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Taylor shoots down everything I say.</a:t>
            </a:r>
          </a:p>
          <a:p>
            <a:pPr>
              <a:spcAft>
                <a:spcPts val="1000"/>
              </a:spcAft>
            </a:pPr>
            <a:r>
              <a:rPr sz="1600" b="0">
                <a:solidFill>
                  <a:srgbClr val="161B26"/>
                </a:solidFill>
                <a:latin typeface="Arial"/>
              </a:rPr>
              <a:t>•  Alex cannot take feedback.</a:t>
            </a:r>
          </a:p>
          <a:p>
            <a:pPr>
              <a:spcAft>
                <a:spcPts val="1000"/>
              </a:spcAft>
            </a:pPr>
            <a:r>
              <a:rPr sz="1600" b="0">
                <a:solidFill>
                  <a:srgbClr val="161B26"/>
                </a:solidFill>
                <a:latin typeface="Arial"/>
              </a:rPr>
              <a:t>•  This always happens.</a:t>
            </a:r>
          </a:p>
          <a:p>
            <a:pPr>
              <a:spcAft>
                <a:spcPts val="1000"/>
              </a:spcAft>
            </a:pPr>
            <a:r>
              <a:rPr sz="1600" b="0">
                <a:solidFill>
                  <a:srgbClr val="161B26"/>
                </a:solidFill>
                <a:latin typeface="Arial"/>
              </a:rPr>
              <a:t>•  I want an apology before we continue.</a:t>
            </a:r>
          </a:p>
        </p:txBody>
      </p:sp>
      <p:sp>
        <p:nvSpPr>
          <p:cNvPr id="11" name="TextBox 10"/>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You need space to finish ideas before critique begins.</a:t>
            </a:r>
          </a:p>
          <a:p>
            <a:pPr>
              <a:spcAft>
                <a:spcPts val="1000"/>
              </a:spcAft>
            </a:pPr>
            <a:r>
              <a:rPr sz="1600" b="0">
                <a:solidFill>
                  <a:srgbClr val="161B26"/>
                </a:solidFill>
                <a:latin typeface="Arial"/>
              </a:rPr>
              <a:t>•  You need feedback to be considered without defensiveness.</a:t>
            </a:r>
          </a:p>
          <a:p>
            <a:pPr>
              <a:spcAft>
                <a:spcPts val="1000"/>
              </a:spcAft>
            </a:pPr>
            <a:r>
              <a:rPr sz="1600" b="0">
                <a:solidFill>
                  <a:srgbClr val="161B26"/>
                </a:solidFill>
                <a:latin typeface="Arial"/>
              </a:rPr>
              <a:t>•  Let's identify the specific recent pattern and impact.</a:t>
            </a:r>
          </a:p>
          <a:p>
            <a:pPr>
              <a:spcAft>
                <a:spcPts val="1000"/>
              </a:spcAft>
            </a:pPr>
            <a:r>
              <a:rPr sz="1600" b="0">
                <a:solidFill>
                  <a:srgbClr val="161B26"/>
                </a:solidFill>
                <a:latin typeface="Arial"/>
              </a:rPr>
              <a:t>•  What acknowledgement and future behaviour would support repair?</a:t>
            </a:r>
          </a:p>
        </p:txBody>
      </p:sp>
      <p:sp>
        <p:nvSpPr>
          <p:cNvPr id="12" name="TextBox 11"/>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3" name="TextBox 12"/>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4" name="TextBox 13"/>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
        <p:nvSpPr>
          <p:cNvPr id="15" name="TextBox 14"/>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Sources: supplied active-listening, validation and non-defensive communication guidance</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350"/>
                                        <p:tgtEl>
                                          <p:spTgt spid="10"/>
                                        </p:tgtEl>
                                      </p:cBhvr>
                                    </p:animEffect>
                                    <p:anim calcmode="lin" valueType="num">
                                      <p:cBhvr additive="base">
                                        <p:cTn id="1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350"/>
                                        <p:tgtEl>
                                          <p:spTgt spid="11"/>
                                        </p:tgtEl>
                                      </p:cBhvr>
                                    </p:animEffect>
                                    <p:anim calcmode="lin" valueType="num">
                                      <p:cBhvr additive="base">
                                        <p:cTn id="2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Topic 2 · T2 · SUPPORTING DATA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Mediator Quality Markers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Equal voice</a:t>
            </a:r>
          </a:p>
          <a:p>
            <a:pPr algn="l">
              <a:spcAft>
                <a:spcPts val="300"/>
              </a:spcAft>
            </a:pPr>
            <a:r>
              <a:rPr sz="1200" b="0">
                <a:solidFill>
                  <a:srgbClr val="5B6372"/>
                </a:solidFill>
                <a:latin typeface="Arial"/>
              </a:rPr>
              <a:t>Comparable time, questions and opportunity to respond.</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Specificity</a:t>
            </a:r>
          </a:p>
          <a:p>
            <a:pPr algn="l">
              <a:spcAft>
                <a:spcPts val="300"/>
              </a:spcAft>
            </a:pPr>
            <a:r>
              <a:rPr sz="1200" b="0">
                <a:solidFill>
                  <a:srgbClr val="5B6372"/>
                </a:solidFill>
                <a:latin typeface="Arial"/>
              </a:rPr>
              <a:t>Behaviour, context and impact replace character labels.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Voluntary options</a:t>
            </a:r>
          </a:p>
          <a:p>
            <a:pPr algn="l">
              <a:spcAft>
                <a:spcPts val="300"/>
              </a:spcAft>
            </a:pPr>
            <a:r>
              <a:rPr sz="1200" b="0">
                <a:solidFill>
                  <a:srgbClr val="5B6372"/>
                </a:solidFill>
                <a:latin typeface="Arial"/>
              </a:rPr>
              <a:t>Parties generate and test choices within policy limits.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Durable follow-up</a:t>
            </a:r>
          </a:p>
          <a:p>
            <a:pPr algn="l">
              <a:spcAft>
                <a:spcPts val="300"/>
              </a:spcAft>
            </a:pPr>
            <a:r>
              <a:rPr sz="1200" b="0">
                <a:solidFill>
                  <a:srgbClr val="5B6372"/>
                </a:solidFill>
                <a:latin typeface="Arial"/>
              </a:rPr>
              <a:t>Commitments are observable, owned and reviewed.</a:t>
            </a:r>
          </a:p>
        </p:txBody>
      </p:sp>
      <p:sp>
        <p:nvSpPr>
          <p:cNvPr id="26" name="TextBox 2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7" name="TextBox 2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8" name="TextBox 2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
        <p:nvSpPr>
          <p:cNvPr id="29" name="TextBox 2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illustrative worked example</a:t>
            </a:r>
          </a:p>
        </p:txBody>
      </p:sp>
    </p:spTree>
  </p:cSld>
  <p:clrMapOvr>
    <a:masterClrMapping/>
  </p:clrMapOvr>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Topic 2 · T2 · REAL-WORLD EXAMPLE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Critique became personal before anyone named the process</a:t>
            </a:r>
          </a:p>
        </p:txBody>
      </p:sp>
      <p:sp>
        <p:nvSpPr>
          <p:cNvPr id="6" name="Rectangle 5"/>
          <p:cNvSpPr/>
          <p:nvPr/>
        </p:nvSpPr>
        <p:spPr>
          <a:xfrm>
            <a:off x="777240" y="1783080"/>
            <a:ext cx="10634472" cy="4206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28016" cy="42062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97280" y="2103120"/>
            <a:ext cx="2834640"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03120"/>
            <a:ext cx="2834640" cy="502920"/>
          </a:xfrm>
          <a:prstGeom prst="rect">
            <a:avLst/>
          </a:prstGeom>
          <a:noFill/>
        </p:spPr>
        <p:txBody>
          <a:bodyPr wrap="square" anchor="ctr">
            <a:spAutoFit/>
          </a:bodyPr>
          <a:lstStyle/>
          <a:p>
            <a:pPr algn="ctr">
              <a:spcAft>
                <a:spcPts val="400"/>
              </a:spcAft>
            </a:pPr>
            <a:r>
              <a:rPr sz="1300" b="1">
                <a:solidFill>
                  <a:srgbClr val="FFFFFF"/>
                </a:solidFill>
                <a:latin typeface="Arial"/>
              </a:rPr>
              <a:t>REAL-WORLD EXAMPLE</a:t>
            </a:r>
          </a:p>
        </p:txBody>
      </p:sp>
      <p:sp>
        <p:nvSpPr>
          <p:cNvPr id="10" name="TextBox 9"/>
          <p:cNvSpPr txBox="1"/>
          <p:nvPr/>
        </p:nvSpPr>
        <p:spPr>
          <a:xfrm>
            <a:off x="1097280" y="2880360"/>
            <a:ext cx="9966960" cy="640080"/>
          </a:xfrm>
          <a:prstGeom prst="rect">
            <a:avLst/>
          </a:prstGeom>
          <a:noFill/>
        </p:spPr>
        <p:txBody>
          <a:bodyPr wrap="square" anchor="t">
            <a:spAutoFit/>
          </a:bodyPr>
          <a:lstStyle/>
          <a:p>
            <a:pPr algn="l">
              <a:spcAft>
                <a:spcPts val="400"/>
              </a:spcAft>
            </a:pPr>
            <a:r>
              <a:rPr sz="2600" b="1">
                <a:solidFill>
                  <a:srgbClr val="161B26"/>
                </a:solidFill>
                <a:latin typeface="Arial"/>
              </a:rPr>
              <a:t>Mosaic Creative</a:t>
            </a:r>
          </a:p>
        </p:txBody>
      </p:sp>
      <p:sp>
        <p:nvSpPr>
          <p:cNvPr id="11" name="TextBox 10"/>
          <p:cNvSpPr txBox="1"/>
          <p:nvPr/>
        </p:nvSpPr>
        <p:spPr>
          <a:xfrm>
            <a:off x="1097280" y="3611880"/>
            <a:ext cx="9966960" cy="2194560"/>
          </a:xfrm>
          <a:prstGeom prst="rect">
            <a:avLst/>
          </a:prstGeom>
          <a:noFill/>
        </p:spPr>
        <p:txBody>
          <a:bodyPr wrap="square" anchor="t">
            <a:spAutoFit/>
          </a:bodyPr>
          <a:lstStyle/>
          <a:p>
            <a:pPr algn="l">
              <a:spcAft>
                <a:spcPts val="400"/>
              </a:spcAft>
            </a:pPr>
            <a:r>
              <a:rPr sz="1600" b="0">
                <a:solidFill>
                  <a:srgbClr val="5B6372"/>
                </a:solidFill>
                <a:latin typeface="Arial"/>
              </a:rPr>
              <a:t>Designer Alex needs uninterrupted time to present concepts; reviewer Taylor needs earlier risk testing. The mediator reframes the clash into a new critique protocol with time-boxes and a follow-up review.</a:t>
            </a:r>
          </a:p>
        </p:txBody>
      </p:sp>
      <p:sp>
        <p:nvSpPr>
          <p:cNvPr id="12" name="TextBox 11"/>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3" name="TextBox 12"/>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4" name="TextBox 13"/>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350"/>
                                        <p:tgtEl>
                                          <p:spTgt spid="10"/>
                                        </p:tgtEl>
                                      </p:cBhvr>
                                    </p:animEffect>
                                    <p:anim calcmode="lin" valueType="num">
                                      <p:cBhvr additive="base">
                                        <p:cTn id="3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350"/>
                                        <p:tgtEl>
                                          <p:spTgt spid="11"/>
                                        </p:tgtEl>
                                      </p:cBhvr>
                                    </p:animEffect>
                                    <p:anim calcmode="lin" valueType="num">
                                      <p:cBhvr additive="base">
                                        <p:cTn id="4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Topic 2 · T2 · ACTIVITY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Mediated Conversation at Mosaic Creative</a:t>
            </a:r>
          </a:p>
        </p:txBody>
      </p:sp>
      <p:sp>
        <p:nvSpPr>
          <p:cNvPr id="6" name="Rectangle 5"/>
          <p:cNvSpPr/>
          <p:nvPr/>
        </p:nvSpPr>
        <p:spPr>
          <a:xfrm>
            <a:off x="777240" y="1691640"/>
            <a:ext cx="16916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28216"/>
            <a:ext cx="1691640" cy="365760"/>
          </a:xfrm>
          <a:prstGeom prst="rect">
            <a:avLst/>
          </a:prstGeom>
          <a:noFill/>
        </p:spPr>
        <p:txBody>
          <a:bodyPr wrap="square" anchor="t">
            <a:spAutoFit/>
          </a:bodyPr>
          <a:lstStyle/>
          <a:p>
            <a:pPr algn="ctr">
              <a:spcAft>
                <a:spcPts val="400"/>
              </a:spcAft>
            </a:pPr>
            <a:r>
              <a:rPr sz="1300" b="1">
                <a:solidFill>
                  <a:srgbClr val="FFFFFF"/>
                </a:solidFill>
                <a:latin typeface="Arial"/>
              </a:rPr>
              <a:t>CASE STUDY</a:t>
            </a:r>
          </a:p>
        </p:txBody>
      </p:sp>
      <p:sp>
        <p:nvSpPr>
          <p:cNvPr id="8" name="Rectangle 7"/>
          <p:cNvSpPr/>
          <p:nvPr/>
        </p:nvSpPr>
        <p:spPr>
          <a:xfrm>
            <a:off x="777240" y="2286000"/>
            <a:ext cx="1063447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86000"/>
            <a:ext cx="91440" cy="2880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487168"/>
            <a:ext cx="9966960" cy="320040"/>
          </a:xfrm>
          <a:prstGeom prst="rect">
            <a:avLst/>
          </a:prstGeom>
          <a:noFill/>
        </p:spPr>
        <p:txBody>
          <a:bodyPr wrap="square" anchor="t">
            <a:spAutoFit/>
          </a:bodyPr>
          <a:lstStyle/>
          <a:p>
            <a:pPr algn="l">
              <a:spcAft>
                <a:spcPts val="400"/>
              </a:spcAft>
            </a:pPr>
            <a:r>
              <a:rPr sz="1200" b="1">
                <a:solidFill>
                  <a:srgbClr val="10B981"/>
                </a:solidFill>
                <a:latin typeface="Arial"/>
              </a:rPr>
              <a:t>THE SITUATION</a:t>
            </a:r>
          </a:p>
        </p:txBody>
      </p:sp>
      <p:sp>
        <p:nvSpPr>
          <p:cNvPr id="11" name="TextBox 10"/>
          <p:cNvSpPr txBox="1"/>
          <p:nvPr/>
        </p:nvSpPr>
        <p:spPr>
          <a:xfrm>
            <a:off x="1097280" y="2834640"/>
            <a:ext cx="10058400" cy="2240280"/>
          </a:xfrm>
          <a:prstGeom prst="rect">
            <a:avLst/>
          </a:prstGeom>
          <a:noFill/>
        </p:spPr>
        <p:txBody>
          <a:bodyPr wrap="square" anchor="t">
            <a:spAutoFit/>
          </a:bodyPr>
          <a:lstStyle/>
          <a:p>
            <a:pPr algn="l">
              <a:spcAft>
                <a:spcPts val="800"/>
              </a:spcAft>
            </a:pPr>
            <a:r>
              <a:rPr sz="1450" b="0">
                <a:solidFill>
                  <a:srgbClr val="161B26"/>
                </a:solidFill>
                <a:latin typeface="Arial"/>
              </a:rPr>
              <a:t>At Mosaic Creative, designer Alex says reviewer Taylor undermines ideas in client-preparation meetings by interrupting with risks. Taylor says Alex dismisses feedback and presents concepts too late for proper review.</a:t>
            </a:r>
          </a:p>
          <a:p>
            <a:pPr algn="l">
              <a:spcAft>
                <a:spcPts val="800"/>
              </a:spcAft>
            </a:pPr>
            <a:r>
              <a:rPr sz="1450" b="0">
                <a:solidFill>
                  <a:srgbClr val="161B26"/>
                </a:solidFill>
                <a:latin typeface="Arial"/>
              </a:rPr>
              <a:t>Their manager Jordan will mediate. The shared goal is to improve client work without silencing critique. The issue is appropriate for mediation: there is no current allegation of harassment, discrimination or threat, and both parties agree to participate.</a:t>
            </a:r>
          </a:p>
        </p:txBody>
      </p:sp>
      <p:sp>
        <p:nvSpPr>
          <p:cNvPr id="12" name="Rectangle 11"/>
          <p:cNvSpPr/>
          <p:nvPr/>
        </p:nvSpPr>
        <p:spPr>
          <a:xfrm>
            <a:off x="777240" y="5349240"/>
            <a:ext cx="10634472"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5349240"/>
            <a:ext cx="7315200" cy="685800"/>
          </a:xfrm>
          <a:prstGeom prst="rect">
            <a:avLst/>
          </a:prstGeom>
          <a:noFill/>
        </p:spPr>
        <p:txBody>
          <a:bodyPr wrap="square" anchor="ctr">
            <a:spAutoFit/>
          </a:bodyPr>
          <a:lstStyle/>
          <a:p>
            <a:pPr algn="l">
              <a:spcAft>
                <a:spcPts val="400"/>
              </a:spcAft>
            </a:pPr>
            <a:r>
              <a:rPr sz="1300" b="1">
                <a:solidFill>
                  <a:srgbClr val="1F6FEB"/>
                </a:solidFill>
                <a:latin typeface="Arial"/>
              </a:rPr>
              <a:t>You'll produce:  </a:t>
            </a:r>
            <a:r>
              <a:rPr sz="1300" b="0">
                <a:solidFill>
                  <a:srgbClr val="161B26"/>
                </a:solidFill>
                <a:latin typeface="Arial"/>
              </a:rPr>
              <a:t>A recorded mediation role play, observer checklist and written resolution agreement</a:t>
            </a:r>
          </a:p>
        </p:txBody>
      </p:sp>
      <p:sp>
        <p:nvSpPr>
          <p:cNvPr id="14" name="TextBox 13"/>
          <p:cNvSpPr txBox="1"/>
          <p:nvPr/>
        </p:nvSpPr>
        <p:spPr>
          <a:xfrm>
            <a:off x="8778240" y="5349240"/>
            <a:ext cx="2606040" cy="685800"/>
          </a:xfrm>
          <a:prstGeom prst="rect">
            <a:avLst/>
          </a:prstGeom>
          <a:noFill/>
        </p:spPr>
        <p:txBody>
          <a:bodyPr wrap="square" anchor="ctr">
            <a:spAutoFit/>
          </a:bodyPr>
          <a:lstStyle/>
          <a:p>
            <a:pPr algn="r">
              <a:spcAft>
                <a:spcPts val="400"/>
              </a:spcAft>
            </a:pPr>
            <a:r>
              <a:rPr sz="1300" b="1">
                <a:solidFill>
                  <a:srgbClr val="5B6372"/>
                </a:solidFill>
                <a:latin typeface="Arial"/>
              </a:rPr>
              <a:t>Duration: </a:t>
            </a:r>
            <a:r>
              <a:rPr sz="1300" b="0">
                <a:solidFill>
                  <a:srgbClr val="5B6372"/>
                </a:solidFill>
                <a:latin typeface="Arial"/>
              </a:rPr>
              <a:t>60 minutes</a:t>
            </a:r>
          </a:p>
        </p:txBody>
      </p:sp>
      <p:sp>
        <p:nvSpPr>
          <p:cNvPr id="15" name="TextBox 14"/>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6" name="TextBox 15"/>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7" name="TextBox 16"/>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50"/>
                                        <p:tgtEl>
                                          <p:spTgt spid="11"/>
                                        </p:tgtEl>
                                      </p:cBhvr>
                                    </p:animEffect>
                                    <p:anim calcmode="lin" valueType="num">
                                      <p:cBhvr additive="base">
                                        <p:cTn id="3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50"/>
                                        <p:tgtEl>
                                          <p:spTgt spid="12"/>
                                        </p:tgtEl>
                                      </p:cBhvr>
                                    </p:animEffect>
                                    <p:anim calcmode="lin" valueType="num">
                                      <p:cBhvr additive="base">
                                        <p:cTn id="4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par>
                    <p:cTn id="50" fill="hold">
                      <p:stCondLst>
                        <p:cond delay="0"/>
                      </p:stCondLst>
                      <p:childTnLst>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350"/>
                                        <p:tgtEl>
                                          <p:spTgt spid="13"/>
                                        </p:tgtEl>
                                      </p:cBhvr>
                                    </p:animEffect>
                                    <p:anim calcmode="lin" valueType="num">
                                      <p:cBhvr additive="base">
                                        <p:cTn id="55" dur="350" fill="hold"/>
                                        <p:tgtEl>
                                          <p:spTgt spid="13"/>
                                        </p:tgtEl>
                                        <p:attrNameLst>
                                          <p:attrName>ppt_y</p:attrName>
                                        </p:attrNameLst>
                                      </p:cBhvr>
                                      <p:tavLst>
                                        <p:tav tm="0">
                                          <p:val>
                                            <p:strVal val="#ppt_y+0.0350"/>
                                          </p:val>
                                        </p:tav>
                                        <p:tav tm="100000">
                                          <p:val>
                                            <p:strVal val="#ppt_y"/>
                                          </p:val>
                                        </p:tav>
                                      </p:tavLst>
                                    </p:anim>
                                  </p:childTnLst>
                                </p:cTn>
                              </p:par>
                            </p:childTnLst>
                          </p:cTn>
                        </p:par>
                      </p:childTnLst>
                    </p:cTn>
                  </p:par>
                  <p:par>
                    <p:cTn id="60" fill="hold">
                      <p:stCondLst>
                        <p:cond delay="0"/>
                      </p:stCondLst>
                      <p:childTnLst>
                        <p:par>
                          <p:cTn id="61" fill="hold">
                            <p:stCondLst>
                              <p:cond delay="0"/>
                            </p:stCondLst>
                            <p:childTnLst>
                              <p:par>
                                <p:cTn id="62" presetID="10" presetClass="entr" presetSubtype="0"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350"/>
                                        <p:tgtEl>
                                          <p:spTgt spid="14"/>
                                        </p:tgtEl>
                                      </p:cBhvr>
                                    </p:animEffect>
                                    <p:anim calcmode="lin" valueType="num">
                                      <p:cBhvr additive="base">
                                        <p:cTn id="65" dur="350" fill="hold"/>
                                        <p:tgtEl>
                                          <p:spTgt spid="14"/>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Topic 2 · T2 · ACTIVITY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Mediated Conversation at Mosaic Creative</a:t>
            </a:r>
          </a:p>
        </p:txBody>
      </p:sp>
      <p:sp>
        <p:nvSpPr>
          <p:cNvPr id="6" name="TextBox 5"/>
          <p:cNvSpPr txBox="1"/>
          <p:nvPr/>
        </p:nvSpPr>
        <p:spPr>
          <a:xfrm>
            <a:off x="777240" y="1719072"/>
            <a:ext cx="8229600" cy="365760"/>
          </a:xfrm>
          <a:prstGeom prst="rect">
            <a:avLst/>
          </a:prstGeom>
          <a:noFill/>
        </p:spPr>
        <p:txBody>
          <a:bodyPr wrap="square" anchor="t">
            <a:spAutoFit/>
          </a:bodyPr>
          <a:lstStyle/>
          <a:p>
            <a:pPr algn="l">
              <a:spcAft>
                <a:spcPts val="400"/>
              </a:spcAft>
            </a:pPr>
            <a:r>
              <a:rPr sz="1300" b="1">
                <a:solidFill>
                  <a:srgbClr val="5B6372"/>
                </a:solidFill>
                <a:latin typeface="Arial"/>
              </a:rPr>
              <a:t>DISCUSSION &amp; DECISION PROMPTS</a:t>
            </a:r>
          </a:p>
        </p:txBody>
      </p:sp>
      <p:sp>
        <p:nvSpPr>
          <p:cNvPr id="7" name="Rectangle 6"/>
          <p:cNvSpPr/>
          <p:nvPr/>
        </p:nvSpPr>
        <p:spPr>
          <a:xfrm>
            <a:off x="777240" y="2148840"/>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78408" y="233400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334006"/>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37360" y="2148840"/>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opening establishes purpose, neutrality and limits of confidentiality?</a:t>
            </a:r>
          </a:p>
        </p:txBody>
      </p:sp>
      <p:sp>
        <p:nvSpPr>
          <p:cNvPr id="12" name="Rectangle 11"/>
          <p:cNvSpPr/>
          <p:nvPr/>
        </p:nvSpPr>
        <p:spPr>
          <a:xfrm>
            <a:off x="777240" y="3168396"/>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8396"/>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78408" y="3353562"/>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3353562"/>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37360" y="3168396"/>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How will Jordan validate each perspective without taking sides?</a:t>
            </a:r>
          </a:p>
        </p:txBody>
      </p:sp>
      <p:sp>
        <p:nvSpPr>
          <p:cNvPr id="17" name="Rectangle 16"/>
          <p:cNvSpPr/>
          <p:nvPr/>
        </p:nvSpPr>
        <p:spPr>
          <a:xfrm>
            <a:off x="777240" y="4187952"/>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87952"/>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78408" y="4373118"/>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373118"/>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37360" y="4187952"/>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Which shared interests can move the dialogue beyond positions?</a:t>
            </a:r>
          </a:p>
        </p:txBody>
      </p:sp>
      <p:sp>
        <p:nvSpPr>
          <p:cNvPr id="22" name="Rectangle 21"/>
          <p:cNvSpPr/>
          <p:nvPr/>
        </p:nvSpPr>
        <p:spPr>
          <a:xfrm>
            <a:off x="777240" y="5207508"/>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07508"/>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78408" y="5392674"/>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392674"/>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37360" y="5207508"/>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specific agreement would change the next design review?</a:t>
            </a:r>
          </a:p>
        </p:txBody>
      </p:sp>
      <p:sp>
        <p:nvSpPr>
          <p:cNvPr id="27" name="TextBox 26"/>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8" name="TextBox 27"/>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9" name="TextBox 28"/>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fast" advClick="1">
    <p:wipe dir="l"/>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Topic 2 · T2 · ACTIVITY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Mediated Conversation at Mosaic Creative</a:t>
            </a:r>
          </a:p>
        </p:txBody>
      </p:sp>
      <p:sp>
        <p:nvSpPr>
          <p:cNvPr id="6" name="Rectangle 5"/>
          <p:cNvSpPr/>
          <p:nvPr/>
        </p:nvSpPr>
        <p:spPr>
          <a:xfrm>
            <a:off x="777240" y="1783080"/>
            <a:ext cx="10634472" cy="2651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6517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965960"/>
            <a:ext cx="10058400" cy="365760"/>
          </a:xfrm>
          <a:prstGeom prst="rect">
            <a:avLst/>
          </a:prstGeom>
          <a:noFill/>
        </p:spPr>
        <p:txBody>
          <a:bodyPr wrap="square" anchor="t">
            <a:spAutoFit/>
          </a:bodyPr>
          <a:lstStyle/>
          <a:p>
            <a:pPr algn="l">
              <a:spcAft>
                <a:spcPts val="400"/>
              </a:spcAft>
            </a:pPr>
            <a:r>
              <a:rPr sz="1300" b="1">
                <a:solidFill>
                  <a:srgbClr val="7C3AED"/>
                </a:solidFill>
                <a:latin typeface="Arial"/>
              </a:rPr>
              <a:t>REFLECT &amp; DISCUSS</a:t>
            </a:r>
          </a:p>
        </p:txBody>
      </p:sp>
      <p:sp>
        <p:nvSpPr>
          <p:cNvPr id="9" name="TextBox 8"/>
          <p:cNvSpPr txBox="1"/>
          <p:nvPr/>
        </p:nvSpPr>
        <p:spPr>
          <a:xfrm>
            <a:off x="1051560" y="2377440"/>
            <a:ext cx="10058400" cy="1920240"/>
          </a:xfrm>
          <a:prstGeom prst="rect">
            <a:avLst/>
          </a:prstGeom>
          <a:noFill/>
        </p:spPr>
        <p:txBody>
          <a:bodyPr wrap="square">
            <a:spAutoFit/>
          </a:bodyPr>
          <a:lstStyle/>
          <a:p>
            <a:pPr>
              <a:spcAft>
                <a:spcPts val="900"/>
              </a:spcAft>
            </a:pPr>
            <a:r>
              <a:rPr sz="1450" b="0">
                <a:solidFill>
                  <a:srgbClr val="161B26"/>
                </a:solidFill>
                <a:latin typeface="Arial"/>
              </a:rPr>
              <a:t>•  Did the mediator speak less than the parties and use balanced summaries?</a:t>
            </a:r>
          </a:p>
          <a:p>
            <a:pPr>
              <a:spcAft>
                <a:spcPts val="900"/>
              </a:spcAft>
            </a:pPr>
            <a:r>
              <a:rPr sz="1450" b="0">
                <a:solidFill>
                  <a:srgbClr val="161B26"/>
                </a:solidFill>
                <a:latin typeface="Arial"/>
              </a:rPr>
              <a:t>•  Did the agreement contain behaviours, owner, date and follow-up evidence?</a:t>
            </a:r>
          </a:p>
        </p:txBody>
      </p:sp>
      <p:sp>
        <p:nvSpPr>
          <p:cNvPr id="10" name="Rectangle 9"/>
          <p:cNvSpPr/>
          <p:nvPr/>
        </p:nvSpPr>
        <p:spPr>
          <a:xfrm>
            <a:off x="777240" y="4663440"/>
            <a:ext cx="10634472" cy="1371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4864608"/>
            <a:ext cx="10058400" cy="365760"/>
          </a:xfrm>
          <a:prstGeom prst="rect">
            <a:avLst/>
          </a:prstGeom>
          <a:noFill/>
        </p:spPr>
        <p:txBody>
          <a:bodyPr wrap="square" anchor="t">
            <a:spAutoFit/>
          </a:bodyPr>
          <a:lstStyle/>
          <a:p>
            <a:pPr algn="l">
              <a:spcAft>
                <a:spcPts val="400"/>
              </a:spcAft>
            </a:pPr>
            <a:r>
              <a:rPr sz="1500" b="1">
                <a:solidFill>
                  <a:srgbClr val="127A3E"/>
                </a:solidFill>
                <a:latin typeface="Arial"/>
              </a:rPr>
              <a:t>✓  Facilitator debrief check</a:t>
            </a:r>
          </a:p>
        </p:txBody>
      </p:sp>
      <p:sp>
        <p:nvSpPr>
          <p:cNvPr id="12" name="TextBox 11"/>
          <p:cNvSpPr txBox="1"/>
          <p:nvPr/>
        </p:nvSpPr>
        <p:spPr>
          <a:xfrm>
            <a:off x="1051560" y="5257800"/>
            <a:ext cx="10058400" cy="731520"/>
          </a:xfrm>
          <a:prstGeom prst="rect">
            <a:avLst/>
          </a:prstGeom>
          <a:noFill/>
        </p:spPr>
        <p:txBody>
          <a:bodyPr wrap="square" anchor="t">
            <a:spAutoFit/>
          </a:bodyPr>
          <a:lstStyle/>
          <a:p>
            <a:pPr algn="l">
              <a:spcAft>
                <a:spcPts val="400"/>
              </a:spcAft>
            </a:pPr>
            <a:r>
              <a:rPr sz="1300" b="0">
                <a:solidFill>
                  <a:srgbClr val="161B26"/>
                </a:solidFill>
                <a:latin typeface="Arial"/>
              </a:rPr>
              <a:t>The role play completes the CLEAR cycle and produces a balanced, observable and reviewable agreement.</a:t>
            </a:r>
          </a:p>
        </p:txBody>
      </p:sp>
      <p:sp>
        <p:nvSpPr>
          <p:cNvPr id="13" name="TextBox 12"/>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4" name="TextBox 13"/>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5" name="TextBox 14"/>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50"/>
                                        <p:tgtEl>
                                          <p:spTgt spid="9"/>
                                        </p:tgtEl>
                                      </p:cBhvr>
                                    </p:animEffect>
                                    <p:anim calcmode="lin" valueType="num">
                                      <p:cBhvr additive="base">
                                        <p:cTn id="1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350"/>
                                        <p:tgtEl>
                                          <p:spTgt spid="10"/>
                                        </p:tgtEl>
                                      </p:cBhvr>
                                    </p:animEffect>
                                    <p:anim calcmode="lin" valueType="num">
                                      <p:cBhvr additive="base">
                                        <p:cTn id="2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350"/>
                                        <p:tgtEl>
                                          <p:spTgt spid="12"/>
                                        </p:tgtEl>
                                      </p:cBhvr>
                                    </p:animEffect>
                                    <p:anim calcmode="lin" valueType="num">
                                      <p:cBhvr additive="base">
                                        <p:cTn id="3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600" b="1">
                <a:solidFill>
                  <a:srgbClr val="10B981"/>
                </a:solidFill>
                <a:latin typeface="Arial"/>
              </a:rPr>
              <a:t>LO2 · Topic 2 · T3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3400" b="1">
                <a:solidFill>
                  <a:srgbClr val="161B26"/>
                </a:solidFill>
                <a:latin typeface="Arial"/>
              </a:rPr>
              <a:t>an interest-based workplace negotiation</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T3</a:t>
            </a:r>
          </a:p>
        </p:txBody>
      </p:sp>
      <p:sp>
        <p:nvSpPr>
          <p:cNvPr id="8" name="TextBox 7"/>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9" name="TextBox 8"/>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0" name="TextBox 9"/>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fast" advClick="1">
    <p:push dir="u"/>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Topic 2 · T3</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What is an interest-based workplace negotiation?</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Position</a:t>
            </a:r>
          </a:p>
          <a:p>
            <a:pPr algn="l">
              <a:spcAft>
                <a:spcPts val="300"/>
              </a:spcAft>
            </a:pPr>
            <a:r>
              <a:rPr sz="1200" b="0">
                <a:solidFill>
                  <a:srgbClr val="5B6372"/>
                </a:solidFill>
                <a:latin typeface="Arial"/>
              </a:rPr>
              <a:t>The stated demand: what a party says it wants.</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Interest</a:t>
            </a:r>
          </a:p>
          <a:p>
            <a:pPr algn="l">
              <a:spcAft>
                <a:spcPts val="300"/>
              </a:spcAft>
            </a:pPr>
            <a:r>
              <a:rPr sz="1200" b="0">
                <a:solidFill>
                  <a:srgbClr val="5B6372"/>
                </a:solidFill>
                <a:latin typeface="Arial"/>
              </a:rPr>
              <a:t>The reason underneath: safety, fairness, recognition, time or control.</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Option</a:t>
            </a:r>
          </a:p>
          <a:p>
            <a:pPr algn="l">
              <a:spcAft>
                <a:spcPts val="300"/>
              </a:spcAft>
            </a:pPr>
            <a:r>
              <a:rPr sz="1200" b="0">
                <a:solidFill>
                  <a:srgbClr val="5B6372"/>
                </a:solidFill>
                <a:latin typeface="Arial"/>
              </a:rPr>
              <a:t>A possible package that addresses more than one interest.</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Criterion</a:t>
            </a:r>
          </a:p>
          <a:p>
            <a:pPr algn="l">
              <a:spcAft>
                <a:spcPts val="300"/>
              </a:spcAft>
            </a:pPr>
            <a:r>
              <a:rPr sz="1200" b="0">
                <a:solidFill>
                  <a:srgbClr val="5B6372"/>
                </a:solidFill>
                <a:latin typeface="Arial"/>
              </a:rPr>
              <a:t>An external standard, data point or policy used to evaluate fairness.</a:t>
            </a:r>
          </a:p>
        </p:txBody>
      </p:sp>
      <p:sp>
        <p:nvSpPr>
          <p:cNvPr id="26" name="TextBox 2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7" name="TextBox 2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8" name="TextBox 2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
        <p:nvSpPr>
          <p:cNvPr id="29" name="TextBox 2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Sources: Harvard Program on Negotiation; Coursera; Indeed</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Topic 2 · T3 · HOW IT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Interest-Based Negotiation</a:t>
            </a:r>
          </a:p>
        </p:txBody>
      </p:sp>
      <p:sp>
        <p:nvSpPr>
          <p:cNvPr id="6" name="Rectangle 5"/>
          <p:cNvSpPr/>
          <p:nvPr/>
        </p:nvSpPr>
        <p:spPr>
          <a:xfrm>
            <a:off x="777240"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01775"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01775"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05256"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Prepare</a:t>
            </a:r>
          </a:p>
        </p:txBody>
      </p:sp>
      <p:sp>
        <p:nvSpPr>
          <p:cNvPr id="11" name="TextBox 10"/>
          <p:cNvSpPr txBox="1"/>
          <p:nvPr/>
        </p:nvSpPr>
        <p:spPr>
          <a:xfrm>
            <a:off x="905256"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List interests, evidence, authority, alternatives and non-negotiables.</a:t>
            </a:r>
          </a:p>
        </p:txBody>
      </p:sp>
      <p:sp>
        <p:nvSpPr>
          <p:cNvPr id="12" name="Chevron 11"/>
          <p:cNvSpPr/>
          <p:nvPr/>
        </p:nvSpPr>
        <p:spPr>
          <a:xfrm>
            <a:off x="2702966"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58998"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83533"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3533"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87014"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Open</a:t>
            </a:r>
          </a:p>
        </p:txBody>
      </p:sp>
      <p:sp>
        <p:nvSpPr>
          <p:cNvPr id="18" name="TextBox 17"/>
          <p:cNvSpPr txBox="1"/>
          <p:nvPr/>
        </p:nvSpPr>
        <p:spPr>
          <a:xfrm>
            <a:off x="3087014"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State common goal, issue and respectful process.</a:t>
            </a:r>
          </a:p>
        </p:txBody>
      </p:sp>
      <p:sp>
        <p:nvSpPr>
          <p:cNvPr id="19" name="Chevron 18"/>
          <p:cNvSpPr/>
          <p:nvPr/>
        </p:nvSpPr>
        <p:spPr>
          <a:xfrm>
            <a:off x="4884724"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765291"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65291"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68772"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Explore</a:t>
            </a:r>
          </a:p>
        </p:txBody>
      </p:sp>
      <p:sp>
        <p:nvSpPr>
          <p:cNvPr id="25" name="TextBox 24"/>
          <p:cNvSpPr txBox="1"/>
          <p:nvPr/>
        </p:nvSpPr>
        <p:spPr>
          <a:xfrm>
            <a:off x="5268772"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Ask and summarise before proposing.</a:t>
            </a:r>
          </a:p>
        </p:txBody>
      </p:sp>
      <p:sp>
        <p:nvSpPr>
          <p:cNvPr id="26" name="Chevron 25"/>
          <p:cNvSpPr/>
          <p:nvPr/>
        </p:nvSpPr>
        <p:spPr>
          <a:xfrm>
            <a:off x="7066482"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2514"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22514"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947049"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47049"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50530"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Create</a:t>
            </a:r>
          </a:p>
        </p:txBody>
      </p:sp>
      <p:sp>
        <p:nvSpPr>
          <p:cNvPr id="32" name="TextBox 31"/>
          <p:cNvSpPr txBox="1"/>
          <p:nvPr/>
        </p:nvSpPr>
        <p:spPr>
          <a:xfrm>
            <a:off x="7450530"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Build packages and trade across differing priorities.</a:t>
            </a:r>
          </a:p>
        </p:txBody>
      </p:sp>
      <p:sp>
        <p:nvSpPr>
          <p:cNvPr id="33" name="Chevron 32"/>
          <p:cNvSpPr/>
          <p:nvPr/>
        </p:nvSpPr>
        <p:spPr>
          <a:xfrm>
            <a:off x="9248240"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04272"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28807"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28807"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32288"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Close</a:t>
            </a:r>
          </a:p>
        </p:txBody>
      </p:sp>
      <p:sp>
        <p:nvSpPr>
          <p:cNvPr id="39" name="TextBox 38"/>
          <p:cNvSpPr txBox="1"/>
          <p:nvPr/>
        </p:nvSpPr>
        <p:spPr>
          <a:xfrm>
            <a:off x="9632288"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Reality-test, document and plan review.</a:t>
            </a:r>
          </a:p>
        </p:txBody>
      </p:sp>
      <p:sp>
        <p:nvSpPr>
          <p:cNvPr id="40" name="TextBox 39"/>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41" name="TextBox 40"/>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42" name="TextBox 41"/>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fast"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Topic 2 · T3 · COMPARE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Position Bargaining vs Interest-Based Dialogue</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Position bargaining</a:t>
            </a:r>
          </a:p>
        </p:txBody>
      </p:sp>
      <p:sp>
        <p:nvSpPr>
          <p:cNvPr id="9" name="TextBox 8"/>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Interest-based dialogue</a:t>
            </a:r>
          </a:p>
        </p:txBody>
      </p:sp>
      <p:sp>
        <p:nvSpPr>
          <p:cNvPr id="10" name="TextBox 9"/>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We need two more nurses—non-negotiable.</a:t>
            </a:r>
          </a:p>
          <a:p>
            <a:pPr>
              <a:spcAft>
                <a:spcPts val="1000"/>
              </a:spcAft>
            </a:pPr>
            <a:r>
              <a:rPr sz="1600" b="0">
                <a:solidFill>
                  <a:srgbClr val="161B26"/>
                </a:solidFill>
                <a:latin typeface="Arial"/>
              </a:rPr>
              <a:t>•  Your team must cover weekends.</a:t>
            </a:r>
          </a:p>
          <a:p>
            <a:pPr>
              <a:spcAft>
                <a:spcPts val="1000"/>
              </a:spcAft>
            </a:pPr>
            <a:r>
              <a:rPr sz="1600" b="0">
                <a:solidFill>
                  <a:srgbClr val="161B26"/>
                </a:solidFill>
                <a:latin typeface="Arial"/>
              </a:rPr>
              <a:t>•  Split everything 50/50.</a:t>
            </a:r>
          </a:p>
          <a:p>
            <a:pPr>
              <a:spcAft>
                <a:spcPts val="1000"/>
              </a:spcAft>
            </a:pPr>
            <a:r>
              <a:rPr sz="1600" b="0">
                <a:solidFill>
                  <a:srgbClr val="161B26"/>
                </a:solidFill>
                <a:latin typeface="Arial"/>
              </a:rPr>
              <a:t>•  Agree now or I escalate.</a:t>
            </a:r>
          </a:p>
        </p:txBody>
      </p:sp>
      <p:sp>
        <p:nvSpPr>
          <p:cNvPr id="11" name="TextBox 10"/>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Which patient-safety and workload needs are driving the request?</a:t>
            </a:r>
          </a:p>
          <a:p>
            <a:pPr>
              <a:spcAft>
                <a:spcPts val="1000"/>
              </a:spcAft>
            </a:pPr>
            <a:r>
              <a:rPr sz="1600" b="0">
                <a:solidFill>
                  <a:srgbClr val="161B26"/>
                </a:solidFill>
                <a:latin typeface="Arial"/>
              </a:rPr>
              <a:t>•  What coverage pattern protects both continuity and staff recovery?</a:t>
            </a:r>
          </a:p>
          <a:p>
            <a:pPr>
              <a:spcAft>
                <a:spcPts val="1000"/>
              </a:spcAft>
            </a:pPr>
            <a:r>
              <a:rPr sz="1600" b="0">
                <a:solidFill>
                  <a:srgbClr val="161B26"/>
                </a:solidFill>
                <a:latin typeface="Arial"/>
              </a:rPr>
              <a:t>•  Which criteria make the distribution fair for different shift demands?</a:t>
            </a:r>
          </a:p>
          <a:p>
            <a:pPr>
              <a:spcAft>
                <a:spcPts val="1000"/>
              </a:spcAft>
            </a:pPr>
            <a:r>
              <a:rPr sz="1600" b="0">
                <a:solidFill>
                  <a:srgbClr val="161B26"/>
                </a:solidFill>
                <a:latin typeface="Arial"/>
              </a:rPr>
              <a:t>•  What is within our authority, and what requires approval?</a:t>
            </a:r>
          </a:p>
        </p:txBody>
      </p:sp>
      <p:sp>
        <p:nvSpPr>
          <p:cNvPr id="12" name="TextBox 11"/>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3" name="TextBox 12"/>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4" name="TextBox 13"/>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
        <p:nvSpPr>
          <p:cNvPr id="15" name="TextBox 14"/>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interest-based negotiation synthesis from Harvard PON guidance</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350"/>
                                        <p:tgtEl>
                                          <p:spTgt spid="10"/>
                                        </p:tgtEl>
                                      </p:cBhvr>
                                    </p:animEffect>
                                    <p:anim calcmode="lin" valueType="num">
                                      <p:cBhvr additive="base">
                                        <p:cTn id="1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350"/>
                                        <p:tgtEl>
                                          <p:spTgt spid="11"/>
                                        </p:tgtEl>
                                      </p:cBhvr>
                                    </p:animEffect>
                                    <p:anim calcmode="lin" valueType="num">
                                      <p:cBhvr additive="base">
                                        <p:cTn id="2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Topic 2 · T3 · SUPPORTING DATA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Objective Criteria for the Clinic Rota</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Patient demand</a:t>
            </a:r>
          </a:p>
          <a:p>
            <a:pPr algn="l">
              <a:spcAft>
                <a:spcPts val="300"/>
              </a:spcAft>
            </a:pPr>
            <a:r>
              <a:rPr sz="1200" b="0">
                <a:solidFill>
                  <a:srgbClr val="5B6372"/>
                </a:solidFill>
                <a:latin typeface="Arial"/>
              </a:rPr>
              <a:t>Appointments, acuity and peak-time risk.</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Workload</a:t>
            </a:r>
          </a:p>
          <a:p>
            <a:pPr algn="l">
              <a:spcAft>
                <a:spcPts val="300"/>
              </a:spcAft>
            </a:pPr>
            <a:r>
              <a:rPr sz="1200" b="0">
                <a:solidFill>
                  <a:srgbClr val="5B6372"/>
                </a:solidFill>
                <a:latin typeface="Arial"/>
              </a:rPr>
              <a:t>Hours, complexity, recovery time and overtime.</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Capability</a:t>
            </a:r>
          </a:p>
          <a:p>
            <a:pPr algn="l">
              <a:spcAft>
                <a:spcPts val="300"/>
              </a:spcAft>
            </a:pPr>
            <a:r>
              <a:rPr sz="1200" b="0">
                <a:solidFill>
                  <a:srgbClr val="5B6372"/>
                </a:solidFill>
                <a:latin typeface="Arial"/>
              </a:rPr>
              <a:t>Required skills and safe coverage mix.</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Fairness</a:t>
            </a:r>
          </a:p>
          <a:p>
            <a:pPr algn="l">
              <a:spcAft>
                <a:spcPts val="300"/>
              </a:spcAft>
            </a:pPr>
            <a:r>
              <a:rPr sz="1200" b="0">
                <a:solidFill>
                  <a:srgbClr val="5B6372"/>
                </a:solidFill>
                <a:latin typeface="Arial"/>
              </a:rPr>
              <a:t>Rotation history, constraints and transparent exceptions.</a:t>
            </a:r>
          </a:p>
        </p:txBody>
      </p:sp>
      <p:sp>
        <p:nvSpPr>
          <p:cNvPr id="26" name="TextBox 2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7" name="TextBox 2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8" name="TextBox 2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
        <p:nvSpPr>
          <p:cNvPr id="29" name="TextBox 2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illustrative worked example</a:t>
            </a:r>
          </a:p>
        </p:txBody>
      </p:sp>
    </p:spTree>
  </p:cSld>
  <p:clrMapOvr>
    <a:masterClrMapping/>
  </p:clrMapOvr>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Topic 2 · T3 · ACTIVITY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Interest-Based Negotiation at CarePoint Clinics</a:t>
            </a:r>
          </a:p>
        </p:txBody>
      </p:sp>
      <p:sp>
        <p:nvSpPr>
          <p:cNvPr id="6" name="Rectangle 5"/>
          <p:cNvSpPr/>
          <p:nvPr/>
        </p:nvSpPr>
        <p:spPr>
          <a:xfrm>
            <a:off x="777240" y="1691640"/>
            <a:ext cx="16916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28216"/>
            <a:ext cx="1691640" cy="365760"/>
          </a:xfrm>
          <a:prstGeom prst="rect">
            <a:avLst/>
          </a:prstGeom>
          <a:noFill/>
        </p:spPr>
        <p:txBody>
          <a:bodyPr wrap="square" anchor="t">
            <a:spAutoFit/>
          </a:bodyPr>
          <a:lstStyle/>
          <a:p>
            <a:pPr algn="ctr">
              <a:spcAft>
                <a:spcPts val="400"/>
              </a:spcAft>
            </a:pPr>
            <a:r>
              <a:rPr sz="1300" b="1">
                <a:solidFill>
                  <a:srgbClr val="FFFFFF"/>
                </a:solidFill>
                <a:latin typeface="Arial"/>
              </a:rPr>
              <a:t>CASE STUDY</a:t>
            </a:r>
          </a:p>
        </p:txBody>
      </p:sp>
      <p:sp>
        <p:nvSpPr>
          <p:cNvPr id="8" name="Rectangle 7"/>
          <p:cNvSpPr/>
          <p:nvPr/>
        </p:nvSpPr>
        <p:spPr>
          <a:xfrm>
            <a:off x="777240" y="2286000"/>
            <a:ext cx="1063447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86000"/>
            <a:ext cx="91440" cy="2880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487168"/>
            <a:ext cx="9966960" cy="320040"/>
          </a:xfrm>
          <a:prstGeom prst="rect">
            <a:avLst/>
          </a:prstGeom>
          <a:noFill/>
        </p:spPr>
        <p:txBody>
          <a:bodyPr wrap="square" anchor="t">
            <a:spAutoFit/>
          </a:bodyPr>
          <a:lstStyle/>
          <a:p>
            <a:pPr algn="l">
              <a:spcAft>
                <a:spcPts val="400"/>
              </a:spcAft>
            </a:pPr>
            <a:r>
              <a:rPr sz="1200" b="1">
                <a:solidFill>
                  <a:srgbClr val="10B981"/>
                </a:solidFill>
                <a:latin typeface="Arial"/>
              </a:rPr>
              <a:t>THE SITUATION</a:t>
            </a:r>
          </a:p>
        </p:txBody>
      </p:sp>
      <p:sp>
        <p:nvSpPr>
          <p:cNvPr id="11" name="TextBox 10"/>
          <p:cNvSpPr txBox="1"/>
          <p:nvPr/>
        </p:nvSpPr>
        <p:spPr>
          <a:xfrm>
            <a:off x="1097280" y="2834640"/>
            <a:ext cx="10058400" cy="2240280"/>
          </a:xfrm>
          <a:prstGeom prst="rect">
            <a:avLst/>
          </a:prstGeom>
          <a:noFill/>
        </p:spPr>
        <p:txBody>
          <a:bodyPr wrap="square" anchor="t">
            <a:spAutoFit/>
          </a:bodyPr>
          <a:lstStyle/>
          <a:p>
            <a:pPr algn="l">
              <a:spcAft>
                <a:spcPts val="800"/>
              </a:spcAft>
            </a:pPr>
            <a:r>
              <a:rPr sz="1450" b="0">
                <a:solidFill>
                  <a:srgbClr val="161B26"/>
                </a:solidFill>
                <a:latin typeface="Arial"/>
              </a:rPr>
              <a:t>CarePoint Clinics must cover three Saturday vaccination sessions during a seasonal surge. Nurse lead Mei wants two extra staff at each session; operations lead Arjun says the overtime ceiling permits only one.</a:t>
            </a:r>
          </a:p>
          <a:p>
            <a:pPr algn="l">
              <a:spcAft>
                <a:spcPts val="800"/>
              </a:spcAft>
            </a:pPr>
            <a:r>
              <a:rPr sz="1450" b="0">
                <a:solidFill>
                  <a:srgbClr val="161B26"/>
                </a:solidFill>
                <a:latin typeface="Arial"/>
              </a:rPr>
              <a:t>Both need safe patient care and sustainable staffing. Each receives private interests and tradeable options, then negotiates a package using demand data, skill coverage, overtime limits and rotation history.</a:t>
            </a:r>
          </a:p>
        </p:txBody>
      </p:sp>
      <p:sp>
        <p:nvSpPr>
          <p:cNvPr id="12" name="Rectangle 11"/>
          <p:cNvSpPr/>
          <p:nvPr/>
        </p:nvSpPr>
        <p:spPr>
          <a:xfrm>
            <a:off x="777240" y="5349240"/>
            <a:ext cx="10634472"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5349240"/>
            <a:ext cx="7315200" cy="685800"/>
          </a:xfrm>
          <a:prstGeom prst="rect">
            <a:avLst/>
          </a:prstGeom>
          <a:noFill/>
        </p:spPr>
        <p:txBody>
          <a:bodyPr wrap="square" anchor="ctr">
            <a:spAutoFit/>
          </a:bodyPr>
          <a:lstStyle/>
          <a:p>
            <a:pPr algn="l">
              <a:spcAft>
                <a:spcPts val="400"/>
              </a:spcAft>
            </a:pPr>
            <a:r>
              <a:rPr sz="1300" b="1">
                <a:solidFill>
                  <a:srgbClr val="1F6FEB"/>
                </a:solidFill>
                <a:latin typeface="Arial"/>
              </a:rPr>
              <a:t>You'll produce:  </a:t>
            </a:r>
            <a:r>
              <a:rPr sz="1300" b="0">
                <a:solidFill>
                  <a:srgbClr val="161B26"/>
                </a:solidFill>
                <a:latin typeface="Arial"/>
              </a:rPr>
              <a:t>A negotiation preparation sheet, observed role play and signed implementation record</a:t>
            </a:r>
          </a:p>
        </p:txBody>
      </p:sp>
      <p:sp>
        <p:nvSpPr>
          <p:cNvPr id="14" name="TextBox 13"/>
          <p:cNvSpPr txBox="1"/>
          <p:nvPr/>
        </p:nvSpPr>
        <p:spPr>
          <a:xfrm>
            <a:off x="8778240" y="5349240"/>
            <a:ext cx="2606040" cy="685800"/>
          </a:xfrm>
          <a:prstGeom prst="rect">
            <a:avLst/>
          </a:prstGeom>
          <a:noFill/>
        </p:spPr>
        <p:txBody>
          <a:bodyPr wrap="square" anchor="ctr">
            <a:spAutoFit/>
          </a:bodyPr>
          <a:lstStyle/>
          <a:p>
            <a:pPr algn="r">
              <a:spcAft>
                <a:spcPts val="400"/>
              </a:spcAft>
            </a:pPr>
            <a:r>
              <a:rPr sz="1300" b="1">
                <a:solidFill>
                  <a:srgbClr val="5B6372"/>
                </a:solidFill>
                <a:latin typeface="Arial"/>
              </a:rPr>
              <a:t>Duration: </a:t>
            </a:r>
            <a:r>
              <a:rPr sz="1300" b="0">
                <a:solidFill>
                  <a:srgbClr val="5B6372"/>
                </a:solidFill>
                <a:latin typeface="Arial"/>
              </a:rPr>
              <a:t>60 minutes</a:t>
            </a:r>
          </a:p>
        </p:txBody>
      </p:sp>
      <p:sp>
        <p:nvSpPr>
          <p:cNvPr id="15" name="TextBox 14"/>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6" name="TextBox 15"/>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7" name="TextBox 16"/>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50"/>
                                        <p:tgtEl>
                                          <p:spTgt spid="11"/>
                                        </p:tgtEl>
                                      </p:cBhvr>
                                    </p:animEffect>
                                    <p:anim calcmode="lin" valueType="num">
                                      <p:cBhvr additive="base">
                                        <p:cTn id="3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50"/>
                                        <p:tgtEl>
                                          <p:spTgt spid="12"/>
                                        </p:tgtEl>
                                      </p:cBhvr>
                                    </p:animEffect>
                                    <p:anim calcmode="lin" valueType="num">
                                      <p:cBhvr additive="base">
                                        <p:cTn id="4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par>
                    <p:cTn id="50" fill="hold">
                      <p:stCondLst>
                        <p:cond delay="0"/>
                      </p:stCondLst>
                      <p:childTnLst>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350"/>
                                        <p:tgtEl>
                                          <p:spTgt spid="13"/>
                                        </p:tgtEl>
                                      </p:cBhvr>
                                    </p:animEffect>
                                    <p:anim calcmode="lin" valueType="num">
                                      <p:cBhvr additive="base">
                                        <p:cTn id="55" dur="350" fill="hold"/>
                                        <p:tgtEl>
                                          <p:spTgt spid="13"/>
                                        </p:tgtEl>
                                        <p:attrNameLst>
                                          <p:attrName>ppt_y</p:attrName>
                                        </p:attrNameLst>
                                      </p:cBhvr>
                                      <p:tavLst>
                                        <p:tav tm="0">
                                          <p:val>
                                            <p:strVal val="#ppt_y+0.0350"/>
                                          </p:val>
                                        </p:tav>
                                        <p:tav tm="100000">
                                          <p:val>
                                            <p:strVal val="#ppt_y"/>
                                          </p:val>
                                        </p:tav>
                                      </p:tavLst>
                                    </p:anim>
                                  </p:childTnLst>
                                </p:cTn>
                              </p:par>
                            </p:childTnLst>
                          </p:cTn>
                        </p:par>
                      </p:childTnLst>
                    </p:cTn>
                  </p:par>
                  <p:par>
                    <p:cTn id="60" fill="hold">
                      <p:stCondLst>
                        <p:cond delay="0"/>
                      </p:stCondLst>
                      <p:childTnLst>
                        <p:par>
                          <p:cTn id="61" fill="hold">
                            <p:stCondLst>
                              <p:cond delay="0"/>
                            </p:stCondLst>
                            <p:childTnLst>
                              <p:par>
                                <p:cTn id="62" presetID="10" presetClass="entr" presetSubtype="0"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350"/>
                                        <p:tgtEl>
                                          <p:spTgt spid="14"/>
                                        </p:tgtEl>
                                      </p:cBhvr>
                                    </p:animEffect>
                                    <p:anim calcmode="lin" valueType="num">
                                      <p:cBhvr additive="base">
                                        <p:cTn id="65" dur="350" fill="hold"/>
                                        <p:tgtEl>
                                          <p:spTgt spid="14"/>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Topic 2 · T3 · ACTIVITY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Interest-Based Negotiation at CarePoint Clinics</a:t>
            </a:r>
          </a:p>
        </p:txBody>
      </p:sp>
      <p:sp>
        <p:nvSpPr>
          <p:cNvPr id="6" name="TextBox 5"/>
          <p:cNvSpPr txBox="1"/>
          <p:nvPr/>
        </p:nvSpPr>
        <p:spPr>
          <a:xfrm>
            <a:off x="777240" y="1719072"/>
            <a:ext cx="8229600" cy="365760"/>
          </a:xfrm>
          <a:prstGeom prst="rect">
            <a:avLst/>
          </a:prstGeom>
          <a:noFill/>
        </p:spPr>
        <p:txBody>
          <a:bodyPr wrap="square" anchor="t">
            <a:spAutoFit/>
          </a:bodyPr>
          <a:lstStyle/>
          <a:p>
            <a:pPr algn="l">
              <a:spcAft>
                <a:spcPts val="400"/>
              </a:spcAft>
            </a:pPr>
            <a:r>
              <a:rPr sz="1300" b="1">
                <a:solidFill>
                  <a:srgbClr val="5B6372"/>
                </a:solidFill>
                <a:latin typeface="Arial"/>
              </a:rPr>
              <a:t>DISCUSSION &amp; DECISION PROMPTS</a:t>
            </a:r>
          </a:p>
        </p:txBody>
      </p:sp>
      <p:sp>
        <p:nvSpPr>
          <p:cNvPr id="7" name="Rectangle 6"/>
          <p:cNvSpPr/>
          <p:nvPr/>
        </p:nvSpPr>
        <p:spPr>
          <a:xfrm>
            <a:off x="777240" y="2148840"/>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78408" y="233400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334006"/>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37360" y="2148840"/>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are each party's positions, interests, constraints and alternatives?</a:t>
            </a:r>
          </a:p>
        </p:txBody>
      </p:sp>
      <p:sp>
        <p:nvSpPr>
          <p:cNvPr id="12" name="Rectangle 11"/>
          <p:cNvSpPr/>
          <p:nvPr/>
        </p:nvSpPr>
        <p:spPr>
          <a:xfrm>
            <a:off x="777240" y="3168396"/>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8396"/>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78408" y="3353562"/>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3353562"/>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37360" y="3168396"/>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Which objective criteria should guide a fair rota?</a:t>
            </a:r>
          </a:p>
        </p:txBody>
      </p:sp>
      <p:sp>
        <p:nvSpPr>
          <p:cNvPr id="17" name="Rectangle 16"/>
          <p:cNvSpPr/>
          <p:nvPr/>
        </p:nvSpPr>
        <p:spPr>
          <a:xfrm>
            <a:off x="777240" y="4187952"/>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87952"/>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78408" y="4373118"/>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373118"/>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37360" y="4187952"/>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package trades across time, skill mix, session design and budget?</a:t>
            </a:r>
          </a:p>
        </p:txBody>
      </p:sp>
      <p:sp>
        <p:nvSpPr>
          <p:cNvPr id="22" name="Rectangle 21"/>
          <p:cNvSpPr/>
          <p:nvPr/>
        </p:nvSpPr>
        <p:spPr>
          <a:xfrm>
            <a:off x="777240" y="5207508"/>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07508"/>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78408" y="5392674"/>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392674"/>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37360" y="5207508"/>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must be recorded so implementation does not create a new conflict?</a:t>
            </a:r>
          </a:p>
        </p:txBody>
      </p:sp>
      <p:sp>
        <p:nvSpPr>
          <p:cNvPr id="27" name="TextBox 26"/>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8" name="TextBox 27"/>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9" name="TextBox 28"/>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fast" advClick="1">
    <p:wipe dir="l"/>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Topic 2 · T3 · ACTIVITY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Interest-Based Negotiation at CarePoint Clinics</a:t>
            </a:r>
          </a:p>
        </p:txBody>
      </p:sp>
      <p:sp>
        <p:nvSpPr>
          <p:cNvPr id="6" name="Rectangle 5"/>
          <p:cNvSpPr/>
          <p:nvPr/>
        </p:nvSpPr>
        <p:spPr>
          <a:xfrm>
            <a:off x="777240" y="1783080"/>
            <a:ext cx="10634472" cy="2651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6517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965960"/>
            <a:ext cx="10058400" cy="365760"/>
          </a:xfrm>
          <a:prstGeom prst="rect">
            <a:avLst/>
          </a:prstGeom>
          <a:noFill/>
        </p:spPr>
        <p:txBody>
          <a:bodyPr wrap="square" anchor="t">
            <a:spAutoFit/>
          </a:bodyPr>
          <a:lstStyle/>
          <a:p>
            <a:pPr algn="l">
              <a:spcAft>
                <a:spcPts val="400"/>
              </a:spcAft>
            </a:pPr>
            <a:r>
              <a:rPr sz="1300" b="1">
                <a:solidFill>
                  <a:srgbClr val="7C3AED"/>
                </a:solidFill>
                <a:latin typeface="Arial"/>
              </a:rPr>
              <a:t>REFLECT &amp; DISCUSS</a:t>
            </a:r>
          </a:p>
        </p:txBody>
      </p:sp>
      <p:sp>
        <p:nvSpPr>
          <p:cNvPr id="9" name="TextBox 8"/>
          <p:cNvSpPr txBox="1"/>
          <p:nvPr/>
        </p:nvSpPr>
        <p:spPr>
          <a:xfrm>
            <a:off x="1051560" y="2377440"/>
            <a:ext cx="10058400" cy="1920240"/>
          </a:xfrm>
          <a:prstGeom prst="rect">
            <a:avLst/>
          </a:prstGeom>
          <a:noFill/>
        </p:spPr>
        <p:txBody>
          <a:bodyPr wrap="square">
            <a:spAutoFit/>
          </a:bodyPr>
          <a:lstStyle/>
          <a:p>
            <a:pPr>
              <a:spcAft>
                <a:spcPts val="900"/>
              </a:spcAft>
            </a:pPr>
            <a:r>
              <a:rPr sz="1450" b="0">
                <a:solidFill>
                  <a:srgbClr val="161B26"/>
                </a:solidFill>
                <a:latin typeface="Arial"/>
              </a:rPr>
              <a:t>•  Did the parties ask enough questions before exchanging proposals?</a:t>
            </a:r>
          </a:p>
          <a:p>
            <a:pPr>
              <a:spcAft>
                <a:spcPts val="900"/>
              </a:spcAft>
            </a:pPr>
            <a:r>
              <a:rPr sz="1450" b="0">
                <a:solidFill>
                  <a:srgbClr val="161B26"/>
                </a:solidFill>
                <a:latin typeface="Arial"/>
              </a:rPr>
              <a:t>•  Did the final package meet safety and authority boundaries?</a:t>
            </a:r>
          </a:p>
        </p:txBody>
      </p:sp>
      <p:sp>
        <p:nvSpPr>
          <p:cNvPr id="10" name="Rectangle 9"/>
          <p:cNvSpPr/>
          <p:nvPr/>
        </p:nvSpPr>
        <p:spPr>
          <a:xfrm>
            <a:off x="777240" y="4663440"/>
            <a:ext cx="10634472" cy="1371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4864608"/>
            <a:ext cx="10058400" cy="365760"/>
          </a:xfrm>
          <a:prstGeom prst="rect">
            <a:avLst/>
          </a:prstGeom>
          <a:noFill/>
        </p:spPr>
        <p:txBody>
          <a:bodyPr wrap="square" anchor="t">
            <a:spAutoFit/>
          </a:bodyPr>
          <a:lstStyle/>
          <a:p>
            <a:pPr algn="l">
              <a:spcAft>
                <a:spcPts val="400"/>
              </a:spcAft>
            </a:pPr>
            <a:r>
              <a:rPr sz="1500" b="1">
                <a:solidFill>
                  <a:srgbClr val="127A3E"/>
                </a:solidFill>
                <a:latin typeface="Arial"/>
              </a:rPr>
              <a:t>✓  Facilitator debrief check</a:t>
            </a:r>
          </a:p>
        </p:txBody>
      </p:sp>
      <p:sp>
        <p:nvSpPr>
          <p:cNvPr id="12" name="TextBox 11"/>
          <p:cNvSpPr txBox="1"/>
          <p:nvPr/>
        </p:nvSpPr>
        <p:spPr>
          <a:xfrm>
            <a:off x="1051560" y="5257800"/>
            <a:ext cx="10058400" cy="731520"/>
          </a:xfrm>
          <a:prstGeom prst="rect">
            <a:avLst/>
          </a:prstGeom>
          <a:noFill/>
        </p:spPr>
        <p:txBody>
          <a:bodyPr wrap="square" anchor="t">
            <a:spAutoFit/>
          </a:bodyPr>
          <a:lstStyle/>
          <a:p>
            <a:pPr algn="l">
              <a:spcAft>
                <a:spcPts val="400"/>
              </a:spcAft>
            </a:pPr>
            <a:r>
              <a:rPr sz="1300" b="0">
                <a:solidFill>
                  <a:srgbClr val="161B26"/>
                </a:solidFill>
                <a:latin typeface="Arial"/>
              </a:rPr>
              <a:t>The agreement explains interests, criteria, trade-offs, owners, escalation conditions and review date.</a:t>
            </a:r>
          </a:p>
        </p:txBody>
      </p:sp>
      <p:sp>
        <p:nvSpPr>
          <p:cNvPr id="13" name="TextBox 12"/>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4" name="TextBox 13"/>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5" name="TextBox 14"/>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50"/>
                                        <p:tgtEl>
                                          <p:spTgt spid="9"/>
                                        </p:tgtEl>
                                      </p:cBhvr>
                                    </p:animEffect>
                                    <p:anim calcmode="lin" valueType="num">
                                      <p:cBhvr additive="base">
                                        <p:cTn id="1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350"/>
                                        <p:tgtEl>
                                          <p:spTgt spid="10"/>
                                        </p:tgtEl>
                                      </p:cBhvr>
                                    </p:animEffect>
                                    <p:anim calcmode="lin" valueType="num">
                                      <p:cBhvr additive="base">
                                        <p:cTn id="2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350"/>
                                        <p:tgtEl>
                                          <p:spTgt spid="12"/>
                                        </p:tgtEl>
                                      </p:cBhvr>
                                    </p:animEffect>
                                    <p:anim calcmode="lin" valueType="num">
                                      <p:cBhvr additive="base">
                                        <p:cTn id="3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Recap — Conflict Resolution Strategies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Conflict Style Choice Clinic at BrightWorks Digital</a:t>
            </a:r>
          </a:p>
          <a:p>
            <a:pPr algn="l">
              <a:spcAft>
                <a:spcPts val="300"/>
              </a:spcAft>
            </a:pPr>
            <a:r>
              <a:rPr sz="1200" b="0">
                <a:solidFill>
                  <a:srgbClr val="5B6372"/>
                </a:solidFill>
                <a:latin typeface="Arial"/>
              </a:rPr>
              <a:t>You can now: select and justify a conflict style based on stakes, urgency, relationship and power.</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Mediated Conversation at Mosaic Creative</a:t>
            </a:r>
          </a:p>
          <a:p>
            <a:pPr algn="l">
              <a:spcAft>
                <a:spcPts val="300"/>
              </a:spcAft>
            </a:pPr>
            <a:r>
              <a:rPr sz="1200" b="0">
                <a:solidFill>
                  <a:srgbClr val="5B6372"/>
                </a:solidFill>
                <a:latin typeface="Arial"/>
              </a:rPr>
              <a:t>You can now: conduct a sensitive mediated conversation using active listening, validation and option generation.</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Interest-Based Negotiation at CarePoint Clinics</a:t>
            </a:r>
          </a:p>
          <a:p>
            <a:pPr algn="l">
              <a:spcAft>
                <a:spcPts val="300"/>
              </a:spcAft>
            </a:pPr>
            <a:r>
              <a:rPr sz="1200" b="0">
                <a:solidFill>
                  <a:srgbClr val="5B6372"/>
                </a:solidFill>
                <a:latin typeface="Arial"/>
              </a:rPr>
              <a:t>You can now: negotiate workload and service priorities using interests, options and objective criteria.</a:t>
            </a:r>
          </a:p>
        </p:txBody>
      </p:sp>
      <p:sp>
        <p:nvSpPr>
          <p:cNvPr id="21" name="TextBox 20"/>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2" name="TextBox 21"/>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3" name="TextBox 22"/>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Topic 2 · WHY IT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best strategy fits the stakes, urgency, relationship and power—not habit.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Pause, listen for interests, generate options, agree actions and record follow-up.</a:t>
            </a:r>
          </a:p>
        </p:txBody>
      </p:sp>
      <p:sp>
        <p:nvSpPr>
          <p:cNvPr id="7" name="TextBox 6"/>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8" name="TextBox 7"/>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9" name="TextBox 8"/>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fast" advClick="1">
    <p:zoom/>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Managing Team Conflicts in the Workplace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Leader accountability · Team norms · Policy · Fair process · Coaching · Productive disagreement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Topic 3</a:t>
            </a:r>
          </a:p>
        </p:txBody>
      </p:sp>
      <p:sp>
        <p:nvSpPr>
          <p:cNvPr id="9" name="TextBox 8"/>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0" name="TextBox 9"/>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1" name="TextBox 10"/>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350"/>
                                        <p:tgtEl>
                                          <p:spTgt spid="7"/>
                                        </p:tgtEl>
                                      </p:cBhvr>
                                    </p:animEffect>
                                    <p:anim calcmode="lin" valueType="num">
                                      <p:cBhvr additive="base">
                                        <p:cTn id="45" dur="350" fill="hold"/>
                                        <p:tgtEl>
                                          <p:spTgt spid="7"/>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KEY CONCEPTS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Key Concepts — Managing Team Conflicts in the Workplace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Leaders set conditions for productive disagreement through clear roles, decision rights, behavioural norms, open channels and timely intervention.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Task conflict can improve decisions when psychological safety and shared goals are strong; relationship conflict and personal attacks usually erode collaboration.</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A fair process gives each person notice, equal opportunity to speak, neutral fact-finding, confidentiality on a need-to-know basis and a documented outcome.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Organisational policies determine reporting, investigation, support, mediation, discipline, appeal, record-keeping and escalation responsibilities.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0" name="TextBox 29"/>
          <p:cNvSpPr txBox="1"/>
          <p:nvPr/>
        </p:nvSpPr>
        <p:spPr>
          <a:xfrm>
            <a:off x="1764792"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Conflict coaching helps team members notice patterns, reframe assumptions, choose a conversation strategy, practise language and commit to observable behaviour.</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5" name="TextBox 34"/>
          <p:cNvSpPr txBox="1"/>
          <p:nvPr/>
        </p:nvSpPr>
        <p:spPr>
          <a:xfrm>
            <a:off x="7219188"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Managers must avoid retaliation, favoritism, forced reconciliation, premature promises of secrecy and informal handling of matters that require specialist or formal action.</a:t>
            </a:r>
          </a:p>
        </p:txBody>
      </p:sp>
      <p:sp>
        <p:nvSpPr>
          <p:cNvPr id="36" name="TextBox 3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37" name="TextBox 3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38" name="TextBox 3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LEADERSHIP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Leaders shape the conditions around conflict</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A leader is accountable for both the conversation and the work system.</a:t>
            </a:r>
          </a:p>
        </p:txBody>
      </p:sp>
      <p:sp>
        <p:nvSpPr>
          <p:cNvPr id="7" name="Rectangle 6"/>
          <p:cNvSpPr/>
          <p:nvPr/>
        </p:nvSpPr>
        <p:spPr>
          <a:xfrm>
            <a:off x="777240" y="2057400"/>
            <a:ext cx="5180076" cy="19156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57400"/>
            <a:ext cx="91440" cy="19156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221992"/>
            <a:ext cx="4677156" cy="365760"/>
          </a:xfrm>
          <a:prstGeom prst="rect">
            <a:avLst/>
          </a:prstGeom>
          <a:noFill/>
        </p:spPr>
        <p:txBody>
          <a:bodyPr wrap="square" anchor="t">
            <a:spAutoFit/>
          </a:bodyPr>
          <a:lstStyle/>
          <a:p>
            <a:pPr algn="l">
              <a:spcAft>
                <a:spcPts val="400"/>
              </a:spcAft>
            </a:pPr>
            <a:r>
              <a:rPr sz="1600" b="1">
                <a:solidFill>
                  <a:srgbClr val="1F6FEB"/>
                </a:solidFill>
                <a:latin typeface="Arial"/>
              </a:rPr>
              <a:t>Model</a:t>
            </a:r>
          </a:p>
        </p:txBody>
      </p:sp>
      <p:sp>
        <p:nvSpPr>
          <p:cNvPr id="10" name="TextBox 9"/>
          <p:cNvSpPr txBox="1"/>
          <p:nvPr/>
        </p:nvSpPr>
        <p:spPr>
          <a:xfrm>
            <a:off x="1051560" y="2624328"/>
            <a:ext cx="4677156" cy="1229868"/>
          </a:xfrm>
          <a:prstGeom prst="rect">
            <a:avLst/>
          </a:prstGeom>
          <a:noFill/>
        </p:spPr>
        <p:txBody>
          <a:bodyPr wrap="square" anchor="t">
            <a:spAutoFit/>
          </a:bodyPr>
          <a:lstStyle/>
          <a:p>
            <a:pPr algn="l">
              <a:spcAft>
                <a:spcPts val="400"/>
              </a:spcAft>
            </a:pPr>
            <a:r>
              <a:rPr sz="1200" b="0">
                <a:solidFill>
                  <a:srgbClr val="161B26"/>
                </a:solidFill>
                <a:latin typeface="Arial"/>
              </a:rPr>
              <a:t>Regulate emotion, use neutral language, invite dissent and avoid public blame.</a:t>
            </a:r>
          </a:p>
        </p:txBody>
      </p:sp>
      <p:sp>
        <p:nvSpPr>
          <p:cNvPr id="11" name="Rectangle 10"/>
          <p:cNvSpPr/>
          <p:nvPr/>
        </p:nvSpPr>
        <p:spPr>
          <a:xfrm>
            <a:off x="6231636" y="2057400"/>
            <a:ext cx="5180076" cy="19156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2057400"/>
            <a:ext cx="91440" cy="19156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05956" y="2221992"/>
            <a:ext cx="4677156" cy="365760"/>
          </a:xfrm>
          <a:prstGeom prst="rect">
            <a:avLst/>
          </a:prstGeom>
          <a:noFill/>
        </p:spPr>
        <p:txBody>
          <a:bodyPr wrap="square" anchor="t">
            <a:spAutoFit/>
          </a:bodyPr>
          <a:lstStyle/>
          <a:p>
            <a:pPr algn="l">
              <a:spcAft>
                <a:spcPts val="400"/>
              </a:spcAft>
            </a:pPr>
            <a:r>
              <a:rPr sz="1600" b="1">
                <a:solidFill>
                  <a:srgbClr val="10B981"/>
                </a:solidFill>
                <a:latin typeface="Arial"/>
              </a:rPr>
              <a:t>Clarify</a:t>
            </a:r>
          </a:p>
        </p:txBody>
      </p:sp>
      <p:sp>
        <p:nvSpPr>
          <p:cNvPr id="14" name="TextBox 13"/>
          <p:cNvSpPr txBox="1"/>
          <p:nvPr/>
        </p:nvSpPr>
        <p:spPr>
          <a:xfrm>
            <a:off x="6505956" y="2624328"/>
            <a:ext cx="4677156" cy="1229868"/>
          </a:xfrm>
          <a:prstGeom prst="rect">
            <a:avLst/>
          </a:prstGeom>
          <a:noFill/>
        </p:spPr>
        <p:txBody>
          <a:bodyPr wrap="square" anchor="t">
            <a:spAutoFit/>
          </a:bodyPr>
          <a:lstStyle/>
          <a:p>
            <a:pPr algn="l">
              <a:spcAft>
                <a:spcPts val="400"/>
              </a:spcAft>
            </a:pPr>
            <a:r>
              <a:rPr sz="1200" b="0">
                <a:solidFill>
                  <a:srgbClr val="161B26"/>
                </a:solidFill>
                <a:latin typeface="Arial"/>
              </a:rPr>
              <a:t>Set goals, roles, decision rights, handoffs and behavioural expectations.</a:t>
            </a:r>
          </a:p>
        </p:txBody>
      </p:sp>
      <p:sp>
        <p:nvSpPr>
          <p:cNvPr id="15" name="Rectangle 14"/>
          <p:cNvSpPr/>
          <p:nvPr/>
        </p:nvSpPr>
        <p:spPr>
          <a:xfrm>
            <a:off x="777240" y="4210812"/>
            <a:ext cx="5180076" cy="19156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210812"/>
            <a:ext cx="91440" cy="19156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375404"/>
            <a:ext cx="4677156" cy="365760"/>
          </a:xfrm>
          <a:prstGeom prst="rect">
            <a:avLst/>
          </a:prstGeom>
          <a:noFill/>
        </p:spPr>
        <p:txBody>
          <a:bodyPr wrap="square" anchor="t">
            <a:spAutoFit/>
          </a:bodyPr>
          <a:lstStyle/>
          <a:p>
            <a:pPr algn="l">
              <a:spcAft>
                <a:spcPts val="400"/>
              </a:spcAft>
            </a:pPr>
            <a:r>
              <a:rPr sz="1600" b="1">
                <a:solidFill>
                  <a:srgbClr val="7C3AED"/>
                </a:solidFill>
                <a:latin typeface="Arial"/>
              </a:rPr>
              <a:t>Intervene</a:t>
            </a:r>
          </a:p>
        </p:txBody>
      </p:sp>
      <p:sp>
        <p:nvSpPr>
          <p:cNvPr id="18" name="TextBox 17"/>
          <p:cNvSpPr txBox="1"/>
          <p:nvPr/>
        </p:nvSpPr>
        <p:spPr>
          <a:xfrm>
            <a:off x="1051560" y="4777740"/>
            <a:ext cx="4677156" cy="1229868"/>
          </a:xfrm>
          <a:prstGeom prst="rect">
            <a:avLst/>
          </a:prstGeom>
          <a:noFill/>
        </p:spPr>
        <p:txBody>
          <a:bodyPr wrap="square" anchor="t">
            <a:spAutoFit/>
          </a:bodyPr>
          <a:lstStyle/>
          <a:p>
            <a:pPr algn="l">
              <a:spcAft>
                <a:spcPts val="400"/>
              </a:spcAft>
            </a:pPr>
            <a:r>
              <a:rPr sz="1200" b="0">
                <a:solidFill>
                  <a:srgbClr val="161B26"/>
                </a:solidFill>
                <a:latin typeface="Arial"/>
              </a:rPr>
              <a:t>Respond early, protect voice and choose coaching, facilitation or formal escalation appropriately.</a:t>
            </a:r>
          </a:p>
        </p:txBody>
      </p:sp>
      <p:sp>
        <p:nvSpPr>
          <p:cNvPr id="19" name="Rectangle 18"/>
          <p:cNvSpPr/>
          <p:nvPr/>
        </p:nvSpPr>
        <p:spPr>
          <a:xfrm>
            <a:off x="6231636" y="4210812"/>
            <a:ext cx="5180076" cy="19156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1636" y="4210812"/>
            <a:ext cx="91440" cy="19156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05956" y="4375404"/>
            <a:ext cx="4677156" cy="365760"/>
          </a:xfrm>
          <a:prstGeom prst="rect">
            <a:avLst/>
          </a:prstGeom>
          <a:noFill/>
        </p:spPr>
        <p:txBody>
          <a:bodyPr wrap="square" anchor="t">
            <a:spAutoFit/>
          </a:bodyPr>
          <a:lstStyle/>
          <a:p>
            <a:pPr algn="l">
              <a:spcAft>
                <a:spcPts val="400"/>
              </a:spcAft>
            </a:pPr>
            <a:r>
              <a:rPr sz="1600" b="1">
                <a:solidFill>
                  <a:srgbClr val="F59E0B"/>
                </a:solidFill>
                <a:latin typeface="Arial"/>
              </a:rPr>
              <a:t>Learn</a:t>
            </a:r>
          </a:p>
        </p:txBody>
      </p:sp>
      <p:sp>
        <p:nvSpPr>
          <p:cNvPr id="22" name="TextBox 21"/>
          <p:cNvSpPr txBox="1"/>
          <p:nvPr/>
        </p:nvSpPr>
        <p:spPr>
          <a:xfrm>
            <a:off x="6505956" y="4777740"/>
            <a:ext cx="4677156" cy="1229868"/>
          </a:xfrm>
          <a:prstGeom prst="rect">
            <a:avLst/>
          </a:prstGeom>
          <a:noFill/>
        </p:spPr>
        <p:txBody>
          <a:bodyPr wrap="square" anchor="t">
            <a:spAutoFit/>
          </a:bodyPr>
          <a:lstStyle/>
          <a:p>
            <a:pPr algn="l">
              <a:spcAft>
                <a:spcPts val="400"/>
              </a:spcAft>
            </a:pPr>
            <a:r>
              <a:rPr sz="1200" b="0">
                <a:solidFill>
                  <a:srgbClr val="161B26"/>
                </a:solidFill>
                <a:latin typeface="Arial"/>
              </a:rPr>
              <a:t>Review outcomes, remove structural causes and track recurrence risk.</a:t>
            </a:r>
          </a:p>
        </p:txBody>
      </p:sp>
      <p:sp>
        <p:nvSpPr>
          <p:cNvPr id="23" name="TextBox 22"/>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4" name="TextBox 23"/>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5" name="TextBox 24"/>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COACHING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COACH: a fair accountability conversation</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Specificity plus listening creates accountability without humiliation.</a:t>
            </a:r>
          </a:p>
        </p:txBody>
      </p:sp>
      <p:sp>
        <p:nvSpPr>
          <p:cNvPr id="7" name="Rectangle 6"/>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1775" y="255117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1775"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33756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Contract</a:t>
            </a:r>
          </a:p>
        </p:txBody>
      </p:sp>
      <p:sp>
        <p:nvSpPr>
          <p:cNvPr id="12" name="TextBox 11"/>
          <p:cNvSpPr txBox="1"/>
          <p:nvPr/>
        </p:nvSpPr>
        <p:spPr>
          <a:xfrm>
            <a:off x="905256" y="3721608"/>
            <a:ext cx="1651406" cy="1143000"/>
          </a:xfrm>
          <a:prstGeom prst="rect">
            <a:avLst/>
          </a:prstGeom>
          <a:noFill/>
        </p:spPr>
        <p:txBody>
          <a:bodyPr wrap="square" anchor="t">
            <a:spAutoFit/>
          </a:bodyPr>
          <a:lstStyle/>
          <a:p>
            <a:pPr algn="ctr">
              <a:spcAft>
                <a:spcPts val="400"/>
              </a:spcAft>
            </a:pPr>
            <a:r>
              <a:rPr sz="1050" b="0">
                <a:solidFill>
                  <a:srgbClr val="5B6372"/>
                </a:solidFill>
                <a:latin typeface="Arial"/>
              </a:rPr>
              <a:t>Purpose, time, scope and respectful participation.</a:t>
            </a:r>
          </a:p>
        </p:txBody>
      </p:sp>
      <p:sp>
        <p:nvSpPr>
          <p:cNvPr id="13" name="Chevron 12"/>
          <p:cNvSpPr/>
          <p:nvPr/>
        </p:nvSpPr>
        <p:spPr>
          <a:xfrm>
            <a:off x="2702966" y="344728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8998"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83533" y="255117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83533"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87014" y="333756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Observe</a:t>
            </a:r>
          </a:p>
        </p:txBody>
      </p:sp>
      <p:sp>
        <p:nvSpPr>
          <p:cNvPr id="19" name="TextBox 18"/>
          <p:cNvSpPr txBox="1"/>
          <p:nvPr/>
        </p:nvSpPr>
        <p:spPr>
          <a:xfrm>
            <a:off x="3087014" y="3721608"/>
            <a:ext cx="1651406" cy="1143000"/>
          </a:xfrm>
          <a:prstGeom prst="rect">
            <a:avLst/>
          </a:prstGeom>
          <a:noFill/>
        </p:spPr>
        <p:txBody>
          <a:bodyPr wrap="square" anchor="t">
            <a:spAutoFit/>
          </a:bodyPr>
          <a:lstStyle/>
          <a:p>
            <a:pPr algn="ctr">
              <a:spcAft>
                <a:spcPts val="400"/>
              </a:spcAft>
            </a:pPr>
            <a:r>
              <a:rPr sz="1050" b="0">
                <a:solidFill>
                  <a:srgbClr val="5B6372"/>
                </a:solidFill>
                <a:latin typeface="Arial"/>
              </a:rPr>
              <a:t>Specific behaviour, context and impact.</a:t>
            </a:r>
          </a:p>
        </p:txBody>
      </p:sp>
      <p:sp>
        <p:nvSpPr>
          <p:cNvPr id="20" name="Chevron 19"/>
          <p:cNvSpPr/>
          <p:nvPr/>
        </p:nvSpPr>
        <p:spPr>
          <a:xfrm>
            <a:off x="4884724" y="344728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40756"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765291" y="255117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5291"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68772" y="333756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Ask</a:t>
            </a:r>
          </a:p>
        </p:txBody>
      </p:sp>
      <p:sp>
        <p:nvSpPr>
          <p:cNvPr id="26" name="TextBox 25"/>
          <p:cNvSpPr txBox="1"/>
          <p:nvPr/>
        </p:nvSpPr>
        <p:spPr>
          <a:xfrm>
            <a:off x="5268772" y="3721608"/>
            <a:ext cx="1651406" cy="1143000"/>
          </a:xfrm>
          <a:prstGeom prst="rect">
            <a:avLst/>
          </a:prstGeom>
          <a:noFill/>
        </p:spPr>
        <p:txBody>
          <a:bodyPr wrap="square" anchor="t">
            <a:spAutoFit/>
          </a:bodyPr>
          <a:lstStyle/>
          <a:p>
            <a:pPr algn="ctr">
              <a:spcAft>
                <a:spcPts val="400"/>
              </a:spcAft>
            </a:pPr>
            <a:r>
              <a:rPr sz="1050" b="0">
                <a:solidFill>
                  <a:srgbClr val="5B6372"/>
                </a:solidFill>
                <a:latin typeface="Arial"/>
              </a:rPr>
              <a:t>Perspective, needs, barriers and system factors.</a:t>
            </a:r>
          </a:p>
        </p:txBody>
      </p:sp>
      <p:sp>
        <p:nvSpPr>
          <p:cNvPr id="27" name="Chevron 26"/>
          <p:cNvSpPr/>
          <p:nvPr/>
        </p:nvSpPr>
        <p:spPr>
          <a:xfrm>
            <a:off x="7066482" y="344728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22514"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47049" y="255117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47049"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50530" y="333756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Create</a:t>
            </a:r>
          </a:p>
        </p:txBody>
      </p:sp>
      <p:sp>
        <p:nvSpPr>
          <p:cNvPr id="33" name="TextBox 32"/>
          <p:cNvSpPr txBox="1"/>
          <p:nvPr/>
        </p:nvSpPr>
        <p:spPr>
          <a:xfrm>
            <a:off x="7450530" y="3721608"/>
            <a:ext cx="1651406" cy="1143000"/>
          </a:xfrm>
          <a:prstGeom prst="rect">
            <a:avLst/>
          </a:prstGeom>
          <a:noFill/>
        </p:spPr>
        <p:txBody>
          <a:bodyPr wrap="square" anchor="t">
            <a:spAutoFit/>
          </a:bodyPr>
          <a:lstStyle/>
          <a:p>
            <a:pPr algn="ctr">
              <a:spcAft>
                <a:spcPts val="400"/>
              </a:spcAft>
            </a:pPr>
            <a:r>
              <a:rPr sz="1050" b="0">
                <a:solidFill>
                  <a:srgbClr val="5B6372"/>
                </a:solidFill>
                <a:latin typeface="Arial"/>
              </a:rPr>
              <a:t>Employee options, leader support and repair actions.</a:t>
            </a:r>
          </a:p>
        </p:txBody>
      </p:sp>
      <p:sp>
        <p:nvSpPr>
          <p:cNvPr id="34" name="Chevron 33"/>
          <p:cNvSpPr/>
          <p:nvPr/>
        </p:nvSpPr>
        <p:spPr>
          <a:xfrm>
            <a:off x="9248240" y="344728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04272" y="224028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128807" y="255117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28807"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32288" y="333756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Hold</a:t>
            </a:r>
          </a:p>
        </p:txBody>
      </p:sp>
      <p:sp>
        <p:nvSpPr>
          <p:cNvPr id="40" name="TextBox 39"/>
          <p:cNvSpPr txBox="1"/>
          <p:nvPr/>
        </p:nvSpPr>
        <p:spPr>
          <a:xfrm>
            <a:off x="9632288" y="3721608"/>
            <a:ext cx="1651406" cy="1143000"/>
          </a:xfrm>
          <a:prstGeom prst="rect">
            <a:avLst/>
          </a:prstGeom>
          <a:noFill/>
        </p:spPr>
        <p:txBody>
          <a:bodyPr wrap="square" anchor="t">
            <a:spAutoFit/>
          </a:bodyPr>
          <a:lstStyle/>
          <a:p>
            <a:pPr algn="ctr">
              <a:spcAft>
                <a:spcPts val="400"/>
              </a:spcAft>
            </a:pPr>
            <a:r>
              <a:rPr sz="1050" b="0">
                <a:solidFill>
                  <a:srgbClr val="5B6372"/>
                </a:solidFill>
                <a:latin typeface="Arial"/>
              </a:rPr>
              <a:t>Commitment, evidence, review and escalation boundary.</a:t>
            </a:r>
          </a:p>
        </p:txBody>
      </p:sp>
      <p:sp>
        <p:nvSpPr>
          <p:cNvPr id="41" name="Rectangle 40"/>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5257800"/>
            <a:ext cx="91440" cy="822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Coaching must not replace a required grievance, safety or formal performance process.</a:t>
            </a:r>
          </a:p>
        </p:txBody>
      </p:sp>
      <p:sp>
        <p:nvSpPr>
          <p:cNvPr id="44" name="TextBox 43"/>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45" name="TextBox 44"/>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46" name="TextBox 45"/>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SHARED RESPONSIBILITY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Team conflict has more than one owner</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Durable repair links individual behaviour, team norms and organisational systems.</a:t>
            </a:r>
          </a:p>
        </p:txBody>
      </p:sp>
      <p:sp>
        <p:nvSpPr>
          <p:cNvPr id="7" name="Rectangle 6"/>
          <p:cNvSpPr/>
          <p:nvPr/>
        </p:nvSpPr>
        <p:spPr>
          <a:xfrm>
            <a:off x="777240" y="2194560"/>
            <a:ext cx="1874519" cy="98145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2194560"/>
            <a:ext cx="1618487" cy="981456"/>
          </a:xfrm>
          <a:prstGeom prst="rect">
            <a:avLst/>
          </a:prstGeom>
          <a:noFill/>
        </p:spPr>
        <p:txBody>
          <a:bodyPr wrap="square" anchor="ctr">
            <a:spAutoFit/>
          </a:bodyPr>
          <a:lstStyle/>
          <a:p>
            <a:pPr algn="l">
              <a:spcAft>
                <a:spcPts val="400"/>
              </a:spcAft>
            </a:pPr>
            <a:r>
              <a:rPr sz="1200" b="1">
                <a:solidFill>
                  <a:srgbClr val="FFFFFF"/>
                </a:solidFill>
                <a:latin typeface="Arial"/>
              </a:rPr>
              <a:t>Leader</a:t>
            </a:r>
          </a:p>
        </p:txBody>
      </p:sp>
      <p:sp>
        <p:nvSpPr>
          <p:cNvPr id="9" name="Rectangle 8"/>
          <p:cNvSpPr/>
          <p:nvPr/>
        </p:nvSpPr>
        <p:spPr>
          <a:xfrm>
            <a:off x="2834639" y="2194560"/>
            <a:ext cx="2052828" cy="98145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34639" y="2194560"/>
            <a:ext cx="64008" cy="98145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99231" y="2194560"/>
            <a:ext cx="1778508" cy="981456"/>
          </a:xfrm>
          <a:prstGeom prst="rect">
            <a:avLst/>
          </a:prstGeom>
          <a:noFill/>
        </p:spPr>
        <p:txBody>
          <a:bodyPr wrap="square" anchor="ctr">
            <a:spAutoFit/>
          </a:bodyPr>
          <a:lstStyle/>
          <a:p>
            <a:pPr algn="l">
              <a:spcAft>
                <a:spcPts val="400"/>
              </a:spcAft>
            </a:pPr>
            <a:r>
              <a:rPr sz="1050" b="0">
                <a:solidFill>
                  <a:srgbClr val="161B26"/>
                </a:solidFill>
                <a:latin typeface="Arial"/>
              </a:rPr>
              <a:t>Name standard</a:t>
            </a:r>
          </a:p>
        </p:txBody>
      </p:sp>
      <p:sp>
        <p:nvSpPr>
          <p:cNvPr id="12" name="Rectangle 11"/>
          <p:cNvSpPr/>
          <p:nvPr/>
        </p:nvSpPr>
        <p:spPr>
          <a:xfrm>
            <a:off x="5070347" y="2194560"/>
            <a:ext cx="2052828" cy="98145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70347" y="2194560"/>
            <a:ext cx="64008" cy="98145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34939" y="2194560"/>
            <a:ext cx="1778508" cy="981456"/>
          </a:xfrm>
          <a:prstGeom prst="rect">
            <a:avLst/>
          </a:prstGeom>
          <a:noFill/>
        </p:spPr>
        <p:txBody>
          <a:bodyPr wrap="square" anchor="ctr">
            <a:spAutoFit/>
          </a:bodyPr>
          <a:lstStyle/>
          <a:p>
            <a:pPr algn="l">
              <a:spcAft>
                <a:spcPts val="400"/>
              </a:spcAft>
            </a:pPr>
            <a:r>
              <a:rPr sz="1050" b="0">
                <a:solidFill>
                  <a:srgbClr val="161B26"/>
                </a:solidFill>
                <a:latin typeface="Arial"/>
              </a:rPr>
              <a:t>Invite accounts</a:t>
            </a:r>
          </a:p>
        </p:txBody>
      </p:sp>
      <p:sp>
        <p:nvSpPr>
          <p:cNvPr id="15" name="Rectangle 14"/>
          <p:cNvSpPr/>
          <p:nvPr/>
        </p:nvSpPr>
        <p:spPr>
          <a:xfrm>
            <a:off x="7306055" y="2194560"/>
            <a:ext cx="2052828" cy="98145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06055" y="2194560"/>
            <a:ext cx="64008" cy="98145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70647" y="2194560"/>
            <a:ext cx="1778508" cy="981456"/>
          </a:xfrm>
          <a:prstGeom prst="rect">
            <a:avLst/>
          </a:prstGeom>
          <a:noFill/>
        </p:spPr>
        <p:txBody>
          <a:bodyPr wrap="square" anchor="ctr">
            <a:spAutoFit/>
          </a:bodyPr>
          <a:lstStyle/>
          <a:p>
            <a:pPr algn="l">
              <a:spcAft>
                <a:spcPts val="400"/>
              </a:spcAft>
            </a:pPr>
            <a:r>
              <a:rPr sz="1050" b="0">
                <a:solidFill>
                  <a:srgbClr val="161B26"/>
                </a:solidFill>
                <a:latin typeface="Arial"/>
              </a:rPr>
              <a:t>Provide support</a:t>
            </a:r>
          </a:p>
        </p:txBody>
      </p:sp>
      <p:sp>
        <p:nvSpPr>
          <p:cNvPr id="18" name="Rectangle 17"/>
          <p:cNvSpPr/>
          <p:nvPr/>
        </p:nvSpPr>
        <p:spPr>
          <a:xfrm>
            <a:off x="9541763" y="2194560"/>
            <a:ext cx="2052828" cy="98145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541763" y="2194560"/>
            <a:ext cx="64008" cy="98145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06355" y="2194560"/>
            <a:ext cx="1778508" cy="981456"/>
          </a:xfrm>
          <a:prstGeom prst="rect">
            <a:avLst/>
          </a:prstGeom>
          <a:noFill/>
        </p:spPr>
        <p:txBody>
          <a:bodyPr wrap="square" anchor="ctr">
            <a:spAutoFit/>
          </a:bodyPr>
          <a:lstStyle/>
          <a:p>
            <a:pPr algn="l">
              <a:spcAft>
                <a:spcPts val="400"/>
              </a:spcAft>
            </a:pPr>
            <a:r>
              <a:rPr sz="1050" b="0">
                <a:solidFill>
                  <a:srgbClr val="161B26"/>
                </a:solidFill>
                <a:latin typeface="Arial"/>
              </a:rPr>
              <a:t>Review progress</a:t>
            </a:r>
          </a:p>
        </p:txBody>
      </p:sp>
      <p:sp>
        <p:nvSpPr>
          <p:cNvPr id="21" name="Rectangle 20"/>
          <p:cNvSpPr/>
          <p:nvPr/>
        </p:nvSpPr>
        <p:spPr>
          <a:xfrm>
            <a:off x="777240" y="3304032"/>
            <a:ext cx="1874519" cy="9814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3304032"/>
            <a:ext cx="1618487" cy="981456"/>
          </a:xfrm>
          <a:prstGeom prst="rect">
            <a:avLst/>
          </a:prstGeom>
          <a:noFill/>
        </p:spPr>
        <p:txBody>
          <a:bodyPr wrap="square" anchor="ctr">
            <a:spAutoFit/>
          </a:bodyPr>
          <a:lstStyle/>
          <a:p>
            <a:pPr algn="l">
              <a:spcAft>
                <a:spcPts val="400"/>
              </a:spcAft>
            </a:pPr>
            <a:r>
              <a:rPr sz="1200" b="1">
                <a:solidFill>
                  <a:srgbClr val="FFFFFF"/>
                </a:solidFill>
                <a:latin typeface="Arial"/>
              </a:rPr>
              <a:t>Team</a:t>
            </a:r>
          </a:p>
        </p:txBody>
      </p:sp>
      <p:sp>
        <p:nvSpPr>
          <p:cNvPr id="23" name="Rectangle 22"/>
          <p:cNvSpPr/>
          <p:nvPr/>
        </p:nvSpPr>
        <p:spPr>
          <a:xfrm>
            <a:off x="2834639" y="3304032"/>
            <a:ext cx="2052828" cy="98145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834639" y="3304032"/>
            <a:ext cx="64008" cy="9814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99231" y="3304032"/>
            <a:ext cx="1778508" cy="981456"/>
          </a:xfrm>
          <a:prstGeom prst="rect">
            <a:avLst/>
          </a:prstGeom>
          <a:noFill/>
        </p:spPr>
        <p:txBody>
          <a:bodyPr wrap="square" anchor="ctr">
            <a:spAutoFit/>
          </a:bodyPr>
          <a:lstStyle/>
          <a:p>
            <a:pPr algn="l">
              <a:spcAft>
                <a:spcPts val="400"/>
              </a:spcAft>
            </a:pPr>
            <a:r>
              <a:rPr sz="1050" b="0">
                <a:solidFill>
                  <a:srgbClr val="161B26"/>
                </a:solidFill>
                <a:latin typeface="Arial"/>
              </a:rPr>
              <a:t>Agree norms</a:t>
            </a:r>
          </a:p>
        </p:txBody>
      </p:sp>
      <p:sp>
        <p:nvSpPr>
          <p:cNvPr id="26" name="Rectangle 25"/>
          <p:cNvSpPr/>
          <p:nvPr/>
        </p:nvSpPr>
        <p:spPr>
          <a:xfrm>
            <a:off x="5070347" y="3304032"/>
            <a:ext cx="2052828" cy="98145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70347" y="3304032"/>
            <a:ext cx="64008" cy="9814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34939" y="3304032"/>
            <a:ext cx="1778508" cy="981456"/>
          </a:xfrm>
          <a:prstGeom prst="rect">
            <a:avLst/>
          </a:prstGeom>
          <a:noFill/>
        </p:spPr>
        <p:txBody>
          <a:bodyPr wrap="square" anchor="ctr">
            <a:spAutoFit/>
          </a:bodyPr>
          <a:lstStyle/>
          <a:p>
            <a:pPr algn="l">
              <a:spcAft>
                <a:spcPts val="400"/>
              </a:spcAft>
            </a:pPr>
            <a:r>
              <a:rPr sz="1050" b="0">
                <a:solidFill>
                  <a:srgbClr val="161B26"/>
                </a:solidFill>
                <a:latin typeface="Arial"/>
              </a:rPr>
              <a:t>Repair handoffs</a:t>
            </a:r>
          </a:p>
        </p:txBody>
      </p:sp>
      <p:sp>
        <p:nvSpPr>
          <p:cNvPr id="29" name="Rectangle 28"/>
          <p:cNvSpPr/>
          <p:nvPr/>
        </p:nvSpPr>
        <p:spPr>
          <a:xfrm>
            <a:off x="7306055" y="3304032"/>
            <a:ext cx="2052828" cy="98145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306055" y="3304032"/>
            <a:ext cx="64008" cy="9814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70647" y="3304032"/>
            <a:ext cx="1778508" cy="981456"/>
          </a:xfrm>
          <a:prstGeom prst="rect">
            <a:avLst/>
          </a:prstGeom>
          <a:noFill/>
        </p:spPr>
        <p:txBody>
          <a:bodyPr wrap="square" anchor="ctr">
            <a:spAutoFit/>
          </a:bodyPr>
          <a:lstStyle/>
          <a:p>
            <a:pPr algn="l">
              <a:spcAft>
                <a:spcPts val="400"/>
              </a:spcAft>
            </a:pPr>
            <a:r>
              <a:rPr sz="1050" b="0">
                <a:solidFill>
                  <a:srgbClr val="161B26"/>
                </a:solidFill>
                <a:latin typeface="Arial"/>
              </a:rPr>
              <a:t>Raise concerns early</a:t>
            </a:r>
          </a:p>
        </p:txBody>
      </p:sp>
      <p:sp>
        <p:nvSpPr>
          <p:cNvPr id="32" name="Rectangle 31"/>
          <p:cNvSpPr/>
          <p:nvPr/>
        </p:nvSpPr>
        <p:spPr>
          <a:xfrm>
            <a:off x="9541763" y="3304032"/>
            <a:ext cx="2052828" cy="98145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541763" y="3304032"/>
            <a:ext cx="64008" cy="9814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706355" y="3304032"/>
            <a:ext cx="1778508" cy="981456"/>
          </a:xfrm>
          <a:prstGeom prst="rect">
            <a:avLst/>
          </a:prstGeom>
          <a:noFill/>
        </p:spPr>
        <p:txBody>
          <a:bodyPr wrap="square" anchor="ctr">
            <a:spAutoFit/>
          </a:bodyPr>
          <a:lstStyle/>
          <a:p>
            <a:pPr algn="l">
              <a:spcAft>
                <a:spcPts val="400"/>
              </a:spcAft>
            </a:pPr>
            <a:r>
              <a:rPr sz="1050" b="0">
                <a:solidFill>
                  <a:srgbClr val="161B26"/>
                </a:solidFill>
                <a:latin typeface="Arial"/>
              </a:rPr>
              <a:t>Use feedback data</a:t>
            </a:r>
          </a:p>
        </p:txBody>
      </p:sp>
      <p:sp>
        <p:nvSpPr>
          <p:cNvPr id="35" name="Rectangle 34"/>
          <p:cNvSpPr/>
          <p:nvPr/>
        </p:nvSpPr>
        <p:spPr>
          <a:xfrm>
            <a:off x="777240" y="4413504"/>
            <a:ext cx="1874519" cy="98145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5256" y="4413504"/>
            <a:ext cx="1618487" cy="981456"/>
          </a:xfrm>
          <a:prstGeom prst="rect">
            <a:avLst/>
          </a:prstGeom>
          <a:noFill/>
        </p:spPr>
        <p:txBody>
          <a:bodyPr wrap="square" anchor="ctr">
            <a:spAutoFit/>
          </a:bodyPr>
          <a:lstStyle/>
          <a:p>
            <a:pPr algn="l">
              <a:spcAft>
                <a:spcPts val="400"/>
              </a:spcAft>
            </a:pPr>
            <a:r>
              <a:rPr sz="1200" b="1">
                <a:solidFill>
                  <a:srgbClr val="FFFFFF"/>
                </a:solidFill>
                <a:latin typeface="Arial"/>
              </a:rPr>
              <a:t>Organisation</a:t>
            </a:r>
          </a:p>
        </p:txBody>
      </p:sp>
      <p:sp>
        <p:nvSpPr>
          <p:cNvPr id="37" name="Rectangle 36"/>
          <p:cNvSpPr/>
          <p:nvPr/>
        </p:nvSpPr>
        <p:spPr>
          <a:xfrm>
            <a:off x="2834639" y="4413504"/>
            <a:ext cx="2052828" cy="98145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834639" y="4413504"/>
            <a:ext cx="64008" cy="98145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999231" y="4413504"/>
            <a:ext cx="1778508" cy="981456"/>
          </a:xfrm>
          <a:prstGeom prst="rect">
            <a:avLst/>
          </a:prstGeom>
          <a:noFill/>
        </p:spPr>
        <p:txBody>
          <a:bodyPr wrap="square" anchor="ctr">
            <a:spAutoFit/>
          </a:bodyPr>
          <a:lstStyle/>
          <a:p>
            <a:pPr algn="l">
              <a:spcAft>
                <a:spcPts val="400"/>
              </a:spcAft>
            </a:pPr>
            <a:r>
              <a:rPr sz="1050" b="0">
                <a:solidFill>
                  <a:srgbClr val="161B26"/>
                </a:solidFill>
                <a:latin typeface="Arial"/>
              </a:rPr>
              <a:t>Provide channels</a:t>
            </a:r>
          </a:p>
        </p:txBody>
      </p:sp>
      <p:sp>
        <p:nvSpPr>
          <p:cNvPr id="40" name="Rectangle 39"/>
          <p:cNvSpPr/>
          <p:nvPr/>
        </p:nvSpPr>
        <p:spPr>
          <a:xfrm>
            <a:off x="5070347" y="4413504"/>
            <a:ext cx="2052828" cy="98145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070347" y="4413504"/>
            <a:ext cx="64008" cy="98145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34939" y="4413504"/>
            <a:ext cx="1778508" cy="981456"/>
          </a:xfrm>
          <a:prstGeom prst="rect">
            <a:avLst/>
          </a:prstGeom>
          <a:noFill/>
        </p:spPr>
        <p:txBody>
          <a:bodyPr wrap="square" anchor="ctr">
            <a:spAutoFit/>
          </a:bodyPr>
          <a:lstStyle/>
          <a:p>
            <a:pPr algn="l">
              <a:spcAft>
                <a:spcPts val="400"/>
              </a:spcAft>
            </a:pPr>
            <a:r>
              <a:rPr sz="1050" b="0">
                <a:solidFill>
                  <a:srgbClr val="161B26"/>
                </a:solidFill>
                <a:latin typeface="Arial"/>
              </a:rPr>
              <a:t>Ensure impartial process</a:t>
            </a:r>
          </a:p>
        </p:txBody>
      </p:sp>
      <p:sp>
        <p:nvSpPr>
          <p:cNvPr id="43" name="Rectangle 42"/>
          <p:cNvSpPr/>
          <p:nvPr/>
        </p:nvSpPr>
        <p:spPr>
          <a:xfrm>
            <a:off x="7306055" y="4413504"/>
            <a:ext cx="2052828" cy="98145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306055" y="4413504"/>
            <a:ext cx="64008" cy="98145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70647" y="4413504"/>
            <a:ext cx="1778508" cy="981456"/>
          </a:xfrm>
          <a:prstGeom prst="rect">
            <a:avLst/>
          </a:prstGeom>
          <a:noFill/>
        </p:spPr>
        <p:txBody>
          <a:bodyPr wrap="square" anchor="ctr">
            <a:spAutoFit/>
          </a:bodyPr>
          <a:lstStyle/>
          <a:p>
            <a:pPr algn="l">
              <a:spcAft>
                <a:spcPts val="400"/>
              </a:spcAft>
            </a:pPr>
            <a:r>
              <a:rPr sz="1050" b="0">
                <a:solidFill>
                  <a:srgbClr val="161B26"/>
                </a:solidFill>
                <a:latin typeface="Arial"/>
              </a:rPr>
              <a:t>Correct incentives</a:t>
            </a:r>
          </a:p>
        </p:txBody>
      </p:sp>
      <p:sp>
        <p:nvSpPr>
          <p:cNvPr id="46" name="Rectangle 45"/>
          <p:cNvSpPr/>
          <p:nvPr/>
        </p:nvSpPr>
        <p:spPr>
          <a:xfrm>
            <a:off x="9541763" y="4413504"/>
            <a:ext cx="2052828" cy="981456"/>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541763" y="4413504"/>
            <a:ext cx="64008" cy="98145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706355" y="4413504"/>
            <a:ext cx="1778508" cy="981456"/>
          </a:xfrm>
          <a:prstGeom prst="rect">
            <a:avLst/>
          </a:prstGeom>
          <a:noFill/>
        </p:spPr>
        <p:txBody>
          <a:bodyPr wrap="square" anchor="ctr">
            <a:spAutoFit/>
          </a:bodyPr>
          <a:lstStyle/>
          <a:p>
            <a:pPr algn="l">
              <a:spcAft>
                <a:spcPts val="400"/>
              </a:spcAft>
            </a:pPr>
            <a:r>
              <a:rPr sz="1050" b="0">
                <a:solidFill>
                  <a:srgbClr val="161B26"/>
                </a:solidFill>
                <a:latin typeface="Arial"/>
              </a:rPr>
              <a:t>Audit recurrence</a:t>
            </a:r>
          </a:p>
        </p:txBody>
      </p:sp>
      <p:sp>
        <p:nvSpPr>
          <p:cNvPr id="49" name="Chevron 48"/>
          <p:cNvSpPr/>
          <p:nvPr/>
        </p:nvSpPr>
        <p:spPr>
          <a:xfrm>
            <a:off x="4924043" y="4812792"/>
            <a:ext cx="109728" cy="182880"/>
          </a:xfrm>
          <a:prstGeom prst="chevron">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Chevron 49"/>
          <p:cNvSpPr/>
          <p:nvPr/>
        </p:nvSpPr>
        <p:spPr>
          <a:xfrm>
            <a:off x="7159751" y="4812792"/>
            <a:ext cx="109728" cy="182880"/>
          </a:xfrm>
          <a:prstGeom prst="chevron">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Chevron 50"/>
          <p:cNvSpPr/>
          <p:nvPr/>
        </p:nvSpPr>
        <p:spPr>
          <a:xfrm>
            <a:off x="9395459" y="4812792"/>
            <a:ext cx="109728" cy="182880"/>
          </a:xfrm>
          <a:prstGeom prst="chevron">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7240" y="58978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77240" y="589788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97280" y="5897880"/>
            <a:ext cx="10058400" cy="530352"/>
          </a:xfrm>
          <a:prstGeom prst="rect">
            <a:avLst/>
          </a:prstGeom>
          <a:noFill/>
        </p:spPr>
        <p:txBody>
          <a:bodyPr wrap="square" anchor="ctr">
            <a:spAutoFit/>
          </a:bodyPr>
          <a:lstStyle/>
          <a:p>
            <a:pPr algn="l">
              <a:spcAft>
                <a:spcPts val="400"/>
              </a:spcAft>
            </a:pPr>
            <a:r>
              <a:rPr sz="1200" b="1">
                <a:solidFill>
                  <a:srgbClr val="161B26"/>
                </a:solidFill>
                <a:latin typeface="Arial"/>
              </a:rPr>
              <a:t>Psychological safety means people can raise work concerns without interpersonal punishment—not that every disagreement disappears.</a:t>
            </a:r>
          </a:p>
        </p:txBody>
      </p:sp>
      <p:sp>
        <p:nvSpPr>
          <p:cNvPr id="55" name="TextBox 54"/>
          <p:cNvSpPr txBox="1"/>
          <p:nvPr/>
        </p:nvSpPr>
        <p:spPr>
          <a:xfrm>
            <a:off x="777240" y="5532120"/>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Course synthesis from the supplied leadership and workplace sources</a:t>
            </a:r>
          </a:p>
        </p:txBody>
      </p:sp>
      <p:sp>
        <p:nvSpPr>
          <p:cNvPr id="56" name="TextBox 5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57" name="TextBox 5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58" name="TextBox 5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LEADERSHIP</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Coach the person. Repair the system.</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Accountability becomes durable when leaders change the conditions that keep producing the conflict.</a:t>
            </a:r>
          </a:p>
        </p:txBody>
      </p:sp>
      <p:sp>
        <p:nvSpPr>
          <p:cNvPr id="7" name="TextBox 6"/>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8" name="TextBox 7"/>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9" name="TextBox 8"/>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350"/>
                                        <p:tgtEl>
                                          <p:spTgt spid="5"/>
                                        </p:tgtEl>
                                      </p:cBhvr>
                                    </p:animEffect>
                                    <p:anim calcmode="lin" valueType="num">
                                      <p:cBhvr additive="base">
                                        <p:cTn id="1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350"/>
                                        <p:tgtEl>
                                          <p:spTgt spid="6"/>
                                        </p:tgtEl>
                                      </p:cBhvr>
                                    </p:animEffect>
                                    <p:anim calcmode="lin" valueType="num">
                                      <p:cBhvr additive="base">
                                        <p:cTn id="2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600" b="1">
                <a:solidFill>
                  <a:srgbClr val="10B981"/>
                </a:solidFill>
                <a:latin typeface="Arial"/>
              </a:rPr>
              <a:t>LO3 · Topic 3 · T1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3400" b="1">
                <a:solidFill>
                  <a:srgbClr val="161B26"/>
                </a:solidFill>
                <a:latin typeface="Arial"/>
              </a:rPr>
              <a:t>a conflict-coaching conversation</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T1</a:t>
            </a:r>
          </a:p>
        </p:txBody>
      </p:sp>
      <p:sp>
        <p:nvSpPr>
          <p:cNvPr id="8" name="TextBox 7"/>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9" name="TextBox 8"/>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0" name="TextBox 9"/>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fast" advClick="1">
    <p:push dir="u"/>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LO3 · Topic 3 · T1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What is a conflict-coaching conversation?</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Coach, don't rescue</a:t>
            </a:r>
          </a:p>
          <a:p>
            <a:pPr algn="l">
              <a:spcAft>
                <a:spcPts val="300"/>
              </a:spcAft>
            </a:pPr>
            <a:r>
              <a:rPr sz="1200" b="0">
                <a:solidFill>
                  <a:srgbClr val="5B6372"/>
                </a:solidFill>
                <a:latin typeface="Arial"/>
              </a:rPr>
              <a:t>Build the team member's judgement rather than taking over the conflict.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Reframe</a:t>
            </a:r>
          </a:p>
          <a:p>
            <a:pPr algn="l">
              <a:spcAft>
                <a:spcPts val="300"/>
              </a:spcAft>
            </a:pPr>
            <a:r>
              <a:rPr sz="1200" b="0">
                <a:solidFill>
                  <a:srgbClr val="5B6372"/>
                </a:solidFill>
                <a:latin typeface="Arial"/>
              </a:rPr>
              <a:t>Test assumptions and translate labels into observable behaviour and impact.</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Rehearse</a:t>
            </a:r>
          </a:p>
          <a:p>
            <a:pPr algn="l">
              <a:spcAft>
                <a:spcPts val="300"/>
              </a:spcAft>
            </a:pPr>
            <a:r>
              <a:rPr sz="1200" b="0">
                <a:solidFill>
                  <a:srgbClr val="5B6372"/>
                </a:solidFill>
                <a:latin typeface="Arial"/>
              </a:rPr>
              <a:t>Practise opening, listening, requests and responses to likely emotion.</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Support</a:t>
            </a:r>
          </a:p>
          <a:p>
            <a:pPr algn="l">
              <a:spcAft>
                <a:spcPts val="300"/>
              </a:spcAft>
            </a:pPr>
            <a:r>
              <a:rPr sz="1200" b="0">
                <a:solidFill>
                  <a:srgbClr val="5B6372"/>
                </a:solidFill>
                <a:latin typeface="Arial"/>
              </a:rPr>
              <a:t>Agree boundaries, resources, escalation triggers and follow-up.</a:t>
            </a:r>
          </a:p>
        </p:txBody>
      </p:sp>
      <p:sp>
        <p:nvSpPr>
          <p:cNvPr id="26" name="TextBox 2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7" name="TextBox 2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8" name="TextBox 2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
        <p:nvSpPr>
          <p:cNvPr id="29" name="TextBox 2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Sources: Training Industry; SNHU; supplied leadership sources</a:t>
            </a:r>
          </a:p>
        </p:txBody>
      </p:sp>
    </p:spTree>
  </p:cSld>
  <p:clrMapOvr>
    <a:masterClrMapping/>
  </p:clrMapOvr>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Topic 3 · T1 · HOW IT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COACH Conversation</a:t>
            </a:r>
          </a:p>
        </p:txBody>
      </p:sp>
      <p:sp>
        <p:nvSpPr>
          <p:cNvPr id="6" name="Rectangle 5"/>
          <p:cNvSpPr/>
          <p:nvPr/>
        </p:nvSpPr>
        <p:spPr>
          <a:xfrm>
            <a:off x="777240"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01775"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01775"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05256"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Context</a:t>
            </a:r>
          </a:p>
        </p:txBody>
      </p:sp>
      <p:sp>
        <p:nvSpPr>
          <p:cNvPr id="11" name="TextBox 10"/>
          <p:cNvSpPr txBox="1"/>
          <p:nvPr/>
        </p:nvSpPr>
        <p:spPr>
          <a:xfrm>
            <a:off x="905256"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What happened, what matters and what is within your control?</a:t>
            </a:r>
          </a:p>
        </p:txBody>
      </p:sp>
      <p:sp>
        <p:nvSpPr>
          <p:cNvPr id="12" name="Chevron 11"/>
          <p:cNvSpPr/>
          <p:nvPr/>
        </p:nvSpPr>
        <p:spPr>
          <a:xfrm>
            <a:off x="2702966"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58998"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83533"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3533"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87014"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Outcome</a:t>
            </a:r>
          </a:p>
        </p:txBody>
      </p:sp>
      <p:sp>
        <p:nvSpPr>
          <p:cNvPr id="18" name="TextBox 17"/>
          <p:cNvSpPr txBox="1"/>
          <p:nvPr/>
        </p:nvSpPr>
        <p:spPr>
          <a:xfrm>
            <a:off x="3087014"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What constructive change do you want?</a:t>
            </a:r>
          </a:p>
        </p:txBody>
      </p:sp>
      <p:sp>
        <p:nvSpPr>
          <p:cNvPr id="19" name="Chevron 18"/>
          <p:cNvSpPr/>
          <p:nvPr/>
        </p:nvSpPr>
        <p:spPr>
          <a:xfrm>
            <a:off x="4884724"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765291"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65291"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68772"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Alternatives</a:t>
            </a:r>
          </a:p>
        </p:txBody>
      </p:sp>
      <p:sp>
        <p:nvSpPr>
          <p:cNvPr id="25" name="TextBox 24"/>
          <p:cNvSpPr txBox="1"/>
          <p:nvPr/>
        </p:nvSpPr>
        <p:spPr>
          <a:xfrm>
            <a:off x="5268772"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What approaches, words and timing could work?</a:t>
            </a:r>
          </a:p>
        </p:txBody>
      </p:sp>
      <p:sp>
        <p:nvSpPr>
          <p:cNvPr id="26" name="Chevron 25"/>
          <p:cNvSpPr/>
          <p:nvPr/>
        </p:nvSpPr>
        <p:spPr>
          <a:xfrm>
            <a:off x="7066482"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2514"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22514"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947049"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47049"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50530"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Conversation rehearsal</a:t>
            </a:r>
          </a:p>
        </p:txBody>
      </p:sp>
      <p:sp>
        <p:nvSpPr>
          <p:cNvPr id="32" name="TextBox 31"/>
          <p:cNvSpPr txBox="1"/>
          <p:nvPr/>
        </p:nvSpPr>
        <p:spPr>
          <a:xfrm>
            <a:off x="7450530"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Practise and receive feedback.</a:t>
            </a:r>
          </a:p>
        </p:txBody>
      </p:sp>
      <p:sp>
        <p:nvSpPr>
          <p:cNvPr id="33" name="Chevron 32"/>
          <p:cNvSpPr/>
          <p:nvPr/>
        </p:nvSpPr>
        <p:spPr>
          <a:xfrm>
            <a:off x="9248240"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04272"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28807"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28807"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32288"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Hold follow-up</a:t>
            </a:r>
          </a:p>
        </p:txBody>
      </p:sp>
      <p:sp>
        <p:nvSpPr>
          <p:cNvPr id="39" name="TextBox 38"/>
          <p:cNvSpPr txBox="1"/>
          <p:nvPr/>
        </p:nvSpPr>
        <p:spPr>
          <a:xfrm>
            <a:off x="9632288"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Commit, support, review and escalate if needed.</a:t>
            </a:r>
          </a:p>
        </p:txBody>
      </p:sp>
      <p:sp>
        <p:nvSpPr>
          <p:cNvPr id="40" name="TextBox 39"/>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41" name="TextBox 40"/>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42" name="TextBox 41"/>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LO3 · Topic 3 · T1 · COMPARE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Manager Rescue vs Capability Building</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Rescue / direct</a:t>
            </a:r>
          </a:p>
        </p:txBody>
      </p:sp>
      <p:sp>
        <p:nvSpPr>
          <p:cNvPr id="9" name="TextBox 8"/>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Coach / enable</a:t>
            </a:r>
          </a:p>
        </p:txBody>
      </p:sp>
      <p:sp>
        <p:nvSpPr>
          <p:cNvPr id="10" name="TextBox 9"/>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I'll tell them to stop.</a:t>
            </a:r>
          </a:p>
          <a:p>
            <a:pPr>
              <a:spcAft>
                <a:spcPts val="1000"/>
              </a:spcAft>
            </a:pPr>
            <a:r>
              <a:rPr sz="1600" b="0">
                <a:solidFill>
                  <a:srgbClr val="161B26"/>
                </a:solidFill>
                <a:latin typeface="Arial"/>
              </a:rPr>
              <a:t>•  You're right; they are the problem.</a:t>
            </a:r>
          </a:p>
          <a:p>
            <a:pPr>
              <a:spcAft>
                <a:spcPts val="1000"/>
              </a:spcAft>
            </a:pPr>
            <a:r>
              <a:rPr sz="1600" b="0">
                <a:solidFill>
                  <a:srgbClr val="161B26"/>
                </a:solidFill>
                <a:latin typeface="Arial"/>
              </a:rPr>
              <a:t>•  Use this exact script.</a:t>
            </a:r>
          </a:p>
          <a:p>
            <a:pPr>
              <a:spcAft>
                <a:spcPts val="1000"/>
              </a:spcAft>
            </a:pPr>
            <a:r>
              <a:rPr sz="1600" b="0">
                <a:solidFill>
                  <a:srgbClr val="161B26"/>
                </a:solidFill>
                <a:latin typeface="Arial"/>
              </a:rPr>
              <a:t>•  Come back only if it fails.</a:t>
            </a:r>
          </a:p>
        </p:txBody>
      </p:sp>
      <p:sp>
        <p:nvSpPr>
          <p:cNvPr id="11" name="TextBox 10"/>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What outcome do you want and what evidence will you use?</a:t>
            </a:r>
          </a:p>
          <a:p>
            <a:pPr>
              <a:spcAft>
                <a:spcPts val="1000"/>
              </a:spcAft>
            </a:pPr>
            <a:r>
              <a:rPr sz="1600" b="0">
                <a:solidFill>
                  <a:srgbClr val="161B26"/>
                </a:solidFill>
                <a:latin typeface="Arial"/>
              </a:rPr>
              <a:t>•  What might the other person see differently?</a:t>
            </a:r>
          </a:p>
          <a:p>
            <a:pPr>
              <a:spcAft>
                <a:spcPts val="1000"/>
              </a:spcAft>
            </a:pPr>
            <a:r>
              <a:rPr sz="1600" b="0">
                <a:solidFill>
                  <a:srgbClr val="161B26"/>
                </a:solidFill>
                <a:latin typeface="Arial"/>
              </a:rPr>
              <a:t>•  Which opening sounds authentic and respectful to you?</a:t>
            </a:r>
          </a:p>
          <a:p>
            <a:pPr>
              <a:spcAft>
                <a:spcPts val="1000"/>
              </a:spcAft>
            </a:pPr>
            <a:r>
              <a:rPr sz="1600" b="0">
                <a:solidFill>
                  <a:srgbClr val="161B26"/>
                </a:solidFill>
                <a:latin typeface="Arial"/>
              </a:rPr>
              <a:t>•  What support and review point will help you follow through?</a:t>
            </a:r>
          </a:p>
        </p:txBody>
      </p:sp>
      <p:sp>
        <p:nvSpPr>
          <p:cNvPr id="12" name="TextBox 11"/>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3" name="TextBox 12"/>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4" name="TextBox 13"/>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
        <p:nvSpPr>
          <p:cNvPr id="15" name="TextBox 14"/>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course coaching synthesis</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350"/>
                                        <p:tgtEl>
                                          <p:spTgt spid="10"/>
                                        </p:tgtEl>
                                      </p:cBhvr>
                                    </p:animEffect>
                                    <p:anim calcmode="lin" valueType="num">
                                      <p:cBhvr additive="base">
                                        <p:cTn id="1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350"/>
                                        <p:tgtEl>
                                          <p:spTgt spid="11"/>
                                        </p:tgtEl>
                                      </p:cBhvr>
                                    </p:animEffect>
                                    <p:anim calcmode="lin" valueType="num">
                                      <p:cBhvr additive="base">
                                        <p:cTn id="2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LO3 · Topic 3 · T1 · SUPPORTING DATA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Coaching Boundaries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Coach</a:t>
            </a:r>
          </a:p>
          <a:p>
            <a:pPr algn="l">
              <a:spcAft>
                <a:spcPts val="300"/>
              </a:spcAft>
            </a:pPr>
            <a:r>
              <a:rPr sz="1200" b="0">
                <a:solidFill>
                  <a:srgbClr val="5B6372"/>
                </a:solidFill>
                <a:latin typeface="Arial"/>
              </a:rPr>
              <a:t>Skill gap, preparation, perspective and manageable interpersonal issue.</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Facilitate</a:t>
            </a:r>
          </a:p>
          <a:p>
            <a:pPr algn="l">
              <a:spcAft>
                <a:spcPts val="300"/>
              </a:spcAft>
            </a:pPr>
            <a:r>
              <a:rPr sz="1200" b="0">
                <a:solidFill>
                  <a:srgbClr val="5B6372"/>
                </a:solidFill>
                <a:latin typeface="Arial"/>
              </a:rPr>
              <a:t>Parties want dialogue but need process support.</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Escalate</a:t>
            </a:r>
          </a:p>
          <a:p>
            <a:pPr algn="l">
              <a:spcAft>
                <a:spcPts val="300"/>
              </a:spcAft>
            </a:pPr>
            <a:r>
              <a:rPr sz="1200" b="0">
                <a:solidFill>
                  <a:srgbClr val="5B6372"/>
                </a:solidFill>
                <a:latin typeface="Arial"/>
              </a:rPr>
              <a:t>Safety, harassment, discrimination, retaliation or authority limit.</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Follow up</a:t>
            </a:r>
          </a:p>
          <a:p>
            <a:pPr algn="l">
              <a:spcAft>
                <a:spcPts val="300"/>
              </a:spcAft>
            </a:pPr>
            <a:r>
              <a:rPr sz="1200" b="0">
                <a:solidFill>
                  <a:srgbClr val="5B6372"/>
                </a:solidFill>
                <a:latin typeface="Arial"/>
              </a:rPr>
              <a:t>Behavioural commitment, work impact and recurrence indicators.</a:t>
            </a:r>
          </a:p>
        </p:txBody>
      </p:sp>
      <p:sp>
        <p:nvSpPr>
          <p:cNvPr id="26" name="TextBox 2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7" name="TextBox 2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8" name="TextBox 2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
        <p:nvSpPr>
          <p:cNvPr id="29" name="TextBox 2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illustrative worked example</a:t>
            </a:r>
          </a:p>
        </p:txBody>
      </p:sp>
    </p:spTree>
  </p:cSld>
  <p:clrMapOvr>
    <a:masterClrMapping/>
  </p:clrMapOvr>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Topic 3 · T1 · ACTIVITY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Leader Coaching Huddle at NovaTech Services</a:t>
            </a:r>
          </a:p>
        </p:txBody>
      </p:sp>
      <p:sp>
        <p:nvSpPr>
          <p:cNvPr id="6" name="Rectangle 5"/>
          <p:cNvSpPr/>
          <p:nvPr/>
        </p:nvSpPr>
        <p:spPr>
          <a:xfrm>
            <a:off x="777240" y="1691640"/>
            <a:ext cx="16916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28216"/>
            <a:ext cx="1691640" cy="365760"/>
          </a:xfrm>
          <a:prstGeom prst="rect">
            <a:avLst/>
          </a:prstGeom>
          <a:noFill/>
        </p:spPr>
        <p:txBody>
          <a:bodyPr wrap="square" anchor="t">
            <a:spAutoFit/>
          </a:bodyPr>
          <a:lstStyle/>
          <a:p>
            <a:pPr algn="ctr">
              <a:spcAft>
                <a:spcPts val="400"/>
              </a:spcAft>
            </a:pPr>
            <a:r>
              <a:rPr sz="1300" b="1">
                <a:solidFill>
                  <a:srgbClr val="FFFFFF"/>
                </a:solidFill>
                <a:latin typeface="Arial"/>
              </a:rPr>
              <a:t>CASE STUDY</a:t>
            </a:r>
          </a:p>
        </p:txBody>
      </p:sp>
      <p:sp>
        <p:nvSpPr>
          <p:cNvPr id="8" name="Rectangle 7"/>
          <p:cNvSpPr/>
          <p:nvPr/>
        </p:nvSpPr>
        <p:spPr>
          <a:xfrm>
            <a:off x="777240" y="2286000"/>
            <a:ext cx="1063447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86000"/>
            <a:ext cx="91440" cy="2880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487168"/>
            <a:ext cx="9966960" cy="320040"/>
          </a:xfrm>
          <a:prstGeom prst="rect">
            <a:avLst/>
          </a:prstGeom>
          <a:noFill/>
        </p:spPr>
        <p:txBody>
          <a:bodyPr wrap="square" anchor="t">
            <a:spAutoFit/>
          </a:bodyPr>
          <a:lstStyle/>
          <a:p>
            <a:pPr algn="l">
              <a:spcAft>
                <a:spcPts val="400"/>
              </a:spcAft>
            </a:pPr>
            <a:r>
              <a:rPr sz="1200" b="1">
                <a:solidFill>
                  <a:srgbClr val="10B981"/>
                </a:solidFill>
                <a:latin typeface="Arial"/>
              </a:rPr>
              <a:t>THE SITUATION</a:t>
            </a:r>
          </a:p>
        </p:txBody>
      </p:sp>
      <p:sp>
        <p:nvSpPr>
          <p:cNvPr id="11" name="TextBox 10"/>
          <p:cNvSpPr txBox="1"/>
          <p:nvPr/>
        </p:nvSpPr>
        <p:spPr>
          <a:xfrm>
            <a:off x="1097280" y="2834640"/>
            <a:ext cx="10058400" cy="2240280"/>
          </a:xfrm>
          <a:prstGeom prst="rect">
            <a:avLst/>
          </a:prstGeom>
          <a:noFill/>
        </p:spPr>
        <p:txBody>
          <a:bodyPr wrap="square" anchor="t">
            <a:spAutoFit/>
          </a:bodyPr>
          <a:lstStyle/>
          <a:p>
            <a:pPr algn="l">
              <a:spcAft>
                <a:spcPts val="800"/>
              </a:spcAft>
            </a:pPr>
            <a:r>
              <a:rPr sz="1450" b="0">
                <a:solidFill>
                  <a:srgbClr val="161B26"/>
                </a:solidFill>
                <a:latin typeface="Arial"/>
              </a:rPr>
              <a:t>At NovaTech Services, project lead Jordan feels that analyst Alex dismisses project decisions in meetings. Alex says Jordan closes discussion too quickly and uses seniority to override technical concerns.</a:t>
            </a:r>
          </a:p>
          <a:p>
            <a:pPr algn="l">
              <a:spcAft>
                <a:spcPts val="800"/>
              </a:spcAft>
            </a:pPr>
            <a:r>
              <a:rPr sz="1450" b="0">
                <a:solidFill>
                  <a:srgbClr val="161B26"/>
                </a:solidFill>
                <a:latin typeface="Arial"/>
              </a:rPr>
              <a:t>Department manager Taylor will coach Jordan first, not decide the dispute. Jordan must prepare a direct conversation that protects Alex's voice, clarifies decision rights and sets a follow-up checkpoint.</a:t>
            </a:r>
          </a:p>
        </p:txBody>
      </p:sp>
      <p:sp>
        <p:nvSpPr>
          <p:cNvPr id="12" name="Rectangle 11"/>
          <p:cNvSpPr/>
          <p:nvPr/>
        </p:nvSpPr>
        <p:spPr>
          <a:xfrm>
            <a:off x="777240" y="5349240"/>
            <a:ext cx="10634472"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5349240"/>
            <a:ext cx="7315200" cy="685800"/>
          </a:xfrm>
          <a:prstGeom prst="rect">
            <a:avLst/>
          </a:prstGeom>
          <a:noFill/>
        </p:spPr>
        <p:txBody>
          <a:bodyPr wrap="square" anchor="ctr">
            <a:spAutoFit/>
          </a:bodyPr>
          <a:lstStyle/>
          <a:p>
            <a:pPr algn="l">
              <a:spcAft>
                <a:spcPts val="400"/>
              </a:spcAft>
            </a:pPr>
            <a:r>
              <a:rPr sz="1300" b="1">
                <a:solidFill>
                  <a:srgbClr val="1F6FEB"/>
                </a:solidFill>
                <a:latin typeface="Arial"/>
              </a:rPr>
              <a:t>You'll produce:  </a:t>
            </a:r>
            <a:r>
              <a:rPr sz="1300" b="0">
                <a:solidFill>
                  <a:srgbClr val="161B26"/>
                </a:solidFill>
                <a:latin typeface="Arial"/>
              </a:rPr>
              <a:t>A completed COACH worksheet, rehearsal record and follow-up plan</a:t>
            </a:r>
          </a:p>
        </p:txBody>
      </p:sp>
      <p:sp>
        <p:nvSpPr>
          <p:cNvPr id="14" name="TextBox 13"/>
          <p:cNvSpPr txBox="1"/>
          <p:nvPr/>
        </p:nvSpPr>
        <p:spPr>
          <a:xfrm>
            <a:off x="8778240" y="5349240"/>
            <a:ext cx="2606040" cy="685800"/>
          </a:xfrm>
          <a:prstGeom prst="rect">
            <a:avLst/>
          </a:prstGeom>
          <a:noFill/>
        </p:spPr>
        <p:txBody>
          <a:bodyPr wrap="square" anchor="ctr">
            <a:spAutoFit/>
          </a:bodyPr>
          <a:lstStyle/>
          <a:p>
            <a:pPr algn="r">
              <a:spcAft>
                <a:spcPts val="400"/>
              </a:spcAft>
            </a:pPr>
            <a:r>
              <a:rPr sz="1300" b="1">
                <a:solidFill>
                  <a:srgbClr val="5B6372"/>
                </a:solidFill>
                <a:latin typeface="Arial"/>
              </a:rPr>
              <a:t>Duration: </a:t>
            </a:r>
            <a:r>
              <a:rPr sz="1300" b="0">
                <a:solidFill>
                  <a:srgbClr val="5B6372"/>
                </a:solidFill>
                <a:latin typeface="Arial"/>
              </a:rPr>
              <a:t>60 minutes</a:t>
            </a:r>
          </a:p>
        </p:txBody>
      </p:sp>
      <p:sp>
        <p:nvSpPr>
          <p:cNvPr id="15" name="TextBox 14"/>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6" name="TextBox 15"/>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7" name="TextBox 16"/>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50"/>
                                        <p:tgtEl>
                                          <p:spTgt spid="11"/>
                                        </p:tgtEl>
                                      </p:cBhvr>
                                    </p:animEffect>
                                    <p:anim calcmode="lin" valueType="num">
                                      <p:cBhvr additive="base">
                                        <p:cTn id="3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50"/>
                                        <p:tgtEl>
                                          <p:spTgt spid="12"/>
                                        </p:tgtEl>
                                      </p:cBhvr>
                                    </p:animEffect>
                                    <p:anim calcmode="lin" valueType="num">
                                      <p:cBhvr additive="base">
                                        <p:cTn id="4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par>
                    <p:cTn id="50" fill="hold">
                      <p:stCondLst>
                        <p:cond delay="0"/>
                      </p:stCondLst>
                      <p:childTnLst>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350"/>
                                        <p:tgtEl>
                                          <p:spTgt spid="13"/>
                                        </p:tgtEl>
                                      </p:cBhvr>
                                    </p:animEffect>
                                    <p:anim calcmode="lin" valueType="num">
                                      <p:cBhvr additive="base">
                                        <p:cTn id="55" dur="350" fill="hold"/>
                                        <p:tgtEl>
                                          <p:spTgt spid="13"/>
                                        </p:tgtEl>
                                        <p:attrNameLst>
                                          <p:attrName>ppt_y</p:attrName>
                                        </p:attrNameLst>
                                      </p:cBhvr>
                                      <p:tavLst>
                                        <p:tav tm="0">
                                          <p:val>
                                            <p:strVal val="#ppt_y+0.0350"/>
                                          </p:val>
                                        </p:tav>
                                        <p:tav tm="100000">
                                          <p:val>
                                            <p:strVal val="#ppt_y"/>
                                          </p:val>
                                        </p:tav>
                                      </p:tavLst>
                                    </p:anim>
                                  </p:childTnLst>
                                </p:cTn>
                              </p:par>
                            </p:childTnLst>
                          </p:cTn>
                        </p:par>
                      </p:childTnLst>
                    </p:cTn>
                  </p:par>
                  <p:par>
                    <p:cTn id="60" fill="hold">
                      <p:stCondLst>
                        <p:cond delay="0"/>
                      </p:stCondLst>
                      <p:childTnLst>
                        <p:par>
                          <p:cTn id="61" fill="hold">
                            <p:stCondLst>
                              <p:cond delay="0"/>
                            </p:stCondLst>
                            <p:childTnLst>
                              <p:par>
                                <p:cTn id="62" presetID="10" presetClass="entr" presetSubtype="0"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350"/>
                                        <p:tgtEl>
                                          <p:spTgt spid="14"/>
                                        </p:tgtEl>
                                      </p:cBhvr>
                                    </p:animEffect>
                                    <p:anim calcmode="lin" valueType="num">
                                      <p:cBhvr additive="base">
                                        <p:cTn id="65" dur="350" fill="hold"/>
                                        <p:tgtEl>
                                          <p:spTgt spid="14"/>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Topic 3 · T1 · ACTIVITY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Leader Coaching Huddle at NovaTech Services</a:t>
            </a:r>
          </a:p>
        </p:txBody>
      </p:sp>
      <p:sp>
        <p:nvSpPr>
          <p:cNvPr id="6" name="TextBox 5"/>
          <p:cNvSpPr txBox="1"/>
          <p:nvPr/>
        </p:nvSpPr>
        <p:spPr>
          <a:xfrm>
            <a:off x="777240" y="1719072"/>
            <a:ext cx="8229600" cy="365760"/>
          </a:xfrm>
          <a:prstGeom prst="rect">
            <a:avLst/>
          </a:prstGeom>
          <a:noFill/>
        </p:spPr>
        <p:txBody>
          <a:bodyPr wrap="square" anchor="t">
            <a:spAutoFit/>
          </a:bodyPr>
          <a:lstStyle/>
          <a:p>
            <a:pPr algn="l">
              <a:spcAft>
                <a:spcPts val="400"/>
              </a:spcAft>
            </a:pPr>
            <a:r>
              <a:rPr sz="1300" b="1">
                <a:solidFill>
                  <a:srgbClr val="5B6372"/>
                </a:solidFill>
                <a:latin typeface="Arial"/>
              </a:rPr>
              <a:t>DISCUSSION &amp; DECISION PROMPTS</a:t>
            </a:r>
          </a:p>
        </p:txBody>
      </p:sp>
      <p:sp>
        <p:nvSpPr>
          <p:cNvPr id="7" name="Rectangle 6"/>
          <p:cNvSpPr/>
          <p:nvPr/>
        </p:nvSpPr>
        <p:spPr>
          <a:xfrm>
            <a:off x="777240" y="2148840"/>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78408" y="233400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334006"/>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37360" y="2148840"/>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Which questions help Jordan separate facts, feelings, assumptions and needs?</a:t>
            </a:r>
          </a:p>
        </p:txBody>
      </p:sp>
      <p:sp>
        <p:nvSpPr>
          <p:cNvPr id="12" name="Rectangle 11"/>
          <p:cNvSpPr/>
          <p:nvPr/>
        </p:nvSpPr>
        <p:spPr>
          <a:xfrm>
            <a:off x="777240" y="3168396"/>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8396"/>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78408" y="3353562"/>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3353562"/>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37360" y="3168396"/>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part of the conflict should Jordan own?</a:t>
            </a:r>
          </a:p>
        </p:txBody>
      </p:sp>
      <p:sp>
        <p:nvSpPr>
          <p:cNvPr id="17" name="Rectangle 16"/>
          <p:cNvSpPr/>
          <p:nvPr/>
        </p:nvSpPr>
        <p:spPr>
          <a:xfrm>
            <a:off x="777240" y="4187952"/>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87952"/>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78408" y="4373118"/>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373118"/>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37360" y="4187952"/>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How can Jordan invite technical challenge without reopening every decision?</a:t>
            </a:r>
          </a:p>
        </p:txBody>
      </p:sp>
      <p:sp>
        <p:nvSpPr>
          <p:cNvPr id="22" name="Rectangle 21"/>
          <p:cNvSpPr/>
          <p:nvPr/>
        </p:nvSpPr>
        <p:spPr>
          <a:xfrm>
            <a:off x="777240" y="5207508"/>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07508"/>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78408" y="5392674"/>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392674"/>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37360" y="5207508"/>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Which condition would require Taylor to move from coaching to formal action?</a:t>
            </a:r>
          </a:p>
        </p:txBody>
      </p:sp>
      <p:sp>
        <p:nvSpPr>
          <p:cNvPr id="27" name="TextBox 26"/>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8" name="TextBox 27"/>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9" name="TextBox 28"/>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fast" advClick="1">
    <p:wipe dir="l"/>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Topic 3 · T1 · ACTIVITY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Leader Coaching Huddle at NovaTech Services</a:t>
            </a:r>
          </a:p>
        </p:txBody>
      </p:sp>
      <p:sp>
        <p:nvSpPr>
          <p:cNvPr id="6" name="Rectangle 5"/>
          <p:cNvSpPr/>
          <p:nvPr/>
        </p:nvSpPr>
        <p:spPr>
          <a:xfrm>
            <a:off x="777240" y="1783080"/>
            <a:ext cx="10634472" cy="2651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6517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965960"/>
            <a:ext cx="10058400" cy="365760"/>
          </a:xfrm>
          <a:prstGeom prst="rect">
            <a:avLst/>
          </a:prstGeom>
          <a:noFill/>
        </p:spPr>
        <p:txBody>
          <a:bodyPr wrap="square" anchor="t">
            <a:spAutoFit/>
          </a:bodyPr>
          <a:lstStyle/>
          <a:p>
            <a:pPr algn="l">
              <a:spcAft>
                <a:spcPts val="400"/>
              </a:spcAft>
            </a:pPr>
            <a:r>
              <a:rPr sz="1300" b="1">
                <a:solidFill>
                  <a:srgbClr val="7C3AED"/>
                </a:solidFill>
                <a:latin typeface="Arial"/>
              </a:rPr>
              <a:t>REFLECT &amp; DISCUSS</a:t>
            </a:r>
          </a:p>
        </p:txBody>
      </p:sp>
      <p:sp>
        <p:nvSpPr>
          <p:cNvPr id="9" name="TextBox 8"/>
          <p:cNvSpPr txBox="1"/>
          <p:nvPr/>
        </p:nvSpPr>
        <p:spPr>
          <a:xfrm>
            <a:off x="1051560" y="2377440"/>
            <a:ext cx="10058400" cy="1920240"/>
          </a:xfrm>
          <a:prstGeom prst="rect">
            <a:avLst/>
          </a:prstGeom>
          <a:noFill/>
        </p:spPr>
        <p:txBody>
          <a:bodyPr wrap="square">
            <a:spAutoFit/>
          </a:bodyPr>
          <a:lstStyle/>
          <a:p>
            <a:pPr>
              <a:spcAft>
                <a:spcPts val="900"/>
              </a:spcAft>
            </a:pPr>
            <a:r>
              <a:rPr sz="1450" b="0">
                <a:solidFill>
                  <a:srgbClr val="161B26"/>
                </a:solidFill>
                <a:latin typeface="Arial"/>
              </a:rPr>
              <a:t>•  Did the coach avoid endorsing Jordan's story as fact?</a:t>
            </a:r>
          </a:p>
          <a:p>
            <a:pPr>
              <a:spcAft>
                <a:spcPts val="900"/>
              </a:spcAft>
            </a:pPr>
            <a:r>
              <a:rPr sz="1450" b="0">
                <a:solidFill>
                  <a:srgbClr val="161B26"/>
                </a:solidFill>
                <a:latin typeface="Arial"/>
              </a:rPr>
              <a:t>•  Did Jordan leave with chosen language, support and a review point?</a:t>
            </a:r>
          </a:p>
        </p:txBody>
      </p:sp>
      <p:sp>
        <p:nvSpPr>
          <p:cNvPr id="10" name="Rectangle 9"/>
          <p:cNvSpPr/>
          <p:nvPr/>
        </p:nvSpPr>
        <p:spPr>
          <a:xfrm>
            <a:off x="777240" y="4663440"/>
            <a:ext cx="10634472" cy="1371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4864608"/>
            <a:ext cx="10058400" cy="365760"/>
          </a:xfrm>
          <a:prstGeom prst="rect">
            <a:avLst/>
          </a:prstGeom>
          <a:noFill/>
        </p:spPr>
        <p:txBody>
          <a:bodyPr wrap="square" anchor="t">
            <a:spAutoFit/>
          </a:bodyPr>
          <a:lstStyle/>
          <a:p>
            <a:pPr algn="l">
              <a:spcAft>
                <a:spcPts val="400"/>
              </a:spcAft>
            </a:pPr>
            <a:r>
              <a:rPr sz="1500" b="1">
                <a:solidFill>
                  <a:srgbClr val="127A3E"/>
                </a:solidFill>
                <a:latin typeface="Arial"/>
              </a:rPr>
              <a:t>✓  Facilitator debrief check</a:t>
            </a:r>
          </a:p>
        </p:txBody>
      </p:sp>
      <p:sp>
        <p:nvSpPr>
          <p:cNvPr id="12" name="TextBox 11"/>
          <p:cNvSpPr txBox="1"/>
          <p:nvPr/>
        </p:nvSpPr>
        <p:spPr>
          <a:xfrm>
            <a:off x="1051560" y="5257800"/>
            <a:ext cx="10058400" cy="731520"/>
          </a:xfrm>
          <a:prstGeom prst="rect">
            <a:avLst/>
          </a:prstGeom>
          <a:noFill/>
        </p:spPr>
        <p:txBody>
          <a:bodyPr wrap="square" anchor="t">
            <a:spAutoFit/>
          </a:bodyPr>
          <a:lstStyle/>
          <a:p>
            <a:pPr algn="l">
              <a:spcAft>
                <a:spcPts val="400"/>
              </a:spcAft>
            </a:pPr>
            <a:r>
              <a:rPr sz="1300" b="0">
                <a:solidFill>
                  <a:srgbClr val="161B26"/>
                </a:solidFill>
                <a:latin typeface="Arial"/>
              </a:rPr>
              <a:t>The coaching plan keeps ownership with Jordan while defining safe boundaries, rehearsal feedback and follow-up.</a:t>
            </a:r>
          </a:p>
        </p:txBody>
      </p:sp>
      <p:sp>
        <p:nvSpPr>
          <p:cNvPr id="13" name="TextBox 12"/>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4" name="TextBox 13"/>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5" name="TextBox 14"/>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50"/>
                                        <p:tgtEl>
                                          <p:spTgt spid="9"/>
                                        </p:tgtEl>
                                      </p:cBhvr>
                                    </p:animEffect>
                                    <p:anim calcmode="lin" valueType="num">
                                      <p:cBhvr additive="base">
                                        <p:cTn id="1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350"/>
                                        <p:tgtEl>
                                          <p:spTgt spid="10"/>
                                        </p:tgtEl>
                                      </p:cBhvr>
                                    </p:animEffect>
                                    <p:anim calcmode="lin" valueType="num">
                                      <p:cBhvr additive="base">
                                        <p:cTn id="2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350"/>
                                        <p:tgtEl>
                                          <p:spTgt spid="12"/>
                                        </p:tgtEl>
                                      </p:cBhvr>
                                    </p:animEffect>
                                    <p:anim calcmode="lin" valueType="num">
                                      <p:cBhvr additive="base">
                                        <p:cTn id="3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Recap — Managing Team Conflicts in the Workplace</a:t>
            </a:r>
          </a:p>
        </p:txBody>
      </p:sp>
      <p:sp>
        <p:nvSpPr>
          <p:cNvPr id="6" name="Rectangle 5"/>
          <p:cNvSpPr/>
          <p:nvPr/>
        </p:nvSpPr>
        <p:spPr>
          <a:xfrm>
            <a:off x="777240" y="1783080"/>
            <a:ext cx="10634472"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9427464" cy="4187952"/>
          </a:xfrm>
          <a:prstGeom prst="rect">
            <a:avLst/>
          </a:prstGeom>
          <a:noFill/>
        </p:spPr>
        <p:txBody>
          <a:bodyPr wrap="square" anchor="ctr">
            <a:spAutoFit/>
          </a:bodyPr>
          <a:lstStyle/>
          <a:p>
            <a:pPr algn="l">
              <a:spcAft>
                <a:spcPts val="300"/>
              </a:spcAft>
            </a:pPr>
            <a:r>
              <a:rPr sz="1600" b="1">
                <a:solidFill>
                  <a:srgbClr val="161B26"/>
                </a:solidFill>
                <a:latin typeface="Arial"/>
              </a:rPr>
              <a:t>Leader Coaching Huddle at NovaTech Services</a:t>
            </a:r>
          </a:p>
          <a:p>
            <a:pPr algn="l">
              <a:spcAft>
                <a:spcPts val="300"/>
              </a:spcAft>
            </a:pPr>
            <a:r>
              <a:rPr sz="1200" b="0">
                <a:solidFill>
                  <a:srgbClr val="5B6372"/>
                </a:solidFill>
                <a:latin typeface="Arial"/>
              </a:rPr>
              <a:t>You can now: coach team members to prepare and own a constructive conflict conversation.</a:t>
            </a:r>
          </a:p>
        </p:txBody>
      </p:sp>
      <p:sp>
        <p:nvSpPr>
          <p:cNvPr id="11" name="TextBox 10"/>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2" name="TextBox 11"/>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3" name="TextBox 12"/>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Topic 3 · WHY IT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leader owns the process, not every person's preferred outcome.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Fairness means a clear process, equal voice, evidence, boundaries and follow-through.</a:t>
            </a:r>
          </a:p>
        </p:txBody>
      </p:sp>
      <p:sp>
        <p:nvSpPr>
          <p:cNvPr id="7" name="TextBox 6"/>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8" name="TextBox 7"/>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9" name="TextBox 8"/>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fast" advClick="1">
    <p:zoom/>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Reviewing Effectiveness and Preventing Recurrence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Outcome measures · Follow-up · Recurrence controls · Learning reviews · Legal and ethical safeguards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Topic 4</a:t>
            </a:r>
          </a:p>
        </p:txBody>
      </p:sp>
      <p:sp>
        <p:nvSpPr>
          <p:cNvPr id="9" name="TextBox 8"/>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0" name="TextBox 9"/>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1" name="TextBox 10"/>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350"/>
                                        <p:tgtEl>
                                          <p:spTgt spid="7"/>
                                        </p:tgtEl>
                                      </p:cBhvr>
                                    </p:animEffect>
                                    <p:anim calcmode="lin" valueType="num">
                                      <p:cBhvr additive="base">
                                        <p:cTn id="45" dur="350" fill="hold"/>
                                        <p:tgtEl>
                                          <p:spTgt spid="7"/>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KEY CONCEPTS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Key Concepts — Reviewing Effectiveness and Preventing Recurrence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Review effectiveness against agreed outcomes, behavioural commitments, work performance, relationship quality, stakeholder impact and signs of recurrence.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A resolution can be accepted yet ineffective; use scheduled check-ins, observable indicators and confidential feedback to test whether change lasts.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Prevention actions may clarify roles, rebalance workload, redesign handoffs, strengthen meeting norms, train staff, improve reporting channels or revise policy.</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Document only what is necessary, accurate, authorised and proportionate; restrict access and follow organisational retention and personal-data requirements.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0" name="TextBox 29"/>
          <p:cNvSpPr txBox="1"/>
          <p:nvPr/>
        </p:nvSpPr>
        <p:spPr>
          <a:xfrm>
            <a:off x="1764792"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Singapore guidance supports prompt grievance channels, open communication, fair treatment, trained neutral fact-finding and safeguards against retaliation.</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5" name="TextBox 34"/>
          <p:cNvSpPr txBox="1"/>
          <p:nvPr/>
        </p:nvSpPr>
        <p:spPr>
          <a:xfrm>
            <a:off x="7219188"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Serious harassment, threats, discrimination, safety or criminal concerns must be escalated to the authorised function or external authority; this course is not legal advice.</a:t>
            </a:r>
          </a:p>
        </p:txBody>
      </p:sp>
      <p:sp>
        <p:nvSpPr>
          <p:cNvPr id="36" name="TextBox 3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37" name="TextBox 3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38" name="TextBox 3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REVIEW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 resolution is effective only if evidence changes</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Do not confuse silence, avoidance or a signed agreement with durable resolution.</a:t>
            </a:r>
          </a:p>
        </p:txBody>
      </p:sp>
      <p:sp>
        <p:nvSpPr>
          <p:cNvPr id="7" name="Rectangle 6"/>
          <p:cNvSpPr/>
          <p:nvPr/>
        </p:nvSpPr>
        <p:spPr>
          <a:xfrm>
            <a:off x="777240" y="2212848"/>
            <a:ext cx="3374136"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12848"/>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487168"/>
            <a:ext cx="3374136" cy="914400"/>
          </a:xfrm>
          <a:prstGeom prst="rect">
            <a:avLst/>
          </a:prstGeom>
          <a:noFill/>
        </p:spPr>
        <p:txBody>
          <a:bodyPr wrap="square" anchor="t">
            <a:spAutoFit/>
          </a:bodyPr>
          <a:lstStyle/>
          <a:p>
            <a:pPr algn="ctr">
              <a:spcAft>
                <a:spcPts val="400"/>
              </a:spcAft>
            </a:pPr>
            <a:r>
              <a:rPr sz="4000" b="1">
                <a:solidFill>
                  <a:srgbClr val="1F6FEB"/>
                </a:solidFill>
                <a:latin typeface="Arial"/>
              </a:rPr>
              <a:t>BEHAV</a:t>
            </a:r>
          </a:p>
        </p:txBody>
      </p:sp>
      <p:sp>
        <p:nvSpPr>
          <p:cNvPr id="10" name="TextBox 9"/>
          <p:cNvSpPr txBox="1"/>
          <p:nvPr/>
        </p:nvSpPr>
        <p:spPr>
          <a:xfrm>
            <a:off x="923544" y="3419856"/>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Are agreed behaviours occurring?</a:t>
            </a:r>
          </a:p>
        </p:txBody>
      </p:sp>
      <p:sp>
        <p:nvSpPr>
          <p:cNvPr id="11" name="Rectangle 10"/>
          <p:cNvSpPr/>
          <p:nvPr/>
        </p:nvSpPr>
        <p:spPr>
          <a:xfrm>
            <a:off x="4407408" y="2212848"/>
            <a:ext cx="3374136"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07408" y="2212848"/>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07408" y="2487168"/>
            <a:ext cx="3374136" cy="914400"/>
          </a:xfrm>
          <a:prstGeom prst="rect">
            <a:avLst/>
          </a:prstGeom>
          <a:noFill/>
        </p:spPr>
        <p:txBody>
          <a:bodyPr wrap="square" anchor="t">
            <a:spAutoFit/>
          </a:bodyPr>
          <a:lstStyle/>
          <a:p>
            <a:pPr algn="ctr">
              <a:spcAft>
                <a:spcPts val="400"/>
              </a:spcAft>
            </a:pPr>
            <a:r>
              <a:rPr sz="3000" b="1">
                <a:solidFill>
                  <a:srgbClr val="10B981"/>
                </a:solidFill>
                <a:latin typeface="Arial"/>
              </a:rPr>
              <a:t>PROCESS</a:t>
            </a:r>
          </a:p>
        </p:txBody>
      </p:sp>
      <p:sp>
        <p:nvSpPr>
          <p:cNvPr id="14" name="TextBox 13"/>
          <p:cNvSpPr txBox="1"/>
          <p:nvPr/>
        </p:nvSpPr>
        <p:spPr>
          <a:xfrm>
            <a:off x="4553712" y="3419856"/>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Are handoffs and decision rights clearer?</a:t>
            </a:r>
          </a:p>
        </p:txBody>
      </p:sp>
      <p:sp>
        <p:nvSpPr>
          <p:cNvPr id="15" name="Rectangle 14"/>
          <p:cNvSpPr/>
          <p:nvPr/>
        </p:nvSpPr>
        <p:spPr>
          <a:xfrm>
            <a:off x="8037576" y="2212848"/>
            <a:ext cx="3374136"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37576" y="2212848"/>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37576" y="2487168"/>
            <a:ext cx="3374136" cy="914400"/>
          </a:xfrm>
          <a:prstGeom prst="rect">
            <a:avLst/>
          </a:prstGeom>
          <a:noFill/>
        </p:spPr>
        <p:txBody>
          <a:bodyPr wrap="square" anchor="t">
            <a:spAutoFit/>
          </a:bodyPr>
          <a:lstStyle/>
          <a:p>
            <a:pPr algn="ctr">
              <a:spcAft>
                <a:spcPts val="400"/>
              </a:spcAft>
            </a:pPr>
            <a:r>
              <a:rPr sz="3000" b="1">
                <a:solidFill>
                  <a:srgbClr val="7C3AED"/>
                </a:solidFill>
                <a:latin typeface="Arial"/>
              </a:rPr>
              <a:t>RESULT</a:t>
            </a:r>
          </a:p>
        </p:txBody>
      </p:sp>
      <p:sp>
        <p:nvSpPr>
          <p:cNvPr id="18" name="TextBox 17"/>
          <p:cNvSpPr txBox="1"/>
          <p:nvPr/>
        </p:nvSpPr>
        <p:spPr>
          <a:xfrm>
            <a:off x="8183880" y="3419856"/>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Did delay, error or customer impact improve?</a:t>
            </a:r>
          </a:p>
        </p:txBody>
      </p:sp>
      <p:sp>
        <p:nvSpPr>
          <p:cNvPr id="19" name="Rectangle 18"/>
          <p:cNvSpPr/>
          <p:nvPr/>
        </p:nvSpPr>
        <p:spPr>
          <a:xfrm>
            <a:off x="777240" y="3931920"/>
            <a:ext cx="3374136"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931920"/>
            <a:ext cx="3374136"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206240"/>
            <a:ext cx="3374136" cy="914400"/>
          </a:xfrm>
          <a:prstGeom prst="rect">
            <a:avLst/>
          </a:prstGeom>
          <a:noFill/>
        </p:spPr>
        <p:txBody>
          <a:bodyPr wrap="square" anchor="t">
            <a:spAutoFit/>
          </a:bodyPr>
          <a:lstStyle/>
          <a:p>
            <a:pPr algn="ctr">
              <a:spcAft>
                <a:spcPts val="400"/>
              </a:spcAft>
            </a:pPr>
            <a:r>
              <a:rPr sz="4000" b="1">
                <a:solidFill>
                  <a:srgbClr val="F59E0B"/>
                </a:solidFill>
                <a:latin typeface="Arial"/>
              </a:rPr>
              <a:t>VOICE</a:t>
            </a:r>
          </a:p>
        </p:txBody>
      </p:sp>
      <p:sp>
        <p:nvSpPr>
          <p:cNvPr id="22" name="TextBox 21"/>
          <p:cNvSpPr txBox="1"/>
          <p:nvPr/>
        </p:nvSpPr>
        <p:spPr>
          <a:xfrm>
            <a:off x="923544" y="5138928"/>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Do affected people report fairness and safety?</a:t>
            </a:r>
          </a:p>
        </p:txBody>
      </p:sp>
      <p:sp>
        <p:nvSpPr>
          <p:cNvPr id="23" name="Rectangle 22"/>
          <p:cNvSpPr/>
          <p:nvPr/>
        </p:nvSpPr>
        <p:spPr>
          <a:xfrm>
            <a:off x="4407408" y="3931920"/>
            <a:ext cx="3374136" cy="14813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407408" y="393192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07408" y="4206240"/>
            <a:ext cx="3374136" cy="914400"/>
          </a:xfrm>
          <a:prstGeom prst="rect">
            <a:avLst/>
          </a:prstGeom>
          <a:noFill/>
        </p:spPr>
        <p:txBody>
          <a:bodyPr wrap="square" anchor="t">
            <a:spAutoFit/>
          </a:bodyPr>
          <a:lstStyle/>
          <a:p>
            <a:pPr algn="ctr">
              <a:spcAft>
                <a:spcPts val="400"/>
              </a:spcAft>
            </a:pPr>
            <a:r>
              <a:rPr sz="4000" b="1">
                <a:solidFill>
                  <a:srgbClr val="1F6FEB"/>
                </a:solidFill>
                <a:latin typeface="Arial"/>
              </a:rPr>
              <a:t>RISK</a:t>
            </a:r>
          </a:p>
        </p:txBody>
      </p:sp>
      <p:sp>
        <p:nvSpPr>
          <p:cNvPr id="26" name="TextBox 25"/>
          <p:cNvSpPr txBox="1"/>
          <p:nvPr/>
        </p:nvSpPr>
        <p:spPr>
          <a:xfrm>
            <a:off x="4553712" y="5138928"/>
            <a:ext cx="3081528" cy="713232"/>
          </a:xfrm>
          <a:prstGeom prst="rect">
            <a:avLst/>
          </a:prstGeom>
          <a:noFill/>
        </p:spPr>
        <p:txBody>
          <a:bodyPr wrap="square" anchor="t">
            <a:spAutoFit/>
          </a:bodyPr>
          <a:lstStyle/>
          <a:p>
            <a:pPr algn="ctr">
              <a:spcAft>
                <a:spcPts val="400"/>
              </a:spcAft>
            </a:pPr>
            <a:r>
              <a:rPr sz="1200" b="0">
                <a:solidFill>
                  <a:srgbClr val="161B26"/>
                </a:solidFill>
                <a:latin typeface="Arial"/>
              </a:rPr>
              <a:t>Any retaliation, recurrence or displacement?</a:t>
            </a:r>
          </a:p>
        </p:txBody>
      </p:sp>
      <p:sp>
        <p:nvSpPr>
          <p:cNvPr id="27" name="Rectangle 26"/>
          <p:cNvSpPr/>
          <p:nvPr/>
        </p:nvSpPr>
        <p:spPr>
          <a:xfrm>
            <a:off x="777240" y="58978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8978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97280" y="5897880"/>
            <a:ext cx="10058400" cy="530352"/>
          </a:xfrm>
          <a:prstGeom prst="rect">
            <a:avLst/>
          </a:prstGeom>
          <a:noFill/>
        </p:spPr>
        <p:txBody>
          <a:bodyPr wrap="square" anchor="ctr">
            <a:spAutoFit/>
          </a:bodyPr>
          <a:lstStyle/>
          <a:p>
            <a:pPr algn="l">
              <a:spcAft>
                <a:spcPts val="400"/>
              </a:spcAft>
            </a:pPr>
            <a:r>
              <a:rPr sz="1200" b="1">
                <a:solidFill>
                  <a:srgbClr val="161B26"/>
                </a:solidFill>
                <a:latin typeface="Arial"/>
              </a:rPr>
              <a:t>Use leading and lagging indicators; record baselines, targets, sources and owners.</a:t>
            </a:r>
          </a:p>
        </p:txBody>
      </p:sp>
      <p:sp>
        <p:nvSpPr>
          <p:cNvPr id="30" name="TextBox 29"/>
          <p:cNvSpPr txBox="1"/>
          <p:nvPr/>
        </p:nvSpPr>
        <p:spPr>
          <a:xfrm>
            <a:off x="777240" y="5541264"/>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Course synthesis from supplied conflict-resolution and workplace-guidance sources</a:t>
            </a:r>
          </a:p>
        </p:txBody>
      </p:sp>
      <p:sp>
        <p:nvSpPr>
          <p:cNvPr id="31" name="TextBox 30"/>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32" name="TextBox 31"/>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33" name="TextBox 32"/>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IMPROVEMENT CYCLE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Review, learn, adjust, prevent</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Follow-up closes the loop between an agreement and organisational learning.</a:t>
            </a:r>
          </a:p>
        </p:txBody>
      </p:sp>
      <p:sp>
        <p:nvSpPr>
          <p:cNvPr id="7" name="Rectangle 6"/>
          <p:cNvSpPr/>
          <p:nvPr/>
        </p:nvSpPr>
        <p:spPr>
          <a:xfrm>
            <a:off x="777240"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1775" y="25511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1775"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33756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Review</a:t>
            </a:r>
          </a:p>
        </p:txBody>
      </p:sp>
      <p:sp>
        <p:nvSpPr>
          <p:cNvPr id="12" name="TextBox 11"/>
          <p:cNvSpPr txBox="1"/>
          <p:nvPr/>
        </p:nvSpPr>
        <p:spPr>
          <a:xfrm>
            <a:off x="905256" y="3721608"/>
            <a:ext cx="1651406" cy="1143000"/>
          </a:xfrm>
          <a:prstGeom prst="rect">
            <a:avLst/>
          </a:prstGeom>
          <a:noFill/>
        </p:spPr>
        <p:txBody>
          <a:bodyPr wrap="square" anchor="t">
            <a:spAutoFit/>
          </a:bodyPr>
          <a:lstStyle/>
          <a:p>
            <a:pPr algn="ctr">
              <a:spcAft>
                <a:spcPts val="400"/>
              </a:spcAft>
            </a:pPr>
            <a:r>
              <a:rPr sz="1050" b="0">
                <a:solidFill>
                  <a:srgbClr val="5B6372"/>
                </a:solidFill>
                <a:latin typeface="Arial"/>
              </a:rPr>
              <a:t>Compare outcomes with commitments and measures.</a:t>
            </a:r>
          </a:p>
        </p:txBody>
      </p:sp>
      <p:sp>
        <p:nvSpPr>
          <p:cNvPr id="13" name="Chevron 12"/>
          <p:cNvSpPr/>
          <p:nvPr/>
        </p:nvSpPr>
        <p:spPr>
          <a:xfrm>
            <a:off x="2702966" y="344728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8998"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83533" y="25511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83533"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87014" y="333756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Learn</a:t>
            </a:r>
          </a:p>
        </p:txBody>
      </p:sp>
      <p:sp>
        <p:nvSpPr>
          <p:cNvPr id="19" name="TextBox 18"/>
          <p:cNvSpPr txBox="1"/>
          <p:nvPr/>
        </p:nvSpPr>
        <p:spPr>
          <a:xfrm>
            <a:off x="3087014" y="3721608"/>
            <a:ext cx="1651406" cy="1143000"/>
          </a:xfrm>
          <a:prstGeom prst="rect">
            <a:avLst/>
          </a:prstGeom>
          <a:noFill/>
        </p:spPr>
        <p:txBody>
          <a:bodyPr wrap="square" anchor="t">
            <a:spAutoFit/>
          </a:bodyPr>
          <a:lstStyle/>
          <a:p>
            <a:pPr algn="ctr">
              <a:spcAft>
                <a:spcPts val="400"/>
              </a:spcAft>
            </a:pPr>
            <a:r>
              <a:rPr sz="1050" b="0">
                <a:solidFill>
                  <a:srgbClr val="5B6372"/>
                </a:solidFill>
                <a:latin typeface="Arial"/>
              </a:rPr>
              <a:t>Identify what helped, failed or was assumed.</a:t>
            </a:r>
          </a:p>
        </p:txBody>
      </p:sp>
      <p:sp>
        <p:nvSpPr>
          <p:cNvPr id="20" name="Chevron 19"/>
          <p:cNvSpPr/>
          <p:nvPr/>
        </p:nvSpPr>
        <p:spPr>
          <a:xfrm>
            <a:off x="4884724" y="344728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40756"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765291" y="25511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5291"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68772" y="333756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Adjust</a:t>
            </a:r>
          </a:p>
        </p:txBody>
      </p:sp>
      <p:sp>
        <p:nvSpPr>
          <p:cNvPr id="26" name="TextBox 25"/>
          <p:cNvSpPr txBox="1"/>
          <p:nvPr/>
        </p:nvSpPr>
        <p:spPr>
          <a:xfrm>
            <a:off x="5268772" y="3721608"/>
            <a:ext cx="1651406" cy="1143000"/>
          </a:xfrm>
          <a:prstGeom prst="rect">
            <a:avLst/>
          </a:prstGeom>
          <a:noFill/>
        </p:spPr>
        <p:txBody>
          <a:bodyPr wrap="square" anchor="t">
            <a:spAutoFit/>
          </a:bodyPr>
          <a:lstStyle/>
          <a:p>
            <a:pPr algn="ctr">
              <a:spcAft>
                <a:spcPts val="400"/>
              </a:spcAft>
            </a:pPr>
            <a:r>
              <a:rPr sz="1050" b="0">
                <a:solidFill>
                  <a:srgbClr val="5B6372"/>
                </a:solidFill>
                <a:latin typeface="Arial"/>
              </a:rPr>
              <a:t>Change actions, support or the resolution route.</a:t>
            </a:r>
          </a:p>
        </p:txBody>
      </p:sp>
      <p:sp>
        <p:nvSpPr>
          <p:cNvPr id="27" name="Chevron 26"/>
          <p:cNvSpPr/>
          <p:nvPr/>
        </p:nvSpPr>
        <p:spPr>
          <a:xfrm>
            <a:off x="7066482" y="344728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22514"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22514"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47049" y="25511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47049"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50530" y="333756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Prevent</a:t>
            </a:r>
          </a:p>
        </p:txBody>
      </p:sp>
      <p:sp>
        <p:nvSpPr>
          <p:cNvPr id="33" name="TextBox 32"/>
          <p:cNvSpPr txBox="1"/>
          <p:nvPr/>
        </p:nvSpPr>
        <p:spPr>
          <a:xfrm>
            <a:off x="7450530" y="3721608"/>
            <a:ext cx="1651406" cy="1143000"/>
          </a:xfrm>
          <a:prstGeom prst="rect">
            <a:avLst/>
          </a:prstGeom>
          <a:noFill/>
        </p:spPr>
        <p:txBody>
          <a:bodyPr wrap="square" anchor="t">
            <a:spAutoFit/>
          </a:bodyPr>
          <a:lstStyle/>
          <a:p>
            <a:pPr algn="ctr">
              <a:spcAft>
                <a:spcPts val="400"/>
              </a:spcAft>
            </a:pPr>
            <a:r>
              <a:rPr sz="1050" b="0">
                <a:solidFill>
                  <a:srgbClr val="5B6372"/>
                </a:solidFill>
                <a:latin typeface="Arial"/>
              </a:rPr>
              <a:t>Improve roles, handoffs, incentives, channels and policy.</a:t>
            </a:r>
          </a:p>
        </p:txBody>
      </p:sp>
      <p:sp>
        <p:nvSpPr>
          <p:cNvPr id="34" name="Chevron 33"/>
          <p:cNvSpPr/>
          <p:nvPr/>
        </p:nvSpPr>
        <p:spPr>
          <a:xfrm>
            <a:off x="9248240" y="344728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240280"/>
            <a:ext cx="1907438" cy="2743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04272" y="224028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128807" y="255117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28807" y="255117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632288" y="333756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Monitor</a:t>
            </a:r>
          </a:p>
        </p:txBody>
      </p:sp>
      <p:sp>
        <p:nvSpPr>
          <p:cNvPr id="40" name="TextBox 39"/>
          <p:cNvSpPr txBox="1"/>
          <p:nvPr/>
        </p:nvSpPr>
        <p:spPr>
          <a:xfrm>
            <a:off x="9632288" y="3721608"/>
            <a:ext cx="1651406" cy="1143000"/>
          </a:xfrm>
          <a:prstGeom prst="rect">
            <a:avLst/>
          </a:prstGeom>
          <a:noFill/>
        </p:spPr>
        <p:txBody>
          <a:bodyPr wrap="square" anchor="t">
            <a:spAutoFit/>
          </a:bodyPr>
          <a:lstStyle/>
          <a:p>
            <a:pPr algn="ctr">
              <a:spcAft>
                <a:spcPts val="400"/>
              </a:spcAft>
            </a:pPr>
            <a:r>
              <a:rPr sz="1050" b="0">
                <a:solidFill>
                  <a:srgbClr val="5B6372"/>
                </a:solidFill>
                <a:latin typeface="Arial"/>
              </a:rPr>
              <a:t>Set owners, dates and recurrence triggers.</a:t>
            </a:r>
          </a:p>
        </p:txBody>
      </p:sp>
      <p:sp>
        <p:nvSpPr>
          <p:cNvPr id="41" name="Rectangle 40"/>
          <p:cNvSpPr/>
          <p:nvPr/>
        </p:nvSpPr>
        <p:spPr>
          <a:xfrm>
            <a:off x="777240" y="5257800"/>
            <a:ext cx="10634472" cy="8229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5257800"/>
            <a:ext cx="91440" cy="8229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97280" y="5257800"/>
            <a:ext cx="10058400" cy="822960"/>
          </a:xfrm>
          <a:prstGeom prst="rect">
            <a:avLst/>
          </a:prstGeom>
          <a:noFill/>
        </p:spPr>
        <p:txBody>
          <a:bodyPr wrap="square" anchor="ctr">
            <a:spAutoFit/>
          </a:bodyPr>
          <a:lstStyle/>
          <a:p>
            <a:pPr algn="l">
              <a:spcAft>
                <a:spcPts val="400"/>
              </a:spcAft>
            </a:pPr>
            <a:r>
              <a:rPr sz="1400" b="1">
                <a:solidFill>
                  <a:srgbClr val="161B26"/>
                </a:solidFill>
                <a:latin typeface="Arial"/>
              </a:rPr>
              <a:t>A partially effective outcome is useful evidence—not a reason to declare success prematurely.</a:t>
            </a:r>
          </a:p>
        </p:txBody>
      </p:sp>
      <p:sp>
        <p:nvSpPr>
          <p:cNvPr id="44" name="TextBox 43"/>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45" name="TextBox 44"/>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46" name="TextBox 45"/>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ETHICAL BOUNDARIES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Informal resolution vs formal process</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Choose the route by safety, policy, power and alleged conduct—not convenience.</a:t>
            </a:r>
          </a:p>
        </p:txBody>
      </p:sp>
      <p:sp>
        <p:nvSpPr>
          <p:cNvPr id="7" name="Rectangle 6"/>
          <p:cNvSpPr/>
          <p:nvPr/>
        </p:nvSpPr>
        <p:spPr>
          <a:xfrm>
            <a:off x="2926080" y="2103120"/>
            <a:ext cx="4242816"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26080" y="2103120"/>
            <a:ext cx="4242816" cy="457200"/>
          </a:xfrm>
          <a:prstGeom prst="rect">
            <a:avLst/>
          </a:prstGeom>
          <a:noFill/>
        </p:spPr>
        <p:txBody>
          <a:bodyPr wrap="square" anchor="ctr">
            <a:spAutoFit/>
          </a:bodyPr>
          <a:lstStyle/>
          <a:p>
            <a:pPr algn="ctr">
              <a:spcAft>
                <a:spcPts val="400"/>
              </a:spcAft>
            </a:pPr>
            <a:r>
              <a:rPr sz="1500" b="1">
                <a:solidFill>
                  <a:srgbClr val="FFFFFF"/>
                </a:solidFill>
                <a:latin typeface="Arial"/>
              </a:rPr>
              <a:t>Informal may fit</a:t>
            </a:r>
          </a:p>
        </p:txBody>
      </p:sp>
      <p:sp>
        <p:nvSpPr>
          <p:cNvPr id="9" name="Rectangle 8"/>
          <p:cNvSpPr/>
          <p:nvPr/>
        </p:nvSpPr>
        <p:spPr>
          <a:xfrm>
            <a:off x="7168896" y="2103120"/>
            <a:ext cx="4242816"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8896" y="2103120"/>
            <a:ext cx="4242816" cy="457200"/>
          </a:xfrm>
          <a:prstGeom prst="rect">
            <a:avLst/>
          </a:prstGeom>
          <a:noFill/>
        </p:spPr>
        <p:txBody>
          <a:bodyPr wrap="square" anchor="ctr">
            <a:spAutoFit/>
          </a:bodyPr>
          <a:lstStyle/>
          <a:p>
            <a:pPr algn="ctr">
              <a:spcAft>
                <a:spcPts val="400"/>
              </a:spcAft>
            </a:pPr>
            <a:r>
              <a:rPr sz="1500" b="1">
                <a:solidFill>
                  <a:srgbClr val="FFFFFF"/>
                </a:solidFill>
                <a:latin typeface="Arial"/>
              </a:rPr>
              <a:t>Formal route may be required</a:t>
            </a:r>
          </a:p>
        </p:txBody>
      </p:sp>
      <p:sp>
        <p:nvSpPr>
          <p:cNvPr id="11" name="Rectangle 10"/>
          <p:cNvSpPr/>
          <p:nvPr/>
        </p:nvSpPr>
        <p:spPr>
          <a:xfrm>
            <a:off x="777240" y="2560320"/>
            <a:ext cx="2148840" cy="8915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560320"/>
            <a:ext cx="1874520" cy="891540"/>
          </a:xfrm>
          <a:prstGeom prst="rect">
            <a:avLst/>
          </a:prstGeom>
          <a:noFill/>
        </p:spPr>
        <p:txBody>
          <a:bodyPr wrap="square" anchor="ctr">
            <a:spAutoFit/>
          </a:bodyPr>
          <a:lstStyle/>
          <a:p>
            <a:pPr algn="l">
              <a:spcAft>
                <a:spcPts val="400"/>
              </a:spcAft>
            </a:pPr>
            <a:r>
              <a:rPr sz="1400" b="1">
                <a:solidFill>
                  <a:srgbClr val="161B26"/>
                </a:solidFill>
                <a:latin typeface="Arial"/>
              </a:rPr>
              <a:t>Voice</a:t>
            </a:r>
          </a:p>
        </p:txBody>
      </p:sp>
      <p:sp>
        <p:nvSpPr>
          <p:cNvPr id="13" name="Rectangle 12"/>
          <p:cNvSpPr/>
          <p:nvPr/>
        </p:nvSpPr>
        <p:spPr>
          <a:xfrm>
            <a:off x="2926080" y="2560320"/>
            <a:ext cx="4242816" cy="8915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90672" y="2560320"/>
            <a:ext cx="3913632" cy="891540"/>
          </a:xfrm>
          <a:prstGeom prst="rect">
            <a:avLst/>
          </a:prstGeom>
          <a:noFill/>
        </p:spPr>
        <p:txBody>
          <a:bodyPr wrap="square" anchor="ctr">
            <a:spAutoFit/>
          </a:bodyPr>
          <a:lstStyle/>
          <a:p>
            <a:pPr algn="l">
              <a:spcAft>
                <a:spcPts val="400"/>
              </a:spcAft>
            </a:pPr>
            <a:r>
              <a:rPr sz="1300" b="0">
                <a:solidFill>
                  <a:srgbClr val="161B26"/>
                </a:solidFill>
                <a:latin typeface="Arial"/>
              </a:rPr>
              <a:t>Parties can participate freely</a:t>
            </a:r>
          </a:p>
        </p:txBody>
      </p:sp>
      <p:sp>
        <p:nvSpPr>
          <p:cNvPr id="15" name="Rectangle 14"/>
          <p:cNvSpPr/>
          <p:nvPr/>
        </p:nvSpPr>
        <p:spPr>
          <a:xfrm>
            <a:off x="7168896" y="2560320"/>
            <a:ext cx="4242816" cy="8915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33488" y="2560320"/>
            <a:ext cx="3913632" cy="891540"/>
          </a:xfrm>
          <a:prstGeom prst="rect">
            <a:avLst/>
          </a:prstGeom>
          <a:noFill/>
        </p:spPr>
        <p:txBody>
          <a:bodyPr wrap="square" anchor="ctr">
            <a:spAutoFit/>
          </a:bodyPr>
          <a:lstStyle/>
          <a:p>
            <a:pPr algn="l">
              <a:spcAft>
                <a:spcPts val="400"/>
              </a:spcAft>
            </a:pPr>
            <a:r>
              <a:rPr sz="1300" b="0">
                <a:solidFill>
                  <a:srgbClr val="161B26"/>
                </a:solidFill>
                <a:latin typeface="Arial"/>
              </a:rPr>
              <a:t>Threat, coercion, retaliation or serious power imbalance</a:t>
            </a:r>
          </a:p>
        </p:txBody>
      </p:sp>
      <p:sp>
        <p:nvSpPr>
          <p:cNvPr id="17" name="Rectangle 16"/>
          <p:cNvSpPr/>
          <p:nvPr/>
        </p:nvSpPr>
        <p:spPr>
          <a:xfrm>
            <a:off x="777240" y="3451860"/>
            <a:ext cx="2148840" cy="8915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451860"/>
            <a:ext cx="1874520" cy="891540"/>
          </a:xfrm>
          <a:prstGeom prst="rect">
            <a:avLst/>
          </a:prstGeom>
          <a:noFill/>
        </p:spPr>
        <p:txBody>
          <a:bodyPr wrap="square" anchor="ctr">
            <a:spAutoFit/>
          </a:bodyPr>
          <a:lstStyle/>
          <a:p>
            <a:pPr algn="l">
              <a:spcAft>
                <a:spcPts val="400"/>
              </a:spcAft>
            </a:pPr>
            <a:r>
              <a:rPr sz="1400" b="1">
                <a:solidFill>
                  <a:srgbClr val="161B26"/>
                </a:solidFill>
                <a:latin typeface="Arial"/>
              </a:rPr>
              <a:t>Conduct</a:t>
            </a:r>
          </a:p>
        </p:txBody>
      </p:sp>
      <p:sp>
        <p:nvSpPr>
          <p:cNvPr id="19" name="Rectangle 18"/>
          <p:cNvSpPr/>
          <p:nvPr/>
        </p:nvSpPr>
        <p:spPr>
          <a:xfrm>
            <a:off x="2926080" y="3451860"/>
            <a:ext cx="4242816" cy="8915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90672" y="3451860"/>
            <a:ext cx="3913632" cy="891540"/>
          </a:xfrm>
          <a:prstGeom prst="rect">
            <a:avLst/>
          </a:prstGeom>
          <a:noFill/>
        </p:spPr>
        <p:txBody>
          <a:bodyPr wrap="square" anchor="ctr">
            <a:spAutoFit/>
          </a:bodyPr>
          <a:lstStyle/>
          <a:p>
            <a:pPr algn="l">
              <a:spcAft>
                <a:spcPts val="400"/>
              </a:spcAft>
            </a:pPr>
            <a:r>
              <a:rPr sz="1300" b="0">
                <a:solidFill>
                  <a:srgbClr val="161B26"/>
                </a:solidFill>
                <a:latin typeface="Arial"/>
              </a:rPr>
              <a:t>Issue concerns workable behaviour or coordination</a:t>
            </a:r>
          </a:p>
        </p:txBody>
      </p:sp>
      <p:sp>
        <p:nvSpPr>
          <p:cNvPr id="21" name="Rectangle 20"/>
          <p:cNvSpPr/>
          <p:nvPr/>
        </p:nvSpPr>
        <p:spPr>
          <a:xfrm>
            <a:off x="7168896" y="3451860"/>
            <a:ext cx="4242816" cy="8915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33488" y="3451860"/>
            <a:ext cx="3913632" cy="891540"/>
          </a:xfrm>
          <a:prstGeom prst="rect">
            <a:avLst/>
          </a:prstGeom>
          <a:noFill/>
        </p:spPr>
        <p:txBody>
          <a:bodyPr wrap="square" anchor="ctr">
            <a:spAutoFit/>
          </a:bodyPr>
          <a:lstStyle/>
          <a:p>
            <a:pPr algn="l">
              <a:spcAft>
                <a:spcPts val="400"/>
              </a:spcAft>
            </a:pPr>
            <a:r>
              <a:rPr sz="1300" b="0">
                <a:solidFill>
                  <a:srgbClr val="161B26"/>
                </a:solidFill>
                <a:latin typeface="Arial"/>
              </a:rPr>
              <a:t>Harassment, discrimination, violence or serious misconduct allegation</a:t>
            </a:r>
          </a:p>
        </p:txBody>
      </p:sp>
      <p:sp>
        <p:nvSpPr>
          <p:cNvPr id="23" name="Rectangle 22"/>
          <p:cNvSpPr/>
          <p:nvPr/>
        </p:nvSpPr>
        <p:spPr>
          <a:xfrm>
            <a:off x="777240" y="4343400"/>
            <a:ext cx="2148840" cy="8915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4343400"/>
            <a:ext cx="1874520" cy="891540"/>
          </a:xfrm>
          <a:prstGeom prst="rect">
            <a:avLst/>
          </a:prstGeom>
          <a:noFill/>
        </p:spPr>
        <p:txBody>
          <a:bodyPr wrap="square" anchor="ctr">
            <a:spAutoFit/>
          </a:bodyPr>
          <a:lstStyle/>
          <a:p>
            <a:pPr algn="l">
              <a:spcAft>
                <a:spcPts val="400"/>
              </a:spcAft>
            </a:pPr>
            <a:r>
              <a:rPr sz="1400" b="1">
                <a:solidFill>
                  <a:srgbClr val="161B26"/>
                </a:solidFill>
                <a:latin typeface="Arial"/>
              </a:rPr>
              <a:t>Urgency</a:t>
            </a:r>
          </a:p>
        </p:txBody>
      </p:sp>
      <p:sp>
        <p:nvSpPr>
          <p:cNvPr id="25" name="Rectangle 24"/>
          <p:cNvSpPr/>
          <p:nvPr/>
        </p:nvSpPr>
        <p:spPr>
          <a:xfrm>
            <a:off x="2926080" y="4343400"/>
            <a:ext cx="4242816" cy="8915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90672" y="4343400"/>
            <a:ext cx="3913632" cy="891540"/>
          </a:xfrm>
          <a:prstGeom prst="rect">
            <a:avLst/>
          </a:prstGeom>
          <a:noFill/>
        </p:spPr>
        <p:txBody>
          <a:bodyPr wrap="square" anchor="ctr">
            <a:spAutoFit/>
          </a:bodyPr>
          <a:lstStyle/>
          <a:p>
            <a:pPr algn="l">
              <a:spcAft>
                <a:spcPts val="400"/>
              </a:spcAft>
            </a:pPr>
            <a:r>
              <a:rPr sz="1300" b="0">
                <a:solidFill>
                  <a:srgbClr val="161B26"/>
                </a:solidFill>
                <a:latin typeface="Arial"/>
              </a:rPr>
              <a:t>No urgent protection or evidence risk</a:t>
            </a:r>
          </a:p>
        </p:txBody>
      </p:sp>
      <p:sp>
        <p:nvSpPr>
          <p:cNvPr id="27" name="Rectangle 26"/>
          <p:cNvSpPr/>
          <p:nvPr/>
        </p:nvSpPr>
        <p:spPr>
          <a:xfrm>
            <a:off x="7168896" y="4343400"/>
            <a:ext cx="4242816" cy="89154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33488" y="4343400"/>
            <a:ext cx="3913632" cy="891540"/>
          </a:xfrm>
          <a:prstGeom prst="rect">
            <a:avLst/>
          </a:prstGeom>
          <a:noFill/>
        </p:spPr>
        <p:txBody>
          <a:bodyPr wrap="square" anchor="ctr">
            <a:spAutoFit/>
          </a:bodyPr>
          <a:lstStyle/>
          <a:p>
            <a:pPr algn="l">
              <a:spcAft>
                <a:spcPts val="400"/>
              </a:spcAft>
            </a:pPr>
            <a:r>
              <a:rPr sz="1300" b="0">
                <a:solidFill>
                  <a:srgbClr val="161B26"/>
                </a:solidFill>
                <a:latin typeface="Arial"/>
              </a:rPr>
              <a:t>Immediate protection or evidence preservation is needed</a:t>
            </a:r>
          </a:p>
        </p:txBody>
      </p:sp>
      <p:sp>
        <p:nvSpPr>
          <p:cNvPr id="29" name="Rectangle 28"/>
          <p:cNvSpPr/>
          <p:nvPr/>
        </p:nvSpPr>
        <p:spPr>
          <a:xfrm>
            <a:off x="777240" y="5234940"/>
            <a:ext cx="2148840" cy="8915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5234940"/>
            <a:ext cx="1874520" cy="891540"/>
          </a:xfrm>
          <a:prstGeom prst="rect">
            <a:avLst/>
          </a:prstGeom>
          <a:noFill/>
        </p:spPr>
        <p:txBody>
          <a:bodyPr wrap="square" anchor="ctr">
            <a:spAutoFit/>
          </a:bodyPr>
          <a:lstStyle/>
          <a:p>
            <a:pPr algn="l">
              <a:spcAft>
                <a:spcPts val="400"/>
              </a:spcAft>
            </a:pPr>
            <a:r>
              <a:rPr sz="1400" b="1">
                <a:solidFill>
                  <a:srgbClr val="161B26"/>
                </a:solidFill>
                <a:latin typeface="Arial"/>
              </a:rPr>
              <a:t>Authority</a:t>
            </a:r>
          </a:p>
        </p:txBody>
      </p:sp>
      <p:sp>
        <p:nvSpPr>
          <p:cNvPr id="31" name="Rectangle 30"/>
          <p:cNvSpPr/>
          <p:nvPr/>
        </p:nvSpPr>
        <p:spPr>
          <a:xfrm>
            <a:off x="2926080" y="5234940"/>
            <a:ext cx="4242816" cy="8915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90672" y="5234940"/>
            <a:ext cx="3913632" cy="891540"/>
          </a:xfrm>
          <a:prstGeom prst="rect">
            <a:avLst/>
          </a:prstGeom>
          <a:noFill/>
        </p:spPr>
        <p:txBody>
          <a:bodyPr wrap="square" anchor="ctr">
            <a:spAutoFit/>
          </a:bodyPr>
          <a:lstStyle/>
          <a:p>
            <a:pPr algn="l">
              <a:spcAft>
                <a:spcPts val="400"/>
              </a:spcAft>
            </a:pPr>
            <a:r>
              <a:rPr sz="1300" b="0">
                <a:solidFill>
                  <a:srgbClr val="161B26"/>
                </a:solidFill>
                <a:latin typeface="Arial"/>
              </a:rPr>
              <a:t>Agreement can remain within authority and policy</a:t>
            </a:r>
          </a:p>
        </p:txBody>
      </p:sp>
      <p:sp>
        <p:nvSpPr>
          <p:cNvPr id="33" name="Rectangle 32"/>
          <p:cNvSpPr/>
          <p:nvPr/>
        </p:nvSpPr>
        <p:spPr>
          <a:xfrm>
            <a:off x="7168896" y="5234940"/>
            <a:ext cx="4242816" cy="8915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33488" y="5234940"/>
            <a:ext cx="3913632" cy="891540"/>
          </a:xfrm>
          <a:prstGeom prst="rect">
            <a:avLst/>
          </a:prstGeom>
          <a:noFill/>
        </p:spPr>
        <p:txBody>
          <a:bodyPr wrap="square" anchor="ctr">
            <a:spAutoFit/>
          </a:bodyPr>
          <a:lstStyle/>
          <a:p>
            <a:pPr algn="l">
              <a:spcAft>
                <a:spcPts val="400"/>
              </a:spcAft>
            </a:pPr>
            <a:r>
              <a:rPr sz="1300" b="0">
                <a:solidFill>
                  <a:srgbClr val="161B26"/>
                </a:solidFill>
                <a:latin typeface="Arial"/>
              </a:rPr>
              <a:t>Finding, sanction, statutory duty or independent investigation is required</a:t>
            </a:r>
          </a:p>
        </p:txBody>
      </p:sp>
      <p:sp>
        <p:nvSpPr>
          <p:cNvPr id="35" name="TextBox 34"/>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36" name="TextBox 35"/>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37" name="TextBox 36"/>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 SINGAPORE WORKPLACE CONTEXT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Policy-aligned handling protects everyone</a:t>
            </a:r>
          </a:p>
        </p:txBody>
      </p:sp>
      <p:sp>
        <p:nvSpPr>
          <p:cNvPr id="6" name="TextBox 5"/>
          <p:cNvSpPr txBox="1"/>
          <p:nvPr/>
        </p:nvSpPr>
        <p:spPr>
          <a:xfrm>
            <a:off x="795528" y="1664208"/>
            <a:ext cx="10607040" cy="365760"/>
          </a:xfrm>
          <a:prstGeom prst="rect">
            <a:avLst/>
          </a:prstGeom>
          <a:noFill/>
        </p:spPr>
        <p:txBody>
          <a:bodyPr wrap="square" anchor="t">
            <a:spAutoFit/>
          </a:bodyPr>
          <a:lstStyle/>
          <a:p>
            <a:pPr algn="l">
              <a:spcAft>
                <a:spcPts val="400"/>
              </a:spcAft>
            </a:pPr>
            <a:r>
              <a:rPr sz="1300" b="0">
                <a:solidFill>
                  <a:srgbClr val="5B6372"/>
                </a:solidFill>
                <a:latin typeface="Arial"/>
              </a:rPr>
              <a:t>This course provides management guidance, not legal advice; use current policy and professional advice for real cases.</a:t>
            </a:r>
          </a:p>
        </p:txBody>
      </p:sp>
      <p:sp>
        <p:nvSpPr>
          <p:cNvPr id="7" name="Rectangle 6"/>
          <p:cNvSpPr/>
          <p:nvPr/>
        </p:nvSpPr>
        <p:spPr>
          <a:xfrm>
            <a:off x="777240" y="2057400"/>
            <a:ext cx="5180076" cy="19156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57400"/>
            <a:ext cx="91440" cy="19156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221992"/>
            <a:ext cx="4677156" cy="365760"/>
          </a:xfrm>
          <a:prstGeom prst="rect">
            <a:avLst/>
          </a:prstGeom>
          <a:noFill/>
        </p:spPr>
        <p:txBody>
          <a:bodyPr wrap="square" anchor="t">
            <a:spAutoFit/>
          </a:bodyPr>
          <a:lstStyle/>
          <a:p>
            <a:pPr algn="l">
              <a:spcAft>
                <a:spcPts val="400"/>
              </a:spcAft>
            </a:pPr>
            <a:r>
              <a:rPr sz="1600" b="1">
                <a:solidFill>
                  <a:srgbClr val="1F6FEB"/>
                </a:solidFill>
                <a:latin typeface="Arial"/>
              </a:rPr>
              <a:t>Access</a:t>
            </a:r>
          </a:p>
        </p:txBody>
      </p:sp>
      <p:sp>
        <p:nvSpPr>
          <p:cNvPr id="10" name="TextBox 9"/>
          <p:cNvSpPr txBox="1"/>
          <p:nvPr/>
        </p:nvSpPr>
        <p:spPr>
          <a:xfrm>
            <a:off x="1051560" y="2624328"/>
            <a:ext cx="4677156" cy="1229868"/>
          </a:xfrm>
          <a:prstGeom prst="rect">
            <a:avLst/>
          </a:prstGeom>
          <a:noFill/>
        </p:spPr>
        <p:txBody>
          <a:bodyPr wrap="square" anchor="t">
            <a:spAutoFit/>
          </a:bodyPr>
          <a:lstStyle/>
          <a:p>
            <a:pPr algn="l">
              <a:spcAft>
                <a:spcPts val="400"/>
              </a:spcAft>
            </a:pPr>
            <a:r>
              <a:rPr sz="1200" b="0">
                <a:solidFill>
                  <a:srgbClr val="161B26"/>
                </a:solidFill>
                <a:latin typeface="Arial"/>
              </a:rPr>
              <a:t>Provide clear reporting channels and an alternative where the direct manager is involved.</a:t>
            </a:r>
          </a:p>
        </p:txBody>
      </p:sp>
      <p:sp>
        <p:nvSpPr>
          <p:cNvPr id="11" name="Rectangle 10"/>
          <p:cNvSpPr/>
          <p:nvPr/>
        </p:nvSpPr>
        <p:spPr>
          <a:xfrm>
            <a:off x="6231636" y="2057400"/>
            <a:ext cx="5180076" cy="19156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2057400"/>
            <a:ext cx="91440" cy="19156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05956" y="2221992"/>
            <a:ext cx="4677156" cy="365760"/>
          </a:xfrm>
          <a:prstGeom prst="rect">
            <a:avLst/>
          </a:prstGeom>
          <a:noFill/>
        </p:spPr>
        <p:txBody>
          <a:bodyPr wrap="square" anchor="t">
            <a:spAutoFit/>
          </a:bodyPr>
          <a:lstStyle/>
          <a:p>
            <a:pPr algn="l">
              <a:spcAft>
                <a:spcPts val="400"/>
              </a:spcAft>
            </a:pPr>
            <a:r>
              <a:rPr sz="1600" b="1">
                <a:solidFill>
                  <a:srgbClr val="10B981"/>
                </a:solidFill>
                <a:latin typeface="Arial"/>
              </a:rPr>
              <a:t>Fairness</a:t>
            </a:r>
          </a:p>
        </p:txBody>
      </p:sp>
      <p:sp>
        <p:nvSpPr>
          <p:cNvPr id="14" name="TextBox 13"/>
          <p:cNvSpPr txBox="1"/>
          <p:nvPr/>
        </p:nvSpPr>
        <p:spPr>
          <a:xfrm>
            <a:off x="6505956" y="2624328"/>
            <a:ext cx="4677156" cy="1229868"/>
          </a:xfrm>
          <a:prstGeom prst="rect">
            <a:avLst/>
          </a:prstGeom>
          <a:noFill/>
        </p:spPr>
        <p:txBody>
          <a:bodyPr wrap="square" anchor="t">
            <a:spAutoFit/>
          </a:bodyPr>
          <a:lstStyle/>
          <a:p>
            <a:pPr algn="l">
              <a:spcAft>
                <a:spcPts val="400"/>
              </a:spcAft>
            </a:pPr>
            <a:r>
              <a:rPr sz="1200" b="0">
                <a:solidFill>
                  <a:srgbClr val="161B26"/>
                </a:solidFill>
                <a:latin typeface="Arial"/>
              </a:rPr>
              <a:t>Use impartial fact-finding, an opportunity to respond and proportional interim measures.</a:t>
            </a:r>
          </a:p>
        </p:txBody>
      </p:sp>
      <p:sp>
        <p:nvSpPr>
          <p:cNvPr id="15" name="Rectangle 14"/>
          <p:cNvSpPr/>
          <p:nvPr/>
        </p:nvSpPr>
        <p:spPr>
          <a:xfrm>
            <a:off x="777240" y="4210812"/>
            <a:ext cx="5180076" cy="19156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210812"/>
            <a:ext cx="91440" cy="19156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375404"/>
            <a:ext cx="4677156" cy="365760"/>
          </a:xfrm>
          <a:prstGeom prst="rect">
            <a:avLst/>
          </a:prstGeom>
          <a:noFill/>
        </p:spPr>
        <p:txBody>
          <a:bodyPr wrap="square" anchor="t">
            <a:spAutoFit/>
          </a:bodyPr>
          <a:lstStyle/>
          <a:p>
            <a:pPr algn="l">
              <a:spcAft>
                <a:spcPts val="400"/>
              </a:spcAft>
            </a:pPr>
            <a:r>
              <a:rPr sz="1600" b="1">
                <a:solidFill>
                  <a:srgbClr val="7C3AED"/>
                </a:solidFill>
                <a:latin typeface="Arial"/>
              </a:rPr>
              <a:t>Privacy</a:t>
            </a:r>
          </a:p>
        </p:txBody>
      </p:sp>
      <p:sp>
        <p:nvSpPr>
          <p:cNvPr id="18" name="TextBox 17"/>
          <p:cNvSpPr txBox="1"/>
          <p:nvPr/>
        </p:nvSpPr>
        <p:spPr>
          <a:xfrm>
            <a:off x="1051560" y="4777740"/>
            <a:ext cx="4677156" cy="1229868"/>
          </a:xfrm>
          <a:prstGeom prst="rect">
            <a:avLst/>
          </a:prstGeom>
          <a:noFill/>
        </p:spPr>
        <p:txBody>
          <a:bodyPr wrap="square" anchor="t">
            <a:spAutoFit/>
          </a:bodyPr>
          <a:lstStyle/>
          <a:p>
            <a:pPr algn="l">
              <a:spcAft>
                <a:spcPts val="400"/>
              </a:spcAft>
            </a:pPr>
            <a:r>
              <a:rPr sz="1200" b="0">
                <a:solidFill>
                  <a:srgbClr val="161B26"/>
                </a:solidFill>
                <a:latin typeface="Arial"/>
              </a:rPr>
              <a:t>Limit personal data to a stated purpose, need-to-know access and secure handling.</a:t>
            </a:r>
          </a:p>
        </p:txBody>
      </p:sp>
      <p:sp>
        <p:nvSpPr>
          <p:cNvPr id="19" name="Rectangle 18"/>
          <p:cNvSpPr/>
          <p:nvPr/>
        </p:nvSpPr>
        <p:spPr>
          <a:xfrm>
            <a:off x="6231636" y="4210812"/>
            <a:ext cx="5180076" cy="19156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1636" y="4210812"/>
            <a:ext cx="91440" cy="19156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05956" y="4375404"/>
            <a:ext cx="4677156" cy="365760"/>
          </a:xfrm>
          <a:prstGeom prst="rect">
            <a:avLst/>
          </a:prstGeom>
          <a:noFill/>
        </p:spPr>
        <p:txBody>
          <a:bodyPr wrap="square" anchor="t">
            <a:spAutoFit/>
          </a:bodyPr>
          <a:lstStyle/>
          <a:p>
            <a:pPr algn="l">
              <a:spcAft>
                <a:spcPts val="400"/>
              </a:spcAft>
            </a:pPr>
            <a:r>
              <a:rPr sz="1600" b="1">
                <a:solidFill>
                  <a:srgbClr val="F59E0B"/>
                </a:solidFill>
                <a:latin typeface="Arial"/>
              </a:rPr>
              <a:t>Protection</a:t>
            </a:r>
          </a:p>
        </p:txBody>
      </p:sp>
      <p:sp>
        <p:nvSpPr>
          <p:cNvPr id="22" name="TextBox 21"/>
          <p:cNvSpPr txBox="1"/>
          <p:nvPr/>
        </p:nvSpPr>
        <p:spPr>
          <a:xfrm>
            <a:off x="6505956" y="4777740"/>
            <a:ext cx="4677156" cy="1229868"/>
          </a:xfrm>
          <a:prstGeom prst="rect">
            <a:avLst/>
          </a:prstGeom>
          <a:noFill/>
        </p:spPr>
        <p:txBody>
          <a:bodyPr wrap="square" anchor="t">
            <a:spAutoFit/>
          </a:bodyPr>
          <a:lstStyle/>
          <a:p>
            <a:pPr algn="l">
              <a:spcAft>
                <a:spcPts val="400"/>
              </a:spcAft>
            </a:pPr>
            <a:r>
              <a:rPr sz="1200" b="0">
                <a:solidFill>
                  <a:srgbClr val="161B26"/>
                </a:solidFill>
                <a:latin typeface="Arial"/>
              </a:rPr>
              <a:t>Address safety, support needs and retaliation risk while the process is ongoing.</a:t>
            </a:r>
          </a:p>
        </p:txBody>
      </p:sp>
      <p:sp>
        <p:nvSpPr>
          <p:cNvPr id="23" name="TextBox 22"/>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4" name="TextBox 23"/>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5" name="TextBox 24"/>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fast"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REVIEW</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Agreement is a hypothesis.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Follow-up evidence tells you whether the resolution worked and what must change next.</a:t>
            </a:r>
          </a:p>
        </p:txBody>
      </p:sp>
      <p:sp>
        <p:nvSpPr>
          <p:cNvPr id="7" name="TextBox 6"/>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8" name="TextBox 7"/>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9" name="TextBox 8"/>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350"/>
                                        <p:tgtEl>
                                          <p:spTgt spid="5"/>
                                        </p:tgtEl>
                                      </p:cBhvr>
                                    </p:animEffect>
                                    <p:anim calcmode="lin" valueType="num">
                                      <p:cBhvr additive="base">
                                        <p:cTn id="1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350"/>
                                        <p:tgtEl>
                                          <p:spTgt spid="6"/>
                                        </p:tgtEl>
                                      </p:cBhvr>
                                    </p:animEffect>
                                    <p:anim calcmode="lin" valueType="num">
                                      <p:cBhvr additive="base">
                                        <p:cTn id="2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600" b="1">
                <a:solidFill>
                  <a:srgbClr val="10B981"/>
                </a:solidFill>
                <a:latin typeface="Arial"/>
              </a:rPr>
              <a:t>LO4 · Topic 4 · T1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3400" b="1">
                <a:solidFill>
                  <a:srgbClr val="161B26"/>
                </a:solidFill>
                <a:latin typeface="Arial"/>
              </a:rPr>
              <a:t>a policy-led escalation decision</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T1</a:t>
            </a:r>
          </a:p>
        </p:txBody>
      </p:sp>
      <p:sp>
        <p:nvSpPr>
          <p:cNvPr id="8" name="TextBox 7"/>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9" name="TextBox 8"/>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0" name="TextBox 9"/>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fast" advClick="1">
    <p:push dir="u"/>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LO4 · Topic 4 · T1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What is a policy-led escalation decision?</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Fair process</a:t>
            </a:r>
          </a:p>
          <a:p>
            <a:pPr algn="l">
              <a:spcAft>
                <a:spcPts val="300"/>
              </a:spcAft>
            </a:pPr>
            <a:r>
              <a:rPr sz="1200" b="0">
                <a:solidFill>
                  <a:srgbClr val="5B6372"/>
                </a:solidFill>
                <a:latin typeface="Arial"/>
              </a:rPr>
              <a:t>Notice, neutral inquiry, equal voice, evidence, reasoned outcome and appeal route.</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Confidentiality</a:t>
            </a:r>
          </a:p>
          <a:p>
            <a:pPr algn="l">
              <a:spcAft>
                <a:spcPts val="300"/>
              </a:spcAft>
            </a:pPr>
            <a:r>
              <a:rPr sz="1200" b="0">
                <a:solidFill>
                  <a:srgbClr val="5B6372"/>
                </a:solidFill>
                <a:latin typeface="Arial"/>
              </a:rPr>
              <a:t>Share on a need-to-know basis; never promise secrecy that policy or safety cannot support.</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Non-retaliation</a:t>
            </a:r>
          </a:p>
          <a:p>
            <a:pPr algn="l">
              <a:spcAft>
                <a:spcPts val="300"/>
              </a:spcAft>
            </a:pPr>
            <a:r>
              <a:rPr sz="1200" b="0">
                <a:solidFill>
                  <a:srgbClr val="5B6372"/>
                </a:solidFill>
                <a:latin typeface="Arial"/>
              </a:rPr>
              <a:t>Protect genuine reporters and participants from detrimental treatment.</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Proportionate action</a:t>
            </a:r>
          </a:p>
          <a:p>
            <a:pPr algn="l">
              <a:spcAft>
                <a:spcPts val="300"/>
              </a:spcAft>
            </a:pPr>
            <a:r>
              <a:rPr sz="1200" b="0">
                <a:solidFill>
                  <a:srgbClr val="5B6372"/>
                </a:solidFill>
                <a:latin typeface="Arial"/>
              </a:rPr>
              <a:t>Match support, interim controls, investigation and consequences to risk and evidence.</a:t>
            </a:r>
          </a:p>
        </p:txBody>
      </p:sp>
      <p:sp>
        <p:nvSpPr>
          <p:cNvPr id="26" name="TextBox 2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7" name="TextBox 2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8" name="TextBox 2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
        <p:nvSpPr>
          <p:cNvPr id="29" name="TextBox 2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Sources: Singapore MOM/TAFEP harassment advisory; PDPC; Ministry of Law</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LO4 · Topic 4 · T1 · HOW IT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Policy-Led Response Gate</a:t>
            </a:r>
          </a:p>
        </p:txBody>
      </p:sp>
      <p:sp>
        <p:nvSpPr>
          <p:cNvPr id="6" name="Rectangle 5"/>
          <p:cNvSpPr/>
          <p:nvPr/>
        </p:nvSpPr>
        <p:spPr>
          <a:xfrm>
            <a:off x="777240"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01775"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01775"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05256"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Protect</a:t>
            </a:r>
          </a:p>
        </p:txBody>
      </p:sp>
      <p:sp>
        <p:nvSpPr>
          <p:cNvPr id="11" name="TextBox 10"/>
          <p:cNvSpPr txBox="1"/>
          <p:nvPr/>
        </p:nvSpPr>
        <p:spPr>
          <a:xfrm>
            <a:off x="905256"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Address urgent safety, wellbeing and evidence-preservation needs.</a:t>
            </a:r>
          </a:p>
        </p:txBody>
      </p:sp>
      <p:sp>
        <p:nvSpPr>
          <p:cNvPr id="12" name="Chevron 11"/>
          <p:cNvSpPr/>
          <p:nvPr/>
        </p:nvSpPr>
        <p:spPr>
          <a:xfrm>
            <a:off x="2702966"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58998"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83533"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3533"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87014"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Receive</a:t>
            </a:r>
          </a:p>
        </p:txBody>
      </p:sp>
      <p:sp>
        <p:nvSpPr>
          <p:cNvPr id="18" name="TextBox 17"/>
          <p:cNvSpPr txBox="1"/>
          <p:nvPr/>
        </p:nvSpPr>
        <p:spPr>
          <a:xfrm>
            <a:off x="3087014"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Listen without blame; explain process and confidentiality limits.</a:t>
            </a:r>
          </a:p>
        </p:txBody>
      </p:sp>
      <p:sp>
        <p:nvSpPr>
          <p:cNvPr id="19" name="Chevron 18"/>
          <p:cNvSpPr/>
          <p:nvPr/>
        </p:nvSpPr>
        <p:spPr>
          <a:xfrm>
            <a:off x="4884724"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765291"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65291"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68772"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Route</a:t>
            </a:r>
          </a:p>
        </p:txBody>
      </p:sp>
      <p:sp>
        <p:nvSpPr>
          <p:cNvPr id="25" name="TextBox 24"/>
          <p:cNvSpPr txBox="1"/>
          <p:nvPr/>
        </p:nvSpPr>
        <p:spPr>
          <a:xfrm>
            <a:off x="5268772"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Use the authorised reporting/investigation channel.</a:t>
            </a:r>
          </a:p>
        </p:txBody>
      </p:sp>
      <p:sp>
        <p:nvSpPr>
          <p:cNvPr id="26" name="Chevron 25"/>
          <p:cNvSpPr/>
          <p:nvPr/>
        </p:nvSpPr>
        <p:spPr>
          <a:xfrm>
            <a:off x="7066482"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2514"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22514"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947049"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47049"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50530"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Support</a:t>
            </a:r>
          </a:p>
        </p:txBody>
      </p:sp>
      <p:sp>
        <p:nvSpPr>
          <p:cNvPr id="32" name="TextBox 31"/>
          <p:cNvSpPr txBox="1"/>
          <p:nvPr/>
        </p:nvSpPr>
        <p:spPr>
          <a:xfrm>
            <a:off x="7450530"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Provide practical support and prevent retaliation.</a:t>
            </a:r>
          </a:p>
        </p:txBody>
      </p:sp>
      <p:sp>
        <p:nvSpPr>
          <p:cNvPr id="33" name="Chevron 32"/>
          <p:cNvSpPr/>
          <p:nvPr/>
        </p:nvSpPr>
        <p:spPr>
          <a:xfrm>
            <a:off x="9248240"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04272"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28807"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28807"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32288"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Follow through</a:t>
            </a:r>
          </a:p>
        </p:txBody>
      </p:sp>
      <p:sp>
        <p:nvSpPr>
          <p:cNvPr id="39" name="TextBox 38"/>
          <p:cNvSpPr txBox="1"/>
          <p:nvPr/>
        </p:nvSpPr>
        <p:spPr>
          <a:xfrm>
            <a:off x="9632288"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Communicate process updates and monitor recurrence.</a:t>
            </a:r>
          </a:p>
        </p:txBody>
      </p:sp>
      <p:sp>
        <p:nvSpPr>
          <p:cNvPr id="40" name="TextBox 39"/>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41" name="TextBox 40"/>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42" name="TextBox 41"/>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LO4 · Topic 4 · T1 · COMPARE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Informal Resolution vs Formal Handling</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Informal may fit</a:t>
            </a:r>
          </a:p>
        </p:txBody>
      </p:sp>
      <p:sp>
        <p:nvSpPr>
          <p:cNvPr id="9" name="TextBox 8"/>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Formal handling required / safer</a:t>
            </a:r>
          </a:p>
        </p:txBody>
      </p:sp>
      <p:sp>
        <p:nvSpPr>
          <p:cNvPr id="10" name="TextBox 9"/>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Different work preferences with free participation.</a:t>
            </a:r>
          </a:p>
          <a:p>
            <a:pPr>
              <a:spcAft>
                <a:spcPts val="1000"/>
              </a:spcAft>
            </a:pPr>
            <a:r>
              <a:rPr sz="1600" b="0">
                <a:solidFill>
                  <a:srgbClr val="161B26"/>
                </a:solidFill>
                <a:latin typeface="Arial"/>
              </a:rPr>
              <a:t>•  Specific low-risk misunderstanding.</a:t>
            </a:r>
          </a:p>
          <a:p>
            <a:pPr>
              <a:spcAft>
                <a:spcPts val="1000"/>
              </a:spcAft>
            </a:pPr>
            <a:r>
              <a:rPr sz="1600" b="0">
                <a:solidFill>
                  <a:srgbClr val="161B26"/>
                </a:solidFill>
                <a:latin typeface="Arial"/>
              </a:rPr>
              <a:t>•  Both parties want a facilitated dialogue.</a:t>
            </a:r>
          </a:p>
          <a:p>
            <a:pPr>
              <a:spcAft>
                <a:spcPts val="1000"/>
              </a:spcAft>
            </a:pPr>
            <a:r>
              <a:rPr sz="1600" b="0">
                <a:solidFill>
                  <a:srgbClr val="161B26"/>
                </a:solidFill>
                <a:latin typeface="Arial"/>
              </a:rPr>
              <a:t>•  No safety, harassment or retaliation concern is present.</a:t>
            </a:r>
          </a:p>
        </p:txBody>
      </p:sp>
      <p:sp>
        <p:nvSpPr>
          <p:cNvPr id="11" name="TextBox 10"/>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Threat, harm, harassment or discriminatory conduct.</a:t>
            </a:r>
          </a:p>
          <a:p>
            <a:pPr>
              <a:spcAft>
                <a:spcPts val="1000"/>
              </a:spcAft>
            </a:pPr>
            <a:r>
              <a:rPr sz="1600" b="0">
                <a:solidFill>
                  <a:srgbClr val="161B26"/>
                </a:solidFill>
                <a:latin typeface="Arial"/>
              </a:rPr>
              <a:t>•  Retaliation, coercion or significant power imbalance.</a:t>
            </a:r>
          </a:p>
          <a:p>
            <a:pPr>
              <a:spcAft>
                <a:spcPts val="1000"/>
              </a:spcAft>
            </a:pPr>
            <a:r>
              <a:rPr sz="1600" b="0">
                <a:solidFill>
                  <a:srgbClr val="161B26"/>
                </a:solidFill>
                <a:latin typeface="Arial"/>
              </a:rPr>
              <a:t>•  Repeated conduct after prior intervention.</a:t>
            </a:r>
          </a:p>
          <a:p>
            <a:pPr>
              <a:spcAft>
                <a:spcPts val="1000"/>
              </a:spcAft>
            </a:pPr>
            <a:r>
              <a:rPr sz="1600" b="0">
                <a:solidFill>
                  <a:srgbClr val="161B26"/>
                </a:solidFill>
                <a:latin typeface="Arial"/>
              </a:rPr>
              <a:t>•  Policy, law or evidence-preservation duty requires investigation.</a:t>
            </a:r>
          </a:p>
        </p:txBody>
      </p:sp>
      <p:sp>
        <p:nvSpPr>
          <p:cNvPr id="12" name="TextBox 11"/>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3" name="TextBox 12"/>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4" name="TextBox 13"/>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
        <p:nvSpPr>
          <p:cNvPr id="15" name="TextBox 14"/>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Sources: MOM workplace harassment advisory; MOM workplace grievances</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350"/>
                                        <p:tgtEl>
                                          <p:spTgt spid="10"/>
                                        </p:tgtEl>
                                      </p:cBhvr>
                                    </p:animEffect>
                                    <p:anim calcmode="lin" valueType="num">
                                      <p:cBhvr additive="base">
                                        <p:cTn id="1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350"/>
                                        <p:tgtEl>
                                          <p:spTgt spid="11"/>
                                        </p:tgtEl>
                                      </p:cBhvr>
                                    </p:animEffect>
                                    <p:anim calcmode="lin" valueType="num">
                                      <p:cBhvr additive="base">
                                        <p:cTn id="2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LO4 · Topic 4 · T1 · SUPPORTING DATA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Ethical Case-Handling Controls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Need-to-know</a:t>
            </a:r>
          </a:p>
          <a:p>
            <a:pPr algn="l">
              <a:spcAft>
                <a:spcPts val="300"/>
              </a:spcAft>
            </a:pPr>
            <a:r>
              <a:rPr sz="1200" b="0">
                <a:solidFill>
                  <a:srgbClr val="5B6372"/>
                </a:solidFill>
                <a:latin typeface="Arial"/>
              </a:rPr>
              <a:t>Restrict case data and avoid gossip or unnecessary circulation.</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Neutrality</a:t>
            </a:r>
          </a:p>
          <a:p>
            <a:pPr algn="l">
              <a:spcAft>
                <a:spcPts val="300"/>
              </a:spcAft>
            </a:pPr>
            <a:r>
              <a:rPr sz="1200" b="0">
                <a:solidFill>
                  <a:srgbClr val="5B6372"/>
                </a:solidFill>
                <a:latin typeface="Arial"/>
              </a:rPr>
              <a:t>Use trained, conflict-free decision makers and comparable questioning.</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Accuracy</a:t>
            </a:r>
          </a:p>
          <a:p>
            <a:pPr algn="l">
              <a:spcAft>
                <a:spcPts val="300"/>
              </a:spcAft>
            </a:pPr>
            <a:r>
              <a:rPr sz="1200" b="0">
                <a:solidFill>
                  <a:srgbClr val="5B6372"/>
                </a:solidFill>
                <a:latin typeface="Arial"/>
              </a:rPr>
              <a:t>Record dates, sources, uncertainty, corrections and decisions.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Support</a:t>
            </a:r>
          </a:p>
          <a:p>
            <a:pPr algn="l">
              <a:spcAft>
                <a:spcPts val="300"/>
              </a:spcAft>
            </a:pPr>
            <a:r>
              <a:rPr sz="1200" b="0">
                <a:solidFill>
                  <a:srgbClr val="5B6372"/>
                </a:solidFill>
                <a:latin typeface="Arial"/>
              </a:rPr>
              <a:t>Offer safe channels, interim options and protection from retaliation.</a:t>
            </a:r>
          </a:p>
        </p:txBody>
      </p:sp>
      <p:sp>
        <p:nvSpPr>
          <p:cNvPr id="26" name="TextBox 2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7" name="TextBox 2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8" name="TextBox 2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
        <p:nvSpPr>
          <p:cNvPr id="29" name="TextBox 2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illustrative worked example</a:t>
            </a:r>
          </a:p>
        </p:txBody>
      </p:sp>
    </p:spTree>
  </p:cSld>
  <p:clrMapOvr>
    <a:masterClrMapping/>
  </p:clrMapOvr>
  <p:transition spd="fast" advClick="1">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LO4 · Topic 4 · T1 · ACTIVITY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Policy, Ethics and Escalation at Meridian Hospitality</a:t>
            </a:r>
          </a:p>
        </p:txBody>
      </p:sp>
      <p:sp>
        <p:nvSpPr>
          <p:cNvPr id="6" name="Rectangle 5"/>
          <p:cNvSpPr/>
          <p:nvPr/>
        </p:nvSpPr>
        <p:spPr>
          <a:xfrm>
            <a:off x="777240" y="1691640"/>
            <a:ext cx="16916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28216"/>
            <a:ext cx="1691640" cy="365760"/>
          </a:xfrm>
          <a:prstGeom prst="rect">
            <a:avLst/>
          </a:prstGeom>
          <a:noFill/>
        </p:spPr>
        <p:txBody>
          <a:bodyPr wrap="square" anchor="t">
            <a:spAutoFit/>
          </a:bodyPr>
          <a:lstStyle/>
          <a:p>
            <a:pPr algn="ctr">
              <a:spcAft>
                <a:spcPts val="400"/>
              </a:spcAft>
            </a:pPr>
            <a:r>
              <a:rPr sz="1300" b="1">
                <a:solidFill>
                  <a:srgbClr val="FFFFFF"/>
                </a:solidFill>
                <a:latin typeface="Arial"/>
              </a:rPr>
              <a:t>CASE STUDY</a:t>
            </a:r>
          </a:p>
        </p:txBody>
      </p:sp>
      <p:sp>
        <p:nvSpPr>
          <p:cNvPr id="8" name="Rectangle 7"/>
          <p:cNvSpPr/>
          <p:nvPr/>
        </p:nvSpPr>
        <p:spPr>
          <a:xfrm>
            <a:off x="777240" y="2286000"/>
            <a:ext cx="1063447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86000"/>
            <a:ext cx="91440" cy="2880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487168"/>
            <a:ext cx="9966960" cy="320040"/>
          </a:xfrm>
          <a:prstGeom prst="rect">
            <a:avLst/>
          </a:prstGeom>
          <a:noFill/>
        </p:spPr>
        <p:txBody>
          <a:bodyPr wrap="square" anchor="t">
            <a:spAutoFit/>
          </a:bodyPr>
          <a:lstStyle/>
          <a:p>
            <a:pPr algn="l">
              <a:spcAft>
                <a:spcPts val="400"/>
              </a:spcAft>
            </a:pPr>
            <a:r>
              <a:rPr sz="1200" b="1">
                <a:solidFill>
                  <a:srgbClr val="10B981"/>
                </a:solidFill>
                <a:latin typeface="Arial"/>
              </a:rPr>
              <a:t>THE SITUATION</a:t>
            </a:r>
          </a:p>
        </p:txBody>
      </p:sp>
      <p:sp>
        <p:nvSpPr>
          <p:cNvPr id="11" name="TextBox 10"/>
          <p:cNvSpPr txBox="1"/>
          <p:nvPr/>
        </p:nvSpPr>
        <p:spPr>
          <a:xfrm>
            <a:off x="1097280" y="2834640"/>
            <a:ext cx="10058400" cy="2240280"/>
          </a:xfrm>
          <a:prstGeom prst="rect">
            <a:avLst/>
          </a:prstGeom>
          <a:noFill/>
        </p:spPr>
        <p:txBody>
          <a:bodyPr wrap="square" anchor="t">
            <a:spAutoFit/>
          </a:bodyPr>
          <a:lstStyle/>
          <a:p>
            <a:pPr algn="l">
              <a:spcAft>
                <a:spcPts val="800"/>
              </a:spcAft>
            </a:pPr>
            <a:r>
              <a:rPr sz="1450" b="0">
                <a:solidFill>
                  <a:srgbClr val="161B26"/>
                </a:solidFill>
                <a:latin typeface="Arial"/>
              </a:rPr>
              <a:t>At Meridian Hospitality, employee Farah reports that colleague Leon has repeatedly made jokes about her religion in a team chat. She fears that complaining will affect shift allocation because Leon is close to the duty manager.</a:t>
            </a:r>
          </a:p>
          <a:p>
            <a:pPr algn="l">
              <a:spcAft>
                <a:spcPts val="800"/>
              </a:spcAft>
            </a:pPr>
            <a:r>
              <a:rPr sz="1450" b="0">
                <a:solidFill>
                  <a:srgbClr val="161B26"/>
                </a:solidFill>
                <a:latin typeface="Arial"/>
              </a:rPr>
              <a:t>A supervisor suggests putting both employees in a room to 'clear the air'. Learners must decide the immediate response, authorised channel, confidentiality boundary, interim support and documentation required under organisational policy. This activity is educational and not legal advice.</a:t>
            </a:r>
          </a:p>
        </p:txBody>
      </p:sp>
      <p:sp>
        <p:nvSpPr>
          <p:cNvPr id="12" name="Rectangle 11"/>
          <p:cNvSpPr/>
          <p:nvPr/>
        </p:nvSpPr>
        <p:spPr>
          <a:xfrm>
            <a:off x="777240" y="5349240"/>
            <a:ext cx="10634472"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5349240"/>
            <a:ext cx="7315200" cy="685800"/>
          </a:xfrm>
          <a:prstGeom prst="rect">
            <a:avLst/>
          </a:prstGeom>
          <a:noFill/>
        </p:spPr>
        <p:txBody>
          <a:bodyPr wrap="square" anchor="ctr">
            <a:spAutoFit/>
          </a:bodyPr>
          <a:lstStyle/>
          <a:p>
            <a:pPr algn="l">
              <a:spcAft>
                <a:spcPts val="400"/>
              </a:spcAft>
            </a:pPr>
            <a:r>
              <a:rPr sz="1300" b="1">
                <a:solidFill>
                  <a:srgbClr val="1F6FEB"/>
                </a:solidFill>
                <a:latin typeface="Arial"/>
              </a:rPr>
              <a:t>You'll produce:  </a:t>
            </a:r>
            <a:r>
              <a:rPr sz="1300" b="0">
                <a:solidFill>
                  <a:srgbClr val="161B26"/>
                </a:solidFill>
                <a:latin typeface="Arial"/>
              </a:rPr>
              <a:t>An escalation decision record, case-handling checklist and stakeholder communication plan</a:t>
            </a:r>
          </a:p>
        </p:txBody>
      </p:sp>
      <p:sp>
        <p:nvSpPr>
          <p:cNvPr id="14" name="TextBox 13"/>
          <p:cNvSpPr txBox="1"/>
          <p:nvPr/>
        </p:nvSpPr>
        <p:spPr>
          <a:xfrm>
            <a:off x="8778240" y="5349240"/>
            <a:ext cx="2606040" cy="685800"/>
          </a:xfrm>
          <a:prstGeom prst="rect">
            <a:avLst/>
          </a:prstGeom>
          <a:noFill/>
        </p:spPr>
        <p:txBody>
          <a:bodyPr wrap="square" anchor="ctr">
            <a:spAutoFit/>
          </a:bodyPr>
          <a:lstStyle/>
          <a:p>
            <a:pPr algn="r">
              <a:spcAft>
                <a:spcPts val="400"/>
              </a:spcAft>
            </a:pPr>
            <a:r>
              <a:rPr sz="1300" b="1">
                <a:solidFill>
                  <a:srgbClr val="5B6372"/>
                </a:solidFill>
                <a:latin typeface="Arial"/>
              </a:rPr>
              <a:t>Duration: </a:t>
            </a:r>
            <a:r>
              <a:rPr sz="1300" b="0">
                <a:solidFill>
                  <a:srgbClr val="5B6372"/>
                </a:solidFill>
                <a:latin typeface="Arial"/>
              </a:rPr>
              <a:t>55 minutes</a:t>
            </a:r>
          </a:p>
        </p:txBody>
      </p:sp>
      <p:sp>
        <p:nvSpPr>
          <p:cNvPr id="15" name="TextBox 14"/>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6" name="TextBox 15"/>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7" name="TextBox 16"/>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50"/>
                                        <p:tgtEl>
                                          <p:spTgt spid="11"/>
                                        </p:tgtEl>
                                      </p:cBhvr>
                                    </p:animEffect>
                                    <p:anim calcmode="lin" valueType="num">
                                      <p:cBhvr additive="base">
                                        <p:cTn id="3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50"/>
                                        <p:tgtEl>
                                          <p:spTgt spid="12"/>
                                        </p:tgtEl>
                                      </p:cBhvr>
                                    </p:animEffect>
                                    <p:anim calcmode="lin" valueType="num">
                                      <p:cBhvr additive="base">
                                        <p:cTn id="4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par>
                    <p:cTn id="50" fill="hold">
                      <p:stCondLst>
                        <p:cond delay="0"/>
                      </p:stCondLst>
                      <p:childTnLst>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350"/>
                                        <p:tgtEl>
                                          <p:spTgt spid="13"/>
                                        </p:tgtEl>
                                      </p:cBhvr>
                                    </p:animEffect>
                                    <p:anim calcmode="lin" valueType="num">
                                      <p:cBhvr additive="base">
                                        <p:cTn id="55" dur="350" fill="hold"/>
                                        <p:tgtEl>
                                          <p:spTgt spid="13"/>
                                        </p:tgtEl>
                                        <p:attrNameLst>
                                          <p:attrName>ppt_y</p:attrName>
                                        </p:attrNameLst>
                                      </p:cBhvr>
                                      <p:tavLst>
                                        <p:tav tm="0">
                                          <p:val>
                                            <p:strVal val="#ppt_y+0.0350"/>
                                          </p:val>
                                        </p:tav>
                                        <p:tav tm="100000">
                                          <p:val>
                                            <p:strVal val="#ppt_y"/>
                                          </p:val>
                                        </p:tav>
                                      </p:tavLst>
                                    </p:anim>
                                  </p:childTnLst>
                                </p:cTn>
                              </p:par>
                            </p:childTnLst>
                          </p:cTn>
                        </p:par>
                      </p:childTnLst>
                    </p:cTn>
                  </p:par>
                  <p:par>
                    <p:cTn id="60" fill="hold">
                      <p:stCondLst>
                        <p:cond delay="0"/>
                      </p:stCondLst>
                      <p:childTnLst>
                        <p:par>
                          <p:cTn id="61" fill="hold">
                            <p:stCondLst>
                              <p:cond delay="0"/>
                            </p:stCondLst>
                            <p:childTnLst>
                              <p:par>
                                <p:cTn id="62" presetID="10" presetClass="entr" presetSubtype="0"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350"/>
                                        <p:tgtEl>
                                          <p:spTgt spid="14"/>
                                        </p:tgtEl>
                                      </p:cBhvr>
                                    </p:animEffect>
                                    <p:anim calcmode="lin" valueType="num">
                                      <p:cBhvr additive="base">
                                        <p:cTn id="65" dur="350" fill="hold"/>
                                        <p:tgtEl>
                                          <p:spTgt spid="14"/>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LO4 · Topic 4 · T1 · ACTIVITY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Policy, Ethics and Escalation at Meridian Hospitality</a:t>
            </a:r>
          </a:p>
        </p:txBody>
      </p:sp>
      <p:sp>
        <p:nvSpPr>
          <p:cNvPr id="6" name="TextBox 5"/>
          <p:cNvSpPr txBox="1"/>
          <p:nvPr/>
        </p:nvSpPr>
        <p:spPr>
          <a:xfrm>
            <a:off x="777240" y="1719072"/>
            <a:ext cx="8229600" cy="365760"/>
          </a:xfrm>
          <a:prstGeom prst="rect">
            <a:avLst/>
          </a:prstGeom>
          <a:noFill/>
        </p:spPr>
        <p:txBody>
          <a:bodyPr wrap="square" anchor="t">
            <a:spAutoFit/>
          </a:bodyPr>
          <a:lstStyle/>
          <a:p>
            <a:pPr algn="l">
              <a:spcAft>
                <a:spcPts val="400"/>
              </a:spcAft>
            </a:pPr>
            <a:r>
              <a:rPr sz="1300" b="1">
                <a:solidFill>
                  <a:srgbClr val="5B6372"/>
                </a:solidFill>
                <a:latin typeface="Arial"/>
              </a:rPr>
              <a:t>DISCUSSION &amp; DECISION PROMPTS</a:t>
            </a:r>
          </a:p>
        </p:txBody>
      </p:sp>
      <p:sp>
        <p:nvSpPr>
          <p:cNvPr id="7" name="Rectangle 6"/>
          <p:cNvSpPr/>
          <p:nvPr/>
        </p:nvSpPr>
        <p:spPr>
          <a:xfrm>
            <a:off x="777240" y="2148840"/>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78408" y="233400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334006"/>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37360" y="2148840"/>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Why is immediate informal mediation inappropriate as the default response?</a:t>
            </a:r>
          </a:p>
        </p:txBody>
      </p:sp>
      <p:sp>
        <p:nvSpPr>
          <p:cNvPr id="12" name="Rectangle 11"/>
          <p:cNvSpPr/>
          <p:nvPr/>
        </p:nvSpPr>
        <p:spPr>
          <a:xfrm>
            <a:off x="777240" y="3168396"/>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8396"/>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78408" y="3353562"/>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3353562"/>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37360" y="3168396"/>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can Ravi promise—and what must he not promise—about confidentiality?</a:t>
            </a:r>
          </a:p>
        </p:txBody>
      </p:sp>
      <p:sp>
        <p:nvSpPr>
          <p:cNvPr id="17" name="Rectangle 16"/>
          <p:cNvSpPr/>
          <p:nvPr/>
        </p:nvSpPr>
        <p:spPr>
          <a:xfrm>
            <a:off x="777240" y="4187952"/>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87952"/>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78408" y="4373118"/>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373118"/>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37360" y="4187952"/>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records and personal data are necessary, accurate and restricted?</a:t>
            </a:r>
          </a:p>
        </p:txBody>
      </p:sp>
      <p:sp>
        <p:nvSpPr>
          <p:cNvPr id="22" name="Rectangle 21"/>
          <p:cNvSpPr/>
          <p:nvPr/>
        </p:nvSpPr>
        <p:spPr>
          <a:xfrm>
            <a:off x="777240" y="5207508"/>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07508"/>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78408" y="5392674"/>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392674"/>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37360" y="5207508"/>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interim support and anti-retaliation monitoring should be arranged?</a:t>
            </a:r>
          </a:p>
        </p:txBody>
      </p:sp>
      <p:sp>
        <p:nvSpPr>
          <p:cNvPr id="27" name="TextBox 26"/>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8" name="TextBox 27"/>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9" name="TextBox 28"/>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fast" advClick="1">
    <p:wipe dir="l"/>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LO4 · Topic 4 · T1 · ACTIVITY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Policy, Ethics and Escalation at Meridian Hospitality</a:t>
            </a:r>
          </a:p>
        </p:txBody>
      </p:sp>
      <p:sp>
        <p:nvSpPr>
          <p:cNvPr id="6" name="Rectangle 5"/>
          <p:cNvSpPr/>
          <p:nvPr/>
        </p:nvSpPr>
        <p:spPr>
          <a:xfrm>
            <a:off x="777240" y="1783080"/>
            <a:ext cx="10634472" cy="2651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6517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965960"/>
            <a:ext cx="10058400" cy="365760"/>
          </a:xfrm>
          <a:prstGeom prst="rect">
            <a:avLst/>
          </a:prstGeom>
          <a:noFill/>
        </p:spPr>
        <p:txBody>
          <a:bodyPr wrap="square" anchor="t">
            <a:spAutoFit/>
          </a:bodyPr>
          <a:lstStyle/>
          <a:p>
            <a:pPr algn="l">
              <a:spcAft>
                <a:spcPts val="400"/>
              </a:spcAft>
            </a:pPr>
            <a:r>
              <a:rPr sz="1300" b="1">
                <a:solidFill>
                  <a:srgbClr val="7C3AED"/>
                </a:solidFill>
                <a:latin typeface="Arial"/>
              </a:rPr>
              <a:t>REFLECT &amp; DISCUSS</a:t>
            </a:r>
          </a:p>
        </p:txBody>
      </p:sp>
      <p:sp>
        <p:nvSpPr>
          <p:cNvPr id="9" name="TextBox 8"/>
          <p:cNvSpPr txBox="1"/>
          <p:nvPr/>
        </p:nvSpPr>
        <p:spPr>
          <a:xfrm>
            <a:off x="1051560" y="2377440"/>
            <a:ext cx="10058400" cy="1920240"/>
          </a:xfrm>
          <a:prstGeom prst="rect">
            <a:avLst/>
          </a:prstGeom>
          <a:noFill/>
        </p:spPr>
        <p:txBody>
          <a:bodyPr wrap="square">
            <a:spAutoFit/>
          </a:bodyPr>
          <a:lstStyle/>
          <a:p>
            <a:pPr>
              <a:spcAft>
                <a:spcPts val="900"/>
              </a:spcAft>
            </a:pPr>
            <a:r>
              <a:rPr sz="1450" b="0">
                <a:solidFill>
                  <a:srgbClr val="161B26"/>
                </a:solidFill>
                <a:latin typeface="Arial"/>
              </a:rPr>
              <a:t>•  Did your response protect the reporter without prejudging the allegation?</a:t>
            </a:r>
          </a:p>
          <a:p>
            <a:pPr>
              <a:spcAft>
                <a:spcPts val="900"/>
              </a:spcAft>
            </a:pPr>
            <a:r>
              <a:rPr sz="1450" b="0">
                <a:solidFill>
                  <a:srgbClr val="161B26"/>
                </a:solidFill>
                <a:latin typeface="Arial"/>
              </a:rPr>
              <a:t>•  Did you distinguish organisational process from legal advice and external recourse?</a:t>
            </a:r>
          </a:p>
        </p:txBody>
      </p:sp>
      <p:sp>
        <p:nvSpPr>
          <p:cNvPr id="10" name="Rectangle 9"/>
          <p:cNvSpPr/>
          <p:nvPr/>
        </p:nvSpPr>
        <p:spPr>
          <a:xfrm>
            <a:off x="777240" y="4663440"/>
            <a:ext cx="10634472" cy="1371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4864608"/>
            <a:ext cx="10058400" cy="365760"/>
          </a:xfrm>
          <a:prstGeom prst="rect">
            <a:avLst/>
          </a:prstGeom>
          <a:noFill/>
        </p:spPr>
        <p:txBody>
          <a:bodyPr wrap="square" anchor="t">
            <a:spAutoFit/>
          </a:bodyPr>
          <a:lstStyle/>
          <a:p>
            <a:pPr algn="l">
              <a:spcAft>
                <a:spcPts val="400"/>
              </a:spcAft>
            </a:pPr>
            <a:r>
              <a:rPr sz="1500" b="1">
                <a:solidFill>
                  <a:srgbClr val="127A3E"/>
                </a:solidFill>
                <a:latin typeface="Arial"/>
              </a:rPr>
              <a:t>✓  Facilitator debrief check</a:t>
            </a:r>
          </a:p>
        </p:txBody>
      </p:sp>
      <p:sp>
        <p:nvSpPr>
          <p:cNvPr id="12" name="TextBox 11"/>
          <p:cNvSpPr txBox="1"/>
          <p:nvPr/>
        </p:nvSpPr>
        <p:spPr>
          <a:xfrm>
            <a:off x="1051560" y="5257800"/>
            <a:ext cx="10058400" cy="731520"/>
          </a:xfrm>
          <a:prstGeom prst="rect">
            <a:avLst/>
          </a:prstGeom>
          <a:noFill/>
        </p:spPr>
        <p:txBody>
          <a:bodyPr wrap="square" anchor="t">
            <a:spAutoFit/>
          </a:bodyPr>
          <a:lstStyle/>
          <a:p>
            <a:pPr algn="l">
              <a:spcAft>
                <a:spcPts val="400"/>
              </a:spcAft>
            </a:pPr>
            <a:r>
              <a:rPr sz="1300" b="0">
                <a:solidFill>
                  <a:srgbClr val="161B26"/>
                </a:solidFill>
                <a:latin typeface="Arial"/>
              </a:rPr>
              <a:t>The response activates the correct policy channel, protects safety and fairness, limits data access and defines non-retaliation follow-up.</a:t>
            </a:r>
          </a:p>
        </p:txBody>
      </p:sp>
      <p:sp>
        <p:nvSpPr>
          <p:cNvPr id="13" name="TextBox 12"/>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4" name="TextBox 13"/>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5" name="TextBox 14"/>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50"/>
                                        <p:tgtEl>
                                          <p:spTgt spid="9"/>
                                        </p:tgtEl>
                                      </p:cBhvr>
                                    </p:animEffect>
                                    <p:anim calcmode="lin" valueType="num">
                                      <p:cBhvr additive="base">
                                        <p:cTn id="1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350"/>
                                        <p:tgtEl>
                                          <p:spTgt spid="10"/>
                                        </p:tgtEl>
                                      </p:cBhvr>
                                    </p:animEffect>
                                    <p:anim calcmode="lin" valueType="num">
                                      <p:cBhvr additive="base">
                                        <p:cTn id="2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350"/>
                                        <p:tgtEl>
                                          <p:spTgt spid="12"/>
                                        </p:tgtEl>
                                      </p:cBhvr>
                                    </p:animEffect>
                                    <p:anim calcmode="lin" valueType="num">
                                      <p:cBhvr additive="base">
                                        <p:cTn id="3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600" b="1">
                <a:solidFill>
                  <a:srgbClr val="10B981"/>
                </a:solidFill>
                <a:latin typeface="Arial"/>
              </a:rPr>
              <a:t>LO4 · Topic 4 · T2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3400" b="1">
                <a:solidFill>
                  <a:srgbClr val="161B26"/>
                </a:solidFill>
                <a:latin typeface="Arial"/>
              </a:rPr>
              <a:t>a measurable resolution review</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T2</a:t>
            </a:r>
          </a:p>
        </p:txBody>
      </p:sp>
      <p:sp>
        <p:nvSpPr>
          <p:cNvPr id="8" name="TextBox 7"/>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9" name="TextBox 8"/>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0" name="TextBox 9"/>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fast" advClick="1">
    <p:push dir="u"/>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LO4 · Topic 4 · T2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What is a measurable resolution review?</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Outcome</a:t>
            </a:r>
          </a:p>
          <a:p>
            <a:pPr algn="l">
              <a:spcAft>
                <a:spcPts val="300"/>
              </a:spcAft>
            </a:pPr>
            <a:r>
              <a:rPr sz="1200" b="0">
                <a:solidFill>
                  <a:srgbClr val="5B6372"/>
                </a:solidFill>
                <a:latin typeface="Arial"/>
              </a:rPr>
              <a:t>Was the agreement implemented and the original work impact reduced?</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Behaviour</a:t>
            </a:r>
          </a:p>
          <a:p>
            <a:pPr algn="l">
              <a:spcAft>
                <a:spcPts val="300"/>
              </a:spcAft>
            </a:pPr>
            <a:r>
              <a:rPr sz="1200" b="0">
                <a:solidFill>
                  <a:srgbClr val="5B6372"/>
                </a:solidFill>
                <a:latin typeface="Arial"/>
              </a:rPr>
              <a:t>Are observable commitments occurring consistently?</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Relationship</a:t>
            </a:r>
          </a:p>
          <a:p>
            <a:pPr algn="l">
              <a:spcAft>
                <a:spcPts val="300"/>
              </a:spcAft>
            </a:pPr>
            <a:r>
              <a:rPr sz="1200" b="0">
                <a:solidFill>
                  <a:srgbClr val="5B6372"/>
                </a:solidFill>
                <a:latin typeface="Arial"/>
              </a:rPr>
              <a:t>Can parties raise concerns and cooperate without avoidance or retaliation?</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System</a:t>
            </a:r>
          </a:p>
          <a:p>
            <a:pPr algn="l">
              <a:spcAft>
                <a:spcPts val="300"/>
              </a:spcAft>
            </a:pPr>
            <a:r>
              <a:rPr sz="1200" b="0">
                <a:solidFill>
                  <a:srgbClr val="5B6372"/>
                </a:solidFill>
                <a:latin typeface="Arial"/>
              </a:rPr>
              <a:t>Were role, workload, process or policy conditions corrected?</a:t>
            </a:r>
          </a:p>
        </p:txBody>
      </p:sp>
      <p:sp>
        <p:nvSpPr>
          <p:cNvPr id="26" name="TextBox 2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7" name="TextBox 2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8" name="TextBox 2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
        <p:nvSpPr>
          <p:cNvPr id="29" name="TextBox 2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Sources: Atlassian; Indeed; Training Industry; MOM grievance guidance</a:t>
            </a:r>
          </a:p>
        </p:txBody>
      </p:sp>
    </p:spTree>
  </p:cSld>
  <p:clrMapOvr>
    <a:masterClrMapping/>
  </p:clrMapOvr>
  <p:transition spd="fast"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LO4 · Topic 4 · T2 · HOW IT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Review-and-Prevent Cycle</a:t>
            </a:r>
          </a:p>
        </p:txBody>
      </p:sp>
      <p:sp>
        <p:nvSpPr>
          <p:cNvPr id="6" name="Rectangle 5"/>
          <p:cNvSpPr/>
          <p:nvPr/>
        </p:nvSpPr>
        <p:spPr>
          <a:xfrm>
            <a:off x="777240"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01775"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01775"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05256"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Revisit agreement</a:t>
            </a:r>
          </a:p>
        </p:txBody>
      </p:sp>
      <p:sp>
        <p:nvSpPr>
          <p:cNvPr id="11" name="TextBox 10"/>
          <p:cNvSpPr txBox="1"/>
          <p:nvPr/>
        </p:nvSpPr>
        <p:spPr>
          <a:xfrm>
            <a:off x="905256"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Check each commitment, owner, date and evidence.</a:t>
            </a:r>
          </a:p>
        </p:txBody>
      </p:sp>
      <p:sp>
        <p:nvSpPr>
          <p:cNvPr id="12" name="Chevron 11"/>
          <p:cNvSpPr/>
          <p:nvPr/>
        </p:nvSpPr>
        <p:spPr>
          <a:xfrm>
            <a:off x="2702966"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58998"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8998"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83533"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3533"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7" name="TextBox 16"/>
          <p:cNvSpPr txBox="1"/>
          <p:nvPr/>
        </p:nvSpPr>
        <p:spPr>
          <a:xfrm>
            <a:off x="3087014"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Collect signals</a:t>
            </a:r>
          </a:p>
        </p:txBody>
      </p:sp>
      <p:sp>
        <p:nvSpPr>
          <p:cNvPr id="18" name="TextBox 17"/>
          <p:cNvSpPr txBox="1"/>
          <p:nvPr/>
        </p:nvSpPr>
        <p:spPr>
          <a:xfrm>
            <a:off x="3087014"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Use work data, confidential check-ins and recurrence indicators.</a:t>
            </a:r>
          </a:p>
        </p:txBody>
      </p:sp>
      <p:sp>
        <p:nvSpPr>
          <p:cNvPr id="19" name="Chevron 18"/>
          <p:cNvSpPr/>
          <p:nvPr/>
        </p:nvSpPr>
        <p:spPr>
          <a:xfrm>
            <a:off x="4884724"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0756"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40756"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765291"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65291"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4" name="TextBox 23"/>
          <p:cNvSpPr txBox="1"/>
          <p:nvPr/>
        </p:nvSpPr>
        <p:spPr>
          <a:xfrm>
            <a:off x="5268772"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Evaluate</a:t>
            </a:r>
          </a:p>
        </p:txBody>
      </p:sp>
      <p:sp>
        <p:nvSpPr>
          <p:cNvPr id="25" name="TextBox 24"/>
          <p:cNvSpPr txBox="1"/>
          <p:nvPr/>
        </p:nvSpPr>
        <p:spPr>
          <a:xfrm>
            <a:off x="5268772"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Separate implementation, relationship and system results.</a:t>
            </a:r>
          </a:p>
        </p:txBody>
      </p:sp>
      <p:sp>
        <p:nvSpPr>
          <p:cNvPr id="26" name="Chevron 25"/>
          <p:cNvSpPr/>
          <p:nvPr/>
        </p:nvSpPr>
        <p:spPr>
          <a:xfrm>
            <a:off x="7066482"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22514"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22514"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947049"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47049"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1" name="TextBox 30"/>
          <p:cNvSpPr txBox="1"/>
          <p:nvPr/>
        </p:nvSpPr>
        <p:spPr>
          <a:xfrm>
            <a:off x="7450530"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Correct</a:t>
            </a:r>
          </a:p>
        </p:txBody>
      </p:sp>
      <p:sp>
        <p:nvSpPr>
          <p:cNvPr id="32" name="TextBox 31"/>
          <p:cNvSpPr txBox="1"/>
          <p:nvPr/>
        </p:nvSpPr>
        <p:spPr>
          <a:xfrm>
            <a:off x="7450530"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Address gaps, escalate breaches and adjust controls.</a:t>
            </a:r>
          </a:p>
        </p:txBody>
      </p:sp>
      <p:sp>
        <p:nvSpPr>
          <p:cNvPr id="33" name="Chevron 32"/>
          <p:cNvSpPr/>
          <p:nvPr/>
        </p:nvSpPr>
        <p:spPr>
          <a:xfrm>
            <a:off x="9248240" y="3607308"/>
            <a:ext cx="237744" cy="329184"/>
          </a:xfrm>
          <a:prstGeom prst="chevron">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04272"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04272" y="2331720"/>
            <a:ext cx="1907438"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128807" y="2642616"/>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28807"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8" name="TextBox 37"/>
          <p:cNvSpPr txBox="1"/>
          <p:nvPr/>
        </p:nvSpPr>
        <p:spPr>
          <a:xfrm>
            <a:off x="9632288" y="3429000"/>
            <a:ext cx="1651406" cy="365760"/>
          </a:xfrm>
          <a:prstGeom prst="rect">
            <a:avLst/>
          </a:prstGeom>
          <a:noFill/>
        </p:spPr>
        <p:txBody>
          <a:bodyPr wrap="square" anchor="t">
            <a:spAutoFit/>
          </a:bodyPr>
          <a:lstStyle/>
          <a:p>
            <a:pPr algn="ctr">
              <a:spcAft>
                <a:spcPts val="400"/>
              </a:spcAft>
            </a:pPr>
            <a:r>
              <a:rPr sz="1250" b="1">
                <a:solidFill>
                  <a:srgbClr val="161B26"/>
                </a:solidFill>
                <a:latin typeface="Arial"/>
              </a:rPr>
              <a:t>Learn</a:t>
            </a:r>
          </a:p>
        </p:txBody>
      </p:sp>
      <p:sp>
        <p:nvSpPr>
          <p:cNvPr id="39" name="TextBox 38"/>
          <p:cNvSpPr txBox="1"/>
          <p:nvPr/>
        </p:nvSpPr>
        <p:spPr>
          <a:xfrm>
            <a:off x="9632288" y="3813048"/>
            <a:ext cx="1651406" cy="1280160"/>
          </a:xfrm>
          <a:prstGeom prst="rect">
            <a:avLst/>
          </a:prstGeom>
          <a:noFill/>
        </p:spPr>
        <p:txBody>
          <a:bodyPr wrap="square" anchor="t">
            <a:spAutoFit/>
          </a:bodyPr>
          <a:lstStyle/>
          <a:p>
            <a:pPr algn="ctr">
              <a:spcAft>
                <a:spcPts val="400"/>
              </a:spcAft>
            </a:pPr>
            <a:r>
              <a:rPr sz="1050" b="0">
                <a:solidFill>
                  <a:srgbClr val="5B6372"/>
                </a:solidFill>
                <a:latin typeface="Arial"/>
              </a:rPr>
              <a:t>Record lessons, standardise improvements and schedule the next review.</a:t>
            </a:r>
          </a:p>
        </p:txBody>
      </p:sp>
      <p:sp>
        <p:nvSpPr>
          <p:cNvPr id="40" name="TextBox 39"/>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41" name="TextBox 40"/>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42" name="TextBox 41"/>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spd="fast" advClick="1">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LO4 · Topic 4 · T2 · COMPARE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Weak Follow-Up vs Effective Review</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Weak follow-up</a:t>
            </a:r>
          </a:p>
        </p:txBody>
      </p:sp>
      <p:sp>
        <p:nvSpPr>
          <p:cNvPr id="9" name="TextBox 8"/>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Effective review</a:t>
            </a:r>
          </a:p>
        </p:txBody>
      </p:sp>
      <p:sp>
        <p:nvSpPr>
          <p:cNvPr id="10" name="TextBox 9"/>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Ask whether everyone is okay.</a:t>
            </a:r>
          </a:p>
          <a:p>
            <a:pPr>
              <a:spcAft>
                <a:spcPts val="1000"/>
              </a:spcAft>
            </a:pPr>
            <a:r>
              <a:rPr sz="1600" b="0">
                <a:solidFill>
                  <a:srgbClr val="161B26"/>
                </a:solidFill>
                <a:latin typeface="Arial"/>
              </a:rPr>
              <a:t>•  Assume silence means success.</a:t>
            </a:r>
          </a:p>
          <a:p>
            <a:pPr>
              <a:spcAft>
                <a:spcPts val="1000"/>
              </a:spcAft>
            </a:pPr>
            <a:r>
              <a:rPr sz="1600" b="0">
                <a:solidFill>
                  <a:srgbClr val="161B26"/>
                </a:solidFill>
                <a:latin typeface="Arial"/>
              </a:rPr>
              <a:t>•  Review only the two individuals.</a:t>
            </a:r>
          </a:p>
          <a:p>
            <a:pPr>
              <a:spcAft>
                <a:spcPts val="1000"/>
              </a:spcAft>
            </a:pPr>
            <a:r>
              <a:rPr sz="1600" b="0">
                <a:solidFill>
                  <a:srgbClr val="161B26"/>
                </a:solidFill>
                <a:latin typeface="Arial"/>
              </a:rPr>
              <a:t>•  Close the file after an apology.</a:t>
            </a:r>
          </a:p>
        </p:txBody>
      </p:sp>
      <p:sp>
        <p:nvSpPr>
          <p:cNvPr id="11" name="TextBox 10"/>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Check named behaviours and work outcomes against baseline.</a:t>
            </a:r>
          </a:p>
          <a:p>
            <a:pPr>
              <a:spcAft>
                <a:spcPts val="1000"/>
              </a:spcAft>
            </a:pPr>
            <a:r>
              <a:rPr sz="1600" b="0">
                <a:solidFill>
                  <a:srgbClr val="161B26"/>
                </a:solidFill>
                <a:latin typeface="Arial"/>
              </a:rPr>
              <a:t>•  Use multiple indicators and safe private feedback.</a:t>
            </a:r>
          </a:p>
          <a:p>
            <a:pPr>
              <a:spcAft>
                <a:spcPts val="1000"/>
              </a:spcAft>
            </a:pPr>
            <a:r>
              <a:rPr sz="1600" b="0">
                <a:solidFill>
                  <a:srgbClr val="161B26"/>
                </a:solidFill>
                <a:latin typeface="Arial"/>
              </a:rPr>
              <a:t>•  Review workload, handoffs, norms and manager action.</a:t>
            </a:r>
          </a:p>
          <a:p>
            <a:pPr>
              <a:spcAft>
                <a:spcPts val="1000"/>
              </a:spcAft>
            </a:pPr>
            <a:r>
              <a:rPr sz="1600" b="0">
                <a:solidFill>
                  <a:srgbClr val="161B26"/>
                </a:solidFill>
                <a:latin typeface="Arial"/>
              </a:rPr>
              <a:t>•  Assign controls, owners, dates and escalation triggers.</a:t>
            </a:r>
          </a:p>
        </p:txBody>
      </p:sp>
      <p:sp>
        <p:nvSpPr>
          <p:cNvPr id="12" name="TextBox 11"/>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3" name="TextBox 12"/>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4" name="TextBox 13"/>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
        <p:nvSpPr>
          <p:cNvPr id="15" name="TextBox 14"/>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continuous-improvement synthesis</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350"/>
                                        <p:tgtEl>
                                          <p:spTgt spid="10"/>
                                        </p:tgtEl>
                                      </p:cBhvr>
                                    </p:animEffect>
                                    <p:anim calcmode="lin" valueType="num">
                                      <p:cBhvr additive="base">
                                        <p:cTn id="1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350"/>
                                        <p:tgtEl>
                                          <p:spTgt spid="11"/>
                                        </p:tgtEl>
                                      </p:cBhvr>
                                    </p:animEffect>
                                    <p:anim calcmode="lin" valueType="num">
                                      <p:cBhvr additive="base">
                                        <p:cTn id="2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LO4 · Topic 4 · T2 · SUPPORTING DATA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Balanced Review Scorecard</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Work</a:t>
            </a:r>
          </a:p>
          <a:p>
            <a:pPr algn="l">
              <a:spcAft>
                <a:spcPts val="300"/>
              </a:spcAft>
            </a:pPr>
            <a:r>
              <a:rPr sz="1200" b="0">
                <a:solidFill>
                  <a:srgbClr val="5B6372"/>
                </a:solidFill>
                <a:latin typeface="Arial"/>
              </a:rPr>
              <a:t>Rework, delay, service quality and handoff reliability.</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People</a:t>
            </a:r>
          </a:p>
          <a:p>
            <a:pPr algn="l">
              <a:spcAft>
                <a:spcPts val="300"/>
              </a:spcAft>
            </a:pPr>
            <a:r>
              <a:rPr sz="1200" b="0">
                <a:solidFill>
                  <a:srgbClr val="5B6372"/>
                </a:solidFill>
                <a:latin typeface="Arial"/>
              </a:rPr>
              <a:t>Participation, stress signals, trust and psychological safety.</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Agreement</a:t>
            </a:r>
          </a:p>
          <a:p>
            <a:pPr algn="l">
              <a:spcAft>
                <a:spcPts val="300"/>
              </a:spcAft>
            </a:pPr>
            <a:r>
              <a:rPr sz="1200" b="0">
                <a:solidFill>
                  <a:srgbClr val="5B6372"/>
                </a:solidFill>
                <a:latin typeface="Arial"/>
              </a:rPr>
              <a:t>Completion of actions and adherence to behavioural commitments.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Recurrence</a:t>
            </a:r>
          </a:p>
          <a:p>
            <a:pPr algn="l">
              <a:spcAft>
                <a:spcPts val="300"/>
              </a:spcAft>
            </a:pPr>
            <a:r>
              <a:rPr sz="1200" b="0">
                <a:solidFill>
                  <a:srgbClr val="5B6372"/>
                </a:solidFill>
                <a:latin typeface="Arial"/>
              </a:rPr>
              <a:t>Repeat triggers, complaints, workarounds and policy breaches.</a:t>
            </a:r>
          </a:p>
        </p:txBody>
      </p:sp>
      <p:sp>
        <p:nvSpPr>
          <p:cNvPr id="26" name="TextBox 2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7" name="TextBox 2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8" name="TextBox 2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
        <p:nvSpPr>
          <p:cNvPr id="29" name="TextBox 28"/>
          <p:cNvSpPr txBox="1"/>
          <p:nvPr/>
        </p:nvSpPr>
        <p:spPr>
          <a:xfrm>
            <a:off x="777240" y="6163056"/>
            <a:ext cx="10607040" cy="201168"/>
          </a:xfrm>
          <a:prstGeom prst="rect">
            <a:avLst/>
          </a:prstGeom>
          <a:noFill/>
        </p:spPr>
        <p:txBody>
          <a:bodyPr wrap="square" anchor="t">
            <a:spAutoFit/>
          </a:bodyPr>
          <a:lstStyle/>
          <a:p>
            <a:pPr algn="l">
              <a:spcAft>
                <a:spcPts val="400"/>
              </a:spcAft>
            </a:pPr>
            <a:r>
              <a:rPr sz="850" b="0">
                <a:solidFill>
                  <a:srgbClr val="5B6372"/>
                </a:solidFill>
                <a:latin typeface="Arial"/>
              </a:rPr>
              <a:t>Source: illustrative worked example</a:t>
            </a:r>
          </a:p>
        </p:txBody>
      </p:sp>
    </p:spTree>
  </p:cSld>
  <p:clrMapOvr>
    <a:masterClrMapping/>
  </p:clrMapOvr>
  <p:transition spd="fast" advClick="1">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LO4 · Topic 4 · T2 · REAL-WORLD EXAMPLE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The apology worked; the handoff still failed</a:t>
            </a:r>
          </a:p>
        </p:txBody>
      </p:sp>
      <p:sp>
        <p:nvSpPr>
          <p:cNvPr id="6" name="Rectangle 5"/>
          <p:cNvSpPr/>
          <p:nvPr/>
        </p:nvSpPr>
        <p:spPr>
          <a:xfrm>
            <a:off x="777240" y="1783080"/>
            <a:ext cx="10634472" cy="4206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28016" cy="42062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97280" y="2103120"/>
            <a:ext cx="2834640" cy="502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03120"/>
            <a:ext cx="2834640" cy="502920"/>
          </a:xfrm>
          <a:prstGeom prst="rect">
            <a:avLst/>
          </a:prstGeom>
          <a:noFill/>
        </p:spPr>
        <p:txBody>
          <a:bodyPr wrap="square" anchor="ctr">
            <a:spAutoFit/>
          </a:bodyPr>
          <a:lstStyle/>
          <a:p>
            <a:pPr algn="ctr">
              <a:spcAft>
                <a:spcPts val="400"/>
              </a:spcAft>
            </a:pPr>
            <a:r>
              <a:rPr sz="1300" b="1">
                <a:solidFill>
                  <a:srgbClr val="FFFFFF"/>
                </a:solidFill>
                <a:latin typeface="Arial"/>
              </a:rPr>
              <a:t>REAL-WORLD EXAMPLE</a:t>
            </a:r>
          </a:p>
        </p:txBody>
      </p:sp>
      <p:sp>
        <p:nvSpPr>
          <p:cNvPr id="10" name="TextBox 9"/>
          <p:cNvSpPr txBox="1"/>
          <p:nvPr/>
        </p:nvSpPr>
        <p:spPr>
          <a:xfrm>
            <a:off x="1097280" y="2880360"/>
            <a:ext cx="9966960" cy="640080"/>
          </a:xfrm>
          <a:prstGeom prst="rect">
            <a:avLst/>
          </a:prstGeom>
          <a:noFill/>
        </p:spPr>
        <p:txBody>
          <a:bodyPr wrap="square" anchor="t">
            <a:spAutoFit/>
          </a:bodyPr>
          <a:lstStyle/>
          <a:p>
            <a:pPr algn="l">
              <a:spcAft>
                <a:spcPts val="400"/>
              </a:spcAft>
            </a:pPr>
            <a:r>
              <a:rPr sz="2600" b="1">
                <a:solidFill>
                  <a:srgbClr val="161B26"/>
                </a:solidFill>
                <a:latin typeface="Arial"/>
              </a:rPr>
              <a:t>GreenGrid Engineering</a:t>
            </a:r>
          </a:p>
        </p:txBody>
      </p:sp>
      <p:sp>
        <p:nvSpPr>
          <p:cNvPr id="11" name="TextBox 10"/>
          <p:cNvSpPr txBox="1"/>
          <p:nvPr/>
        </p:nvSpPr>
        <p:spPr>
          <a:xfrm>
            <a:off x="1097280" y="3611880"/>
            <a:ext cx="9966960" cy="2194560"/>
          </a:xfrm>
          <a:prstGeom prst="rect">
            <a:avLst/>
          </a:prstGeom>
          <a:noFill/>
        </p:spPr>
        <p:txBody>
          <a:bodyPr wrap="square" anchor="t">
            <a:spAutoFit/>
          </a:bodyPr>
          <a:lstStyle/>
          <a:p>
            <a:pPr algn="l">
              <a:spcAft>
                <a:spcPts val="400"/>
              </a:spcAft>
            </a:pPr>
            <a:r>
              <a:rPr sz="1600" b="0">
                <a:solidFill>
                  <a:srgbClr val="5B6372"/>
                </a:solidFill>
                <a:latin typeface="Arial"/>
              </a:rPr>
              <a:t>Two engineers report less interpersonal tension after mediation, but late design changes continue because decision rights remain unclear. The 30-day review separates relationship repair from unresolved process risk.</a:t>
            </a:r>
          </a:p>
        </p:txBody>
      </p:sp>
      <p:sp>
        <p:nvSpPr>
          <p:cNvPr id="12" name="TextBox 11"/>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3" name="TextBox 12"/>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4" name="TextBox 13"/>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350"/>
                                        <p:tgtEl>
                                          <p:spTgt spid="10"/>
                                        </p:tgtEl>
                                      </p:cBhvr>
                                    </p:animEffect>
                                    <p:anim calcmode="lin" valueType="num">
                                      <p:cBhvr additive="base">
                                        <p:cTn id="3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350"/>
                                        <p:tgtEl>
                                          <p:spTgt spid="11"/>
                                        </p:tgtEl>
                                      </p:cBhvr>
                                    </p:animEffect>
                                    <p:anim calcmode="lin" valueType="num">
                                      <p:cBhvr additive="base">
                                        <p:cTn id="4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LO4 · Topic 4 · T2 · ACTIVITY 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30-Day Resolution Review at GreenGrid Engineering</a:t>
            </a:r>
          </a:p>
        </p:txBody>
      </p:sp>
      <p:sp>
        <p:nvSpPr>
          <p:cNvPr id="6" name="Rectangle 5"/>
          <p:cNvSpPr/>
          <p:nvPr/>
        </p:nvSpPr>
        <p:spPr>
          <a:xfrm>
            <a:off x="777240" y="1691640"/>
            <a:ext cx="16916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28216"/>
            <a:ext cx="1691640" cy="365760"/>
          </a:xfrm>
          <a:prstGeom prst="rect">
            <a:avLst/>
          </a:prstGeom>
          <a:noFill/>
        </p:spPr>
        <p:txBody>
          <a:bodyPr wrap="square" anchor="t">
            <a:spAutoFit/>
          </a:bodyPr>
          <a:lstStyle/>
          <a:p>
            <a:pPr algn="ctr">
              <a:spcAft>
                <a:spcPts val="400"/>
              </a:spcAft>
            </a:pPr>
            <a:r>
              <a:rPr sz="1300" b="1">
                <a:solidFill>
                  <a:srgbClr val="FFFFFF"/>
                </a:solidFill>
                <a:latin typeface="Arial"/>
              </a:rPr>
              <a:t>CASE STUDY</a:t>
            </a:r>
          </a:p>
        </p:txBody>
      </p:sp>
      <p:sp>
        <p:nvSpPr>
          <p:cNvPr id="8" name="Rectangle 7"/>
          <p:cNvSpPr/>
          <p:nvPr/>
        </p:nvSpPr>
        <p:spPr>
          <a:xfrm>
            <a:off x="777240" y="2286000"/>
            <a:ext cx="1063447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286000"/>
            <a:ext cx="91440" cy="28803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487168"/>
            <a:ext cx="9966960" cy="320040"/>
          </a:xfrm>
          <a:prstGeom prst="rect">
            <a:avLst/>
          </a:prstGeom>
          <a:noFill/>
        </p:spPr>
        <p:txBody>
          <a:bodyPr wrap="square" anchor="t">
            <a:spAutoFit/>
          </a:bodyPr>
          <a:lstStyle/>
          <a:p>
            <a:pPr algn="l">
              <a:spcAft>
                <a:spcPts val="400"/>
              </a:spcAft>
            </a:pPr>
            <a:r>
              <a:rPr sz="1200" b="1">
                <a:solidFill>
                  <a:srgbClr val="10B981"/>
                </a:solidFill>
                <a:latin typeface="Arial"/>
              </a:rPr>
              <a:t>THE SITUATION</a:t>
            </a:r>
          </a:p>
        </p:txBody>
      </p:sp>
      <p:sp>
        <p:nvSpPr>
          <p:cNvPr id="11" name="TextBox 10"/>
          <p:cNvSpPr txBox="1"/>
          <p:nvPr/>
        </p:nvSpPr>
        <p:spPr>
          <a:xfrm>
            <a:off x="1097280" y="2834640"/>
            <a:ext cx="10058400" cy="2240280"/>
          </a:xfrm>
          <a:prstGeom prst="rect">
            <a:avLst/>
          </a:prstGeom>
          <a:noFill/>
        </p:spPr>
        <p:txBody>
          <a:bodyPr wrap="square" anchor="t">
            <a:spAutoFit/>
          </a:bodyPr>
          <a:lstStyle/>
          <a:p>
            <a:pPr algn="l">
              <a:spcAft>
                <a:spcPts val="800"/>
              </a:spcAft>
            </a:pPr>
            <a:r>
              <a:rPr sz="1450" b="0">
                <a:solidFill>
                  <a:srgbClr val="161B26"/>
                </a:solidFill>
                <a:latin typeface="Arial"/>
              </a:rPr>
              <a:t>GreenGrid Engineering mediated a conflict between design lead Noor and site lead Ethan after repeated late drawing changes caused rework. They agreed on respectful language, a 3:00pm change cut-off and a weekly coordination meeting.</a:t>
            </a:r>
          </a:p>
          <a:p>
            <a:pPr algn="l">
              <a:spcAft>
                <a:spcPts val="800"/>
              </a:spcAft>
            </a:pPr>
            <a:r>
              <a:rPr sz="1450" b="0">
                <a:solidFill>
                  <a:srgbClr val="161B26"/>
                </a:solidFill>
                <a:latin typeface="Arial"/>
              </a:rPr>
              <a:t>Thirty days later, meeting tone has improved and both report less stress, but three changes still arrived after the cut-off. Two were safety-related; one resulted from unclear approval authority. Learners evaluate effectiveness and design recurrence controls.</a:t>
            </a:r>
          </a:p>
        </p:txBody>
      </p:sp>
      <p:sp>
        <p:nvSpPr>
          <p:cNvPr id="12" name="Rectangle 11"/>
          <p:cNvSpPr/>
          <p:nvPr/>
        </p:nvSpPr>
        <p:spPr>
          <a:xfrm>
            <a:off x="777240" y="5349240"/>
            <a:ext cx="10634472" cy="685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5349240"/>
            <a:ext cx="7315200" cy="685800"/>
          </a:xfrm>
          <a:prstGeom prst="rect">
            <a:avLst/>
          </a:prstGeom>
          <a:noFill/>
        </p:spPr>
        <p:txBody>
          <a:bodyPr wrap="square" anchor="ctr">
            <a:spAutoFit/>
          </a:bodyPr>
          <a:lstStyle/>
          <a:p>
            <a:pPr algn="l">
              <a:spcAft>
                <a:spcPts val="400"/>
              </a:spcAft>
            </a:pPr>
            <a:r>
              <a:rPr sz="1300" b="1">
                <a:solidFill>
                  <a:srgbClr val="1F6FEB"/>
                </a:solidFill>
                <a:latin typeface="Arial"/>
              </a:rPr>
              <a:t>You'll produce:  </a:t>
            </a:r>
            <a:r>
              <a:rPr sz="1300" b="0">
                <a:solidFill>
                  <a:srgbClr val="161B26"/>
                </a:solidFill>
                <a:latin typeface="Arial"/>
              </a:rPr>
              <a:t>A 30-day effectiveness scorecard, learning review and recurrence-prevention action plan</a:t>
            </a:r>
          </a:p>
        </p:txBody>
      </p:sp>
      <p:sp>
        <p:nvSpPr>
          <p:cNvPr id="14" name="TextBox 13"/>
          <p:cNvSpPr txBox="1"/>
          <p:nvPr/>
        </p:nvSpPr>
        <p:spPr>
          <a:xfrm>
            <a:off x="8778240" y="5349240"/>
            <a:ext cx="2606040" cy="685800"/>
          </a:xfrm>
          <a:prstGeom prst="rect">
            <a:avLst/>
          </a:prstGeom>
          <a:noFill/>
        </p:spPr>
        <p:txBody>
          <a:bodyPr wrap="square" anchor="ctr">
            <a:spAutoFit/>
          </a:bodyPr>
          <a:lstStyle/>
          <a:p>
            <a:pPr algn="r">
              <a:spcAft>
                <a:spcPts val="400"/>
              </a:spcAft>
            </a:pPr>
            <a:r>
              <a:rPr sz="1300" b="1">
                <a:solidFill>
                  <a:srgbClr val="5B6372"/>
                </a:solidFill>
                <a:latin typeface="Arial"/>
              </a:rPr>
              <a:t>Duration: </a:t>
            </a:r>
            <a:r>
              <a:rPr sz="1300" b="0">
                <a:solidFill>
                  <a:srgbClr val="5B6372"/>
                </a:solidFill>
                <a:latin typeface="Arial"/>
              </a:rPr>
              <a:t>55 minutes</a:t>
            </a:r>
          </a:p>
        </p:txBody>
      </p:sp>
      <p:sp>
        <p:nvSpPr>
          <p:cNvPr id="15" name="TextBox 14"/>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6" name="TextBox 15"/>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7" name="TextBox 16"/>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50"/>
                                        <p:tgtEl>
                                          <p:spTgt spid="11"/>
                                        </p:tgtEl>
                                      </p:cBhvr>
                                    </p:animEffect>
                                    <p:anim calcmode="lin" valueType="num">
                                      <p:cBhvr additive="base">
                                        <p:cTn id="35" dur="350" fill="hold"/>
                                        <p:tgtEl>
                                          <p:spTgt spid="11"/>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50"/>
                                        <p:tgtEl>
                                          <p:spTgt spid="12"/>
                                        </p:tgtEl>
                                      </p:cBhvr>
                                    </p:animEffect>
                                    <p:anim calcmode="lin" valueType="num">
                                      <p:cBhvr additive="base">
                                        <p:cTn id="4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par>
                    <p:cTn id="50" fill="hold">
                      <p:stCondLst>
                        <p:cond delay="0"/>
                      </p:stCondLst>
                      <p:childTnLst>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350"/>
                                        <p:tgtEl>
                                          <p:spTgt spid="13"/>
                                        </p:tgtEl>
                                      </p:cBhvr>
                                    </p:animEffect>
                                    <p:anim calcmode="lin" valueType="num">
                                      <p:cBhvr additive="base">
                                        <p:cTn id="55" dur="350" fill="hold"/>
                                        <p:tgtEl>
                                          <p:spTgt spid="13"/>
                                        </p:tgtEl>
                                        <p:attrNameLst>
                                          <p:attrName>ppt_y</p:attrName>
                                        </p:attrNameLst>
                                      </p:cBhvr>
                                      <p:tavLst>
                                        <p:tav tm="0">
                                          <p:val>
                                            <p:strVal val="#ppt_y+0.0350"/>
                                          </p:val>
                                        </p:tav>
                                        <p:tav tm="100000">
                                          <p:val>
                                            <p:strVal val="#ppt_y"/>
                                          </p:val>
                                        </p:tav>
                                      </p:tavLst>
                                    </p:anim>
                                  </p:childTnLst>
                                </p:cTn>
                              </p:par>
                            </p:childTnLst>
                          </p:cTn>
                        </p:par>
                      </p:childTnLst>
                    </p:cTn>
                  </p:par>
                  <p:par>
                    <p:cTn id="60" fill="hold">
                      <p:stCondLst>
                        <p:cond delay="0"/>
                      </p:stCondLst>
                      <p:childTnLst>
                        <p:par>
                          <p:cTn id="61" fill="hold">
                            <p:stCondLst>
                              <p:cond delay="0"/>
                            </p:stCondLst>
                            <p:childTnLst>
                              <p:par>
                                <p:cTn id="62" presetID="10" presetClass="entr" presetSubtype="0" fill="hold" grpId="0" nodeType="after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350"/>
                                        <p:tgtEl>
                                          <p:spTgt spid="14"/>
                                        </p:tgtEl>
                                      </p:cBhvr>
                                    </p:animEffect>
                                    <p:anim calcmode="lin" valueType="num">
                                      <p:cBhvr additive="base">
                                        <p:cTn id="65" dur="350" fill="hold"/>
                                        <p:tgtEl>
                                          <p:spTgt spid="14"/>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LO4 · Topic 4 · T2 · ACTIVITY 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30-Day Resolution Review at GreenGrid Engineering</a:t>
            </a:r>
          </a:p>
        </p:txBody>
      </p:sp>
      <p:sp>
        <p:nvSpPr>
          <p:cNvPr id="6" name="TextBox 5"/>
          <p:cNvSpPr txBox="1"/>
          <p:nvPr/>
        </p:nvSpPr>
        <p:spPr>
          <a:xfrm>
            <a:off x="777240" y="1719072"/>
            <a:ext cx="8229600" cy="365760"/>
          </a:xfrm>
          <a:prstGeom prst="rect">
            <a:avLst/>
          </a:prstGeom>
          <a:noFill/>
        </p:spPr>
        <p:txBody>
          <a:bodyPr wrap="square" anchor="t">
            <a:spAutoFit/>
          </a:bodyPr>
          <a:lstStyle/>
          <a:p>
            <a:pPr algn="l">
              <a:spcAft>
                <a:spcPts val="400"/>
              </a:spcAft>
            </a:pPr>
            <a:r>
              <a:rPr sz="1300" b="1">
                <a:solidFill>
                  <a:srgbClr val="5B6372"/>
                </a:solidFill>
                <a:latin typeface="Arial"/>
              </a:rPr>
              <a:t>DISCUSSION &amp; DECISION PROMPTS</a:t>
            </a:r>
          </a:p>
        </p:txBody>
      </p:sp>
      <p:sp>
        <p:nvSpPr>
          <p:cNvPr id="7" name="Rectangle 6"/>
          <p:cNvSpPr/>
          <p:nvPr/>
        </p:nvSpPr>
        <p:spPr>
          <a:xfrm>
            <a:off x="777240" y="2148840"/>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78408" y="233400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334006"/>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737360" y="2148840"/>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Which parts of the original resolution were effective, partly effective or ineffective?</a:t>
            </a:r>
          </a:p>
        </p:txBody>
      </p:sp>
      <p:sp>
        <p:nvSpPr>
          <p:cNvPr id="12" name="Rectangle 11"/>
          <p:cNvSpPr/>
          <p:nvPr/>
        </p:nvSpPr>
        <p:spPr>
          <a:xfrm>
            <a:off x="777240" y="3168396"/>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168396"/>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78408" y="3353562"/>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3353562"/>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6" name="TextBox 15"/>
          <p:cNvSpPr txBox="1"/>
          <p:nvPr/>
        </p:nvSpPr>
        <p:spPr>
          <a:xfrm>
            <a:off x="1737360" y="3168396"/>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evidence is needed beyond self-report?</a:t>
            </a:r>
          </a:p>
        </p:txBody>
      </p:sp>
      <p:sp>
        <p:nvSpPr>
          <p:cNvPr id="17" name="Rectangle 16"/>
          <p:cNvSpPr/>
          <p:nvPr/>
        </p:nvSpPr>
        <p:spPr>
          <a:xfrm>
            <a:off x="777240" y="4187952"/>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87952"/>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78408" y="4373118"/>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373118"/>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1" name="TextBox 20"/>
          <p:cNvSpPr txBox="1"/>
          <p:nvPr/>
        </p:nvSpPr>
        <p:spPr>
          <a:xfrm>
            <a:off x="1737360" y="4187952"/>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Which recurrence cause is behavioural, and which is structural?</a:t>
            </a:r>
          </a:p>
        </p:txBody>
      </p:sp>
      <p:sp>
        <p:nvSpPr>
          <p:cNvPr id="22" name="Rectangle 21"/>
          <p:cNvSpPr/>
          <p:nvPr/>
        </p:nvSpPr>
        <p:spPr>
          <a:xfrm>
            <a:off x="777240" y="5207508"/>
            <a:ext cx="10634472" cy="8732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07508"/>
            <a:ext cx="73152" cy="8732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78408" y="5392674"/>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392674"/>
            <a:ext cx="502920" cy="50292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6" name="TextBox 25"/>
          <p:cNvSpPr txBox="1"/>
          <p:nvPr/>
        </p:nvSpPr>
        <p:spPr>
          <a:xfrm>
            <a:off x="1737360" y="5207508"/>
            <a:ext cx="9308592" cy="873252"/>
          </a:xfrm>
          <a:prstGeom prst="rect">
            <a:avLst/>
          </a:prstGeom>
          <a:noFill/>
        </p:spPr>
        <p:txBody>
          <a:bodyPr wrap="square" anchor="ctr">
            <a:spAutoFit/>
          </a:bodyPr>
          <a:lstStyle/>
          <a:p>
            <a:pPr algn="l">
              <a:spcAft>
                <a:spcPts val="400"/>
              </a:spcAft>
            </a:pPr>
            <a:r>
              <a:rPr sz="1450" b="0">
                <a:solidFill>
                  <a:srgbClr val="161B26"/>
                </a:solidFill>
                <a:latin typeface="Arial"/>
              </a:rPr>
              <a:t>What preventive control, owner, date and trigger should be added?</a:t>
            </a:r>
          </a:p>
        </p:txBody>
      </p:sp>
      <p:sp>
        <p:nvSpPr>
          <p:cNvPr id="27" name="TextBox 26"/>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8" name="TextBox 27"/>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9" name="TextBox 28"/>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transition spd="fast" advClick="1">
    <p:wipe dir="l"/>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LO4 · Topic 4 · T2 · ACTIVITY 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30-Day Resolution Review at GreenGrid Engineering</a:t>
            </a:r>
          </a:p>
        </p:txBody>
      </p:sp>
      <p:sp>
        <p:nvSpPr>
          <p:cNvPr id="6" name="Rectangle 5"/>
          <p:cNvSpPr/>
          <p:nvPr/>
        </p:nvSpPr>
        <p:spPr>
          <a:xfrm>
            <a:off x="777240" y="1783080"/>
            <a:ext cx="10634472" cy="2651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6517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965960"/>
            <a:ext cx="10058400" cy="365760"/>
          </a:xfrm>
          <a:prstGeom prst="rect">
            <a:avLst/>
          </a:prstGeom>
          <a:noFill/>
        </p:spPr>
        <p:txBody>
          <a:bodyPr wrap="square" anchor="t">
            <a:spAutoFit/>
          </a:bodyPr>
          <a:lstStyle/>
          <a:p>
            <a:pPr algn="l">
              <a:spcAft>
                <a:spcPts val="400"/>
              </a:spcAft>
            </a:pPr>
            <a:r>
              <a:rPr sz="1300" b="1">
                <a:solidFill>
                  <a:srgbClr val="7C3AED"/>
                </a:solidFill>
                <a:latin typeface="Arial"/>
              </a:rPr>
              <a:t>REFLECT &amp; DISCUSS</a:t>
            </a:r>
          </a:p>
        </p:txBody>
      </p:sp>
      <p:sp>
        <p:nvSpPr>
          <p:cNvPr id="9" name="TextBox 8"/>
          <p:cNvSpPr txBox="1"/>
          <p:nvPr/>
        </p:nvSpPr>
        <p:spPr>
          <a:xfrm>
            <a:off x="1051560" y="2377440"/>
            <a:ext cx="10058400" cy="1920240"/>
          </a:xfrm>
          <a:prstGeom prst="rect">
            <a:avLst/>
          </a:prstGeom>
          <a:noFill/>
        </p:spPr>
        <p:txBody>
          <a:bodyPr wrap="square">
            <a:spAutoFit/>
          </a:bodyPr>
          <a:lstStyle/>
          <a:p>
            <a:pPr>
              <a:spcAft>
                <a:spcPts val="900"/>
              </a:spcAft>
            </a:pPr>
            <a:r>
              <a:rPr sz="1450" b="0">
                <a:solidFill>
                  <a:srgbClr val="161B26"/>
                </a:solidFill>
                <a:latin typeface="Arial"/>
              </a:rPr>
              <a:t>•  Did you avoid treating all exceptions as breaches?</a:t>
            </a:r>
          </a:p>
          <a:p>
            <a:pPr>
              <a:spcAft>
                <a:spcPts val="900"/>
              </a:spcAft>
            </a:pPr>
            <a:r>
              <a:rPr sz="1450" b="0">
                <a:solidFill>
                  <a:srgbClr val="161B26"/>
                </a:solidFill>
                <a:latin typeface="Arial"/>
              </a:rPr>
              <a:t>•  Does the prevention plan change the system as well as individual behaviour?</a:t>
            </a:r>
          </a:p>
        </p:txBody>
      </p:sp>
      <p:sp>
        <p:nvSpPr>
          <p:cNvPr id="10" name="Rectangle 9"/>
          <p:cNvSpPr/>
          <p:nvPr/>
        </p:nvSpPr>
        <p:spPr>
          <a:xfrm>
            <a:off x="777240" y="4663440"/>
            <a:ext cx="10634472" cy="13716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4864608"/>
            <a:ext cx="10058400" cy="365760"/>
          </a:xfrm>
          <a:prstGeom prst="rect">
            <a:avLst/>
          </a:prstGeom>
          <a:noFill/>
        </p:spPr>
        <p:txBody>
          <a:bodyPr wrap="square" anchor="t">
            <a:spAutoFit/>
          </a:bodyPr>
          <a:lstStyle/>
          <a:p>
            <a:pPr algn="l">
              <a:spcAft>
                <a:spcPts val="400"/>
              </a:spcAft>
            </a:pPr>
            <a:r>
              <a:rPr sz="1500" b="1">
                <a:solidFill>
                  <a:srgbClr val="127A3E"/>
                </a:solidFill>
                <a:latin typeface="Arial"/>
              </a:rPr>
              <a:t>✓  Facilitator debrief check</a:t>
            </a:r>
          </a:p>
        </p:txBody>
      </p:sp>
      <p:sp>
        <p:nvSpPr>
          <p:cNvPr id="12" name="TextBox 11"/>
          <p:cNvSpPr txBox="1"/>
          <p:nvPr/>
        </p:nvSpPr>
        <p:spPr>
          <a:xfrm>
            <a:off x="1051560" y="5257800"/>
            <a:ext cx="10058400" cy="731520"/>
          </a:xfrm>
          <a:prstGeom prst="rect">
            <a:avLst/>
          </a:prstGeom>
          <a:noFill/>
        </p:spPr>
        <p:txBody>
          <a:bodyPr wrap="square" anchor="t">
            <a:spAutoFit/>
          </a:bodyPr>
          <a:lstStyle/>
          <a:p>
            <a:pPr algn="l">
              <a:spcAft>
                <a:spcPts val="400"/>
              </a:spcAft>
            </a:pPr>
            <a:r>
              <a:rPr sz="1300" b="0">
                <a:solidFill>
                  <a:srgbClr val="161B26"/>
                </a:solidFill>
                <a:latin typeface="Arial"/>
              </a:rPr>
              <a:t>The review reaches an evidence-based verdict and adds preventive controls with ownership, timing and measurable follow-up.</a:t>
            </a:r>
          </a:p>
        </p:txBody>
      </p:sp>
      <p:sp>
        <p:nvSpPr>
          <p:cNvPr id="13" name="TextBox 12"/>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4" name="TextBox 13"/>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5" name="TextBox 14"/>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transition spd="fast" advClick="1">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50"/>
                                        <p:tgtEl>
                                          <p:spTgt spid="9"/>
                                        </p:tgtEl>
                                      </p:cBhvr>
                                    </p:animEffect>
                                    <p:anim calcmode="lin" valueType="num">
                                      <p:cBhvr additive="base">
                                        <p:cTn id="1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350"/>
                                        <p:tgtEl>
                                          <p:spTgt spid="10"/>
                                        </p:tgtEl>
                                      </p:cBhvr>
                                    </p:animEffect>
                                    <p:anim calcmode="lin" valueType="num">
                                      <p:cBhvr additive="base">
                                        <p:cTn id="25" dur="350" fill="hold"/>
                                        <p:tgtEl>
                                          <p:spTgt spid="10"/>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350"/>
                                        <p:tgtEl>
                                          <p:spTgt spid="12"/>
                                        </p:tgtEl>
                                      </p:cBhvr>
                                    </p:animEffect>
                                    <p:anim calcmode="lin" valueType="num">
                                      <p:cBhvr additive="base">
                                        <p:cTn id="35" dur="350" fill="hold"/>
                                        <p:tgtEl>
                                          <p:spTgt spid="12"/>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4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100" b="1">
                <a:solidFill>
                  <a:srgbClr val="161B26"/>
                </a:solidFill>
                <a:latin typeface="Arial"/>
              </a:rPr>
              <a:t>Recap — Reviewing Effectiveness and Preventing Recurrence</a:t>
            </a:r>
          </a:p>
        </p:txBody>
      </p:sp>
      <p:sp>
        <p:nvSpPr>
          <p:cNvPr id="6" name="Rectangle 5"/>
          <p:cNvSpPr/>
          <p:nvPr/>
        </p:nvSpPr>
        <p:spPr>
          <a:xfrm>
            <a:off x="777240"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4187952"/>
          </a:xfrm>
          <a:prstGeom prst="rect">
            <a:avLst/>
          </a:prstGeom>
          <a:noFill/>
        </p:spPr>
        <p:txBody>
          <a:bodyPr wrap="square" anchor="ctr">
            <a:spAutoFit/>
          </a:bodyPr>
          <a:lstStyle/>
          <a:p>
            <a:pPr algn="l">
              <a:spcAft>
                <a:spcPts val="300"/>
              </a:spcAft>
            </a:pPr>
            <a:r>
              <a:rPr sz="1600" b="1">
                <a:solidFill>
                  <a:srgbClr val="161B26"/>
                </a:solidFill>
                <a:latin typeface="Arial"/>
              </a:rPr>
              <a:t>Policy, Ethics and Escalation at Meridian Hospitality</a:t>
            </a:r>
          </a:p>
          <a:p>
            <a:pPr algn="l">
              <a:spcAft>
                <a:spcPts val="300"/>
              </a:spcAft>
            </a:pPr>
            <a:r>
              <a:rPr sz="1200" b="0">
                <a:solidFill>
                  <a:srgbClr val="5B6372"/>
                </a:solidFill>
                <a:latin typeface="Arial"/>
              </a:rPr>
              <a:t>You can now: distinguish resolvable disagreement from conduct requiring formal, confidential escalation.</a:t>
            </a:r>
          </a:p>
        </p:txBody>
      </p:sp>
      <p:sp>
        <p:nvSpPr>
          <p:cNvPr id="11" name="Rectangle 10"/>
          <p:cNvSpPr/>
          <p:nvPr/>
        </p:nvSpPr>
        <p:spPr>
          <a:xfrm>
            <a:off x="6231636"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4370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4187952"/>
          </a:xfrm>
          <a:prstGeom prst="rect">
            <a:avLst/>
          </a:prstGeom>
          <a:noFill/>
        </p:spPr>
        <p:txBody>
          <a:bodyPr wrap="square" anchor="ctr">
            <a:spAutoFit/>
          </a:bodyPr>
          <a:lstStyle/>
          <a:p>
            <a:pPr algn="l">
              <a:spcAft>
                <a:spcPts val="300"/>
              </a:spcAft>
            </a:pPr>
            <a:r>
              <a:rPr sz="1600" b="1">
                <a:solidFill>
                  <a:srgbClr val="161B26"/>
                </a:solidFill>
                <a:latin typeface="Arial"/>
              </a:rPr>
              <a:t>30-Day Resolution Review at GreenGrid Engineering</a:t>
            </a:r>
          </a:p>
          <a:p>
            <a:pPr algn="l">
              <a:spcAft>
                <a:spcPts val="300"/>
              </a:spcAft>
            </a:pPr>
            <a:r>
              <a:rPr sz="1200" b="0">
                <a:solidFill>
                  <a:srgbClr val="5B6372"/>
                </a:solidFill>
                <a:latin typeface="Arial"/>
              </a:rPr>
              <a:t>You can now: evaluate resolution effectiveness and design controls that prevent recurrence.</a:t>
            </a:r>
          </a:p>
        </p:txBody>
      </p:sp>
      <p:sp>
        <p:nvSpPr>
          <p:cNvPr id="16" name="TextBox 1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17" name="TextBox 1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8" name="TextBox 1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anim calcmode="lin" valueType="num">
                                      <p:cBhvr additive="base">
                                        <p:cTn id="15" dur="350" fill="hold"/>
                                        <p:tgtEl>
                                          <p:spTgt spid="8"/>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anim calcmode="lin" valueType="num">
                                      <p:cBhvr additive="base">
                                        <p:cTn id="25" dur="350" fill="hold"/>
                                        <p:tgtEl>
                                          <p:spTgt spid="9"/>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350"/>
                                        <p:tgtEl>
                                          <p:spTgt spid="13"/>
                                        </p:tgtEl>
                                      </p:cBhvr>
                                    </p:animEffect>
                                    <p:anim calcmode="lin" valueType="num">
                                      <p:cBhvr additive="base">
                                        <p:cTn id="35" dur="350" fill="hold"/>
                                        <p:tgtEl>
                                          <p:spTgt spid="13"/>
                                        </p:tgtEl>
                                        <p:attrNameLst>
                                          <p:attrName>ppt_y</p:attrName>
                                        </p:attrNameLst>
                                      </p:cBhvr>
                                      <p:tavLst>
                                        <p:tav tm="0">
                                          <p:val>
                                            <p:strVal val="#ppt_y+0.0350"/>
                                          </p:val>
                                        </p:tav>
                                        <p:tav tm="100000">
                                          <p:val>
                                            <p:strVal val="#ppt_y"/>
                                          </p:val>
                                        </p:tav>
                                      </p:tavLst>
                                    </p:anim>
                                  </p:childTnLst>
                                </p:cTn>
                              </p:par>
                            </p:childTnLst>
                          </p:cTn>
                        </p:par>
                      </p:childTnLst>
                    </p:cTn>
                  </p:par>
                  <p:par>
                    <p:cTn id="40" fill="hold">
                      <p:stCondLst>
                        <p:cond delay="0"/>
                      </p:stCondLst>
                      <p:childTnLst>
                        <p:par>
                          <p:cTn id="41" fill="hold">
                            <p:stCondLst>
                              <p:cond delay="0"/>
                            </p:stCondLst>
                            <p:childTnLst>
                              <p:par>
                                <p:cTn id="42" presetID="10" presetClass="entr" presetSubtype="0" fill="hold" grpId="0" nodeType="after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350"/>
                                        <p:tgtEl>
                                          <p:spTgt spid="14"/>
                                        </p:tgtEl>
                                      </p:cBhvr>
                                    </p:animEffect>
                                    <p:anim calcmode="lin" valueType="num">
                                      <p:cBhvr additive="base">
                                        <p:cTn id="45" dur="350" fill="hold"/>
                                        <p:tgtEl>
                                          <p:spTgt spid="14"/>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Topic 4 · WHY IT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Closure is an agreement; prevention is a changed system.</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Review both the relationship and the work, then remove the condition that fed the conflict.</a:t>
            </a:r>
          </a:p>
        </p:txBody>
      </p:sp>
      <p:sp>
        <p:nvSpPr>
          <p:cNvPr id="7" name="TextBox 6"/>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8" name="TextBox 7"/>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9" name="TextBox 8"/>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transition spd="fast" advClick="1">
    <p:zoom/>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SOURCE-ALIGNED COURSEWARE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Sources &amp; Further Reading — 1</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Tertiary Courses: official course page</a:t>
            </a:r>
          </a:p>
          <a:p>
            <a:pPr algn="l">
              <a:spcAft>
                <a:spcPts val="300"/>
              </a:spcAft>
            </a:pPr>
            <a:r>
              <a:rPr sz="1000" b="0">
                <a:solidFill>
                  <a:srgbClr val="5B6372"/>
                </a:solidFill>
                <a:latin typeface="Arial"/>
              </a:rPr>
              <a:t>tertiarycourses.com.sg</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Atlassian: conflict resolution skills</a:t>
            </a:r>
          </a:p>
          <a:p>
            <a:pPr algn="l">
              <a:spcAft>
                <a:spcPts val="300"/>
              </a:spcAft>
            </a:pPr>
            <a:r>
              <a:rPr sz="1000" b="0">
                <a:solidFill>
                  <a:srgbClr val="5B6372"/>
                </a:solidFill>
                <a:latin typeface="Arial"/>
              </a:rPr>
              <a:t>atlassian.com</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Coursera: conflict resolution skills</a:t>
            </a:r>
          </a:p>
          <a:p>
            <a:pPr algn="l">
              <a:spcAft>
                <a:spcPts val="300"/>
              </a:spcAft>
            </a:pPr>
            <a:r>
              <a:rPr sz="1000" b="0">
                <a:solidFill>
                  <a:srgbClr val="5B6372"/>
                </a:solidFill>
                <a:latin typeface="Arial"/>
              </a:rPr>
              <a:t>coursera.org</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Study.com: conflict resolution overview and examples</a:t>
            </a:r>
          </a:p>
          <a:p>
            <a:pPr algn="l">
              <a:spcAft>
                <a:spcPts val="300"/>
              </a:spcAft>
            </a:pPr>
            <a:r>
              <a:rPr sz="1000" b="0">
                <a:solidFill>
                  <a:srgbClr val="5B6372"/>
                </a:solidFill>
                <a:latin typeface="Arial"/>
              </a:rPr>
              <a:t>study.com</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0" name="TextBox 29"/>
          <p:cNvSpPr txBox="1"/>
          <p:nvPr/>
        </p:nvSpPr>
        <p:spPr>
          <a:xfrm>
            <a:off x="1764792"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SNHU: conflict resolution in the workplace</a:t>
            </a:r>
          </a:p>
          <a:p>
            <a:pPr algn="l">
              <a:spcAft>
                <a:spcPts val="300"/>
              </a:spcAft>
            </a:pPr>
            <a:r>
              <a:rPr sz="1000" b="0">
                <a:solidFill>
                  <a:srgbClr val="5B6372"/>
                </a:solidFill>
                <a:latin typeface="Arial"/>
              </a:rPr>
              <a:t>snhu.edu</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5" name="TextBox 34"/>
          <p:cNvSpPr txBox="1"/>
          <p:nvPr/>
        </p:nvSpPr>
        <p:spPr>
          <a:xfrm>
            <a:off x="7219188"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Situational Leadership: leader conflict resolution skills</a:t>
            </a:r>
          </a:p>
          <a:p>
            <a:pPr algn="l">
              <a:spcAft>
                <a:spcPts val="300"/>
              </a:spcAft>
            </a:pPr>
            <a:r>
              <a:rPr sz="1000" b="0">
                <a:solidFill>
                  <a:srgbClr val="5B6372"/>
                </a:solidFill>
                <a:latin typeface="Arial"/>
              </a:rPr>
              <a:t>situational.com</a:t>
            </a:r>
          </a:p>
        </p:txBody>
      </p:sp>
      <p:sp>
        <p:nvSpPr>
          <p:cNvPr id="36" name="TextBox 3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37" name="TextBox 3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38" name="TextBox 3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transition spd="fast" advClick="1">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SOURCE-ALIGNED COURSEWARE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Sources &amp; Further Reading — 2</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Worksafe UK: five essential conflict resolution skills</a:t>
            </a:r>
          </a:p>
          <a:p>
            <a:pPr algn="l">
              <a:spcAft>
                <a:spcPts val="300"/>
              </a:spcAft>
            </a:pPr>
            <a:r>
              <a:rPr sz="1000" b="0">
                <a:solidFill>
                  <a:srgbClr val="5B6372"/>
                </a:solidFill>
                <a:latin typeface="Arial"/>
              </a:rPr>
              <a:t>worksafe.uk.com</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mindbodygreen: conflict resolution skills and strategies</a:t>
            </a:r>
          </a:p>
          <a:p>
            <a:pPr algn="l">
              <a:spcAft>
                <a:spcPts val="300"/>
              </a:spcAft>
            </a:pPr>
            <a:r>
              <a:rPr sz="1000" b="0">
                <a:solidFill>
                  <a:srgbClr val="5B6372"/>
                </a:solidFill>
                <a:latin typeface="Arial"/>
              </a:rPr>
              <a:t>mindbodygreen.com</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Training Industry: conflict resolution skills for leaders</a:t>
            </a:r>
          </a:p>
          <a:p>
            <a:pPr algn="l">
              <a:spcAft>
                <a:spcPts val="300"/>
              </a:spcAft>
            </a:pPr>
            <a:r>
              <a:rPr sz="1000" b="0">
                <a:solidFill>
                  <a:srgbClr val="5B6372"/>
                </a:solidFill>
                <a:latin typeface="Arial"/>
              </a:rPr>
              <a:t>trainingindustry.com</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Indeed: conflict resolution skills</a:t>
            </a:r>
          </a:p>
          <a:p>
            <a:pPr algn="l">
              <a:spcAft>
                <a:spcPts val="300"/>
              </a:spcAft>
            </a:pPr>
            <a:r>
              <a:rPr sz="1000" b="0">
                <a:solidFill>
                  <a:srgbClr val="5B6372"/>
                </a:solidFill>
                <a:latin typeface="Arial"/>
              </a:rPr>
              <a:t>indeed.com</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0" name="TextBox 29"/>
          <p:cNvSpPr txBox="1"/>
          <p:nvPr/>
        </p:nvSpPr>
        <p:spPr>
          <a:xfrm>
            <a:off x="1764792"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HelpGuide: conflict resolution skills</a:t>
            </a:r>
          </a:p>
          <a:p>
            <a:pPr algn="l">
              <a:spcAft>
                <a:spcPts val="300"/>
              </a:spcAft>
            </a:pPr>
            <a:r>
              <a:rPr sz="1000" b="0">
                <a:solidFill>
                  <a:srgbClr val="5B6372"/>
                </a:solidFill>
                <a:latin typeface="Arial"/>
              </a:rPr>
              <a:t>helpguide.org</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5" name="TextBox 34"/>
          <p:cNvSpPr txBox="1"/>
          <p:nvPr/>
        </p:nvSpPr>
        <p:spPr>
          <a:xfrm>
            <a:off x="7219188"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Harvard Program on Negotiation: conflict resolution strategies</a:t>
            </a:r>
          </a:p>
          <a:p>
            <a:pPr algn="l">
              <a:spcAft>
                <a:spcPts val="300"/>
              </a:spcAft>
            </a:pPr>
            <a:r>
              <a:rPr sz="1000" b="0">
                <a:solidFill>
                  <a:srgbClr val="5B6372"/>
                </a:solidFill>
                <a:latin typeface="Arial"/>
              </a:rPr>
              <a:t>pon.harvard.edu</a:t>
            </a:r>
          </a:p>
        </p:txBody>
      </p:sp>
      <p:sp>
        <p:nvSpPr>
          <p:cNvPr id="36" name="TextBox 3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37" name="TextBox 3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38" name="TextBox 3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transition spd="fast" advClick="1">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SOURCE-ALIGNED COURSEWARE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Sources &amp; Further Reading — 3</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Harvard Business School Online: workplace conflict resolution</a:t>
            </a:r>
          </a:p>
          <a:p>
            <a:pPr algn="l">
              <a:spcAft>
                <a:spcPts val="300"/>
              </a:spcAft>
            </a:pPr>
            <a:r>
              <a:rPr sz="1000" b="0">
                <a:solidFill>
                  <a:srgbClr val="5B6372"/>
                </a:solidFill>
                <a:latin typeface="Arial"/>
              </a:rPr>
              <a:t>online.hbs.edu</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Coursera: conflict management</a:t>
            </a:r>
          </a:p>
          <a:p>
            <a:pPr algn="l">
              <a:spcAft>
                <a:spcPts val="300"/>
              </a:spcAft>
            </a:pPr>
            <a:r>
              <a:rPr sz="1000" b="0">
                <a:solidFill>
                  <a:srgbClr val="5B6372"/>
                </a:solidFill>
                <a:latin typeface="Arial"/>
              </a:rPr>
              <a:t>coursera.org</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Syracuse University: conflict management strategies</a:t>
            </a:r>
          </a:p>
          <a:p>
            <a:pPr algn="l">
              <a:spcAft>
                <a:spcPts val="300"/>
              </a:spcAft>
            </a:pPr>
            <a:r>
              <a:rPr sz="1000" b="0">
                <a:solidFill>
                  <a:srgbClr val="5B6372"/>
                </a:solidFill>
                <a:latin typeface="Arial"/>
              </a:rPr>
              <a:t>ischool.syracuse.edu</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UC Berkeley Ombuds: tips, tools and techniques</a:t>
            </a:r>
          </a:p>
          <a:p>
            <a:pPr algn="l">
              <a:spcAft>
                <a:spcPts val="300"/>
              </a:spcAft>
            </a:pPr>
            <a:r>
              <a:rPr sz="1000" b="0">
                <a:solidFill>
                  <a:srgbClr val="5B6372"/>
                </a:solidFill>
                <a:latin typeface="Arial"/>
              </a:rPr>
              <a:t>studentaffairs.berkeley.edu</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0" name="TextBox 29"/>
          <p:cNvSpPr txBox="1"/>
          <p:nvPr/>
        </p:nvSpPr>
        <p:spPr>
          <a:xfrm>
            <a:off x="1764792"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Indeed: conflict resolution strategies</a:t>
            </a:r>
          </a:p>
          <a:p>
            <a:pPr algn="l">
              <a:spcAft>
                <a:spcPts val="300"/>
              </a:spcAft>
            </a:pPr>
            <a:r>
              <a:rPr sz="1000" b="0">
                <a:solidFill>
                  <a:srgbClr val="5B6372"/>
                </a:solidFill>
                <a:latin typeface="Arial"/>
              </a:rPr>
              <a:t>indeed.com</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5" name="TextBox 34"/>
          <p:cNvSpPr txBox="1"/>
          <p:nvPr/>
        </p:nvSpPr>
        <p:spPr>
          <a:xfrm>
            <a:off x="7219188"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National University: conflict resolution communication tips</a:t>
            </a:r>
          </a:p>
          <a:p>
            <a:pPr algn="l">
              <a:spcAft>
                <a:spcPts val="300"/>
              </a:spcAft>
            </a:pPr>
            <a:r>
              <a:rPr sz="1000" b="0">
                <a:solidFill>
                  <a:srgbClr val="5B6372"/>
                </a:solidFill>
                <a:latin typeface="Arial"/>
              </a:rPr>
              <a:t>nu.edu</a:t>
            </a:r>
          </a:p>
        </p:txBody>
      </p:sp>
      <p:sp>
        <p:nvSpPr>
          <p:cNvPr id="36" name="TextBox 3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37" name="TextBox 3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38" name="TextBox 3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transition spd="fast" advClick="1">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SOURCE-ALIGNED COURSEWARE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Sources &amp; Further Reading — 4</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Academy of Business Research: conflict resolution strategies</a:t>
            </a:r>
          </a:p>
          <a:p>
            <a:pPr algn="l">
              <a:spcAft>
                <a:spcPts val="300"/>
              </a:spcAft>
            </a:pPr>
            <a:r>
              <a:rPr sz="1000" b="0">
                <a:solidFill>
                  <a:srgbClr val="5B6372"/>
                </a:solidFill>
                <a:latin typeface="Arial"/>
              </a:rPr>
              <a:t>abacademies.org</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Singapore MOM: workplace grievances</a:t>
            </a:r>
          </a:p>
          <a:p>
            <a:pPr algn="l">
              <a:spcAft>
                <a:spcPts val="300"/>
              </a:spcAft>
            </a:pPr>
            <a:r>
              <a:rPr sz="1000" b="0">
                <a:solidFill>
                  <a:srgbClr val="5B6372"/>
                </a:solidFill>
                <a:latin typeface="Arial"/>
              </a:rPr>
              <a:t>mom.gov.sg</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Singapore MOM: Tripartite Advisory on Managing Workplace Harassment</a:t>
            </a:r>
          </a:p>
          <a:p>
            <a:pPr algn="l">
              <a:spcAft>
                <a:spcPts val="300"/>
              </a:spcAft>
            </a:pPr>
            <a:r>
              <a:rPr sz="1000" b="0">
                <a:solidFill>
                  <a:srgbClr val="5B6372"/>
                </a:solidFill>
                <a:latin typeface="Arial"/>
              </a:rPr>
              <a:t>mom.gov.sg</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Singapore MOM: Workplace Fairness Act implementation update</a:t>
            </a:r>
          </a:p>
          <a:p>
            <a:pPr algn="l">
              <a:spcAft>
                <a:spcPts val="300"/>
              </a:spcAft>
            </a:pPr>
            <a:r>
              <a:rPr sz="1000" b="0">
                <a:solidFill>
                  <a:srgbClr val="5B6372"/>
                </a:solidFill>
                <a:latin typeface="Arial"/>
              </a:rPr>
              <a:t>mom.gov.sg</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0" name="TextBox 29"/>
          <p:cNvSpPr txBox="1"/>
          <p:nvPr/>
        </p:nvSpPr>
        <p:spPr>
          <a:xfrm>
            <a:off x="1764792"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Singapore Ministry of Law: Protection from Harassment Act</a:t>
            </a:r>
          </a:p>
          <a:p>
            <a:pPr algn="l">
              <a:spcAft>
                <a:spcPts val="300"/>
              </a:spcAft>
            </a:pPr>
            <a:r>
              <a:rPr sz="1000" b="0">
                <a:solidFill>
                  <a:srgbClr val="5B6372"/>
                </a:solidFill>
                <a:latin typeface="Arial"/>
              </a:rPr>
              <a:t>mlaw.gov.sg</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5" name="TextBox 34"/>
          <p:cNvSpPr txBox="1"/>
          <p:nvPr/>
        </p:nvSpPr>
        <p:spPr>
          <a:xfrm>
            <a:off x="7219188"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Singapore PDPC: personal data protection obligations</a:t>
            </a:r>
          </a:p>
          <a:p>
            <a:pPr algn="l">
              <a:spcAft>
                <a:spcPts val="300"/>
              </a:spcAft>
            </a:pPr>
            <a:r>
              <a:rPr sz="1000" b="0">
                <a:solidFill>
                  <a:srgbClr val="5B6372"/>
                </a:solidFill>
                <a:latin typeface="Arial"/>
              </a:rPr>
              <a:t>pdpc.gov.sg</a:t>
            </a:r>
          </a:p>
        </p:txBody>
      </p:sp>
      <p:sp>
        <p:nvSpPr>
          <p:cNvPr id="36" name="TextBox 3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37" name="TextBox 3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38" name="TextBox 3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transition spd="fast" advClick="1">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WRAP-UP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The Resolve-and-Prevent Playbook</a:t>
            </a:r>
          </a:p>
        </p:txBody>
      </p:sp>
      <p:sp>
        <p:nvSpPr>
          <p:cNvPr id="6" name="TextBox 5"/>
          <p:cNvSpPr txBox="1"/>
          <p:nvPr/>
        </p:nvSpPr>
        <p:spPr>
          <a:xfrm>
            <a:off x="777240" y="1828800"/>
            <a:ext cx="2425446" cy="822960"/>
          </a:xfrm>
          <a:prstGeom prst="rect">
            <a:avLst/>
          </a:prstGeom>
          <a:noFill/>
        </p:spPr>
        <p:txBody>
          <a:bodyPr wrap="square" anchor="t">
            <a:spAutoFit/>
          </a:bodyPr>
          <a:lstStyle/>
          <a:p>
            <a:pPr algn="l">
              <a:spcAft>
                <a:spcPts val="400"/>
              </a:spcAft>
            </a:pPr>
            <a:r>
              <a:rPr sz="4400" b="1">
                <a:solidFill>
                  <a:srgbClr val="D7DFEA"/>
                </a:solidFill>
                <a:latin typeface="Arial"/>
              </a:rPr>
              <a:t>01</a:t>
            </a:r>
          </a:p>
        </p:txBody>
      </p:sp>
      <p:sp>
        <p:nvSpPr>
          <p:cNvPr id="7" name="TextBox 6"/>
          <p:cNvSpPr txBox="1"/>
          <p:nvPr/>
        </p:nvSpPr>
        <p:spPr>
          <a:xfrm>
            <a:off x="777240" y="2697480"/>
            <a:ext cx="2425446" cy="685800"/>
          </a:xfrm>
          <a:prstGeom prst="rect">
            <a:avLst/>
          </a:prstGeom>
          <a:noFill/>
        </p:spPr>
        <p:txBody>
          <a:bodyPr wrap="square" anchor="t">
            <a:spAutoFit/>
          </a:bodyPr>
          <a:lstStyle/>
          <a:p>
            <a:pPr algn="l">
              <a:spcAft>
                <a:spcPts val="400"/>
              </a:spcAft>
            </a:pPr>
            <a:r>
              <a:rPr sz="1600" b="1">
                <a:solidFill>
                  <a:srgbClr val="1F6FEB"/>
                </a:solidFill>
                <a:latin typeface="Arial"/>
              </a:rPr>
              <a:t>Recognise</a:t>
            </a:r>
          </a:p>
        </p:txBody>
      </p:sp>
      <p:sp>
        <p:nvSpPr>
          <p:cNvPr id="8" name="TextBox 7"/>
          <p:cNvSpPr txBox="1"/>
          <p:nvPr/>
        </p:nvSpPr>
        <p:spPr>
          <a:xfrm>
            <a:off x="777240" y="3401568"/>
            <a:ext cx="2425446" cy="1737360"/>
          </a:xfrm>
          <a:prstGeom prst="rect">
            <a:avLst/>
          </a:prstGeom>
          <a:noFill/>
        </p:spPr>
        <p:txBody>
          <a:bodyPr wrap="square" anchor="t">
            <a:spAutoFit/>
          </a:bodyPr>
          <a:lstStyle/>
          <a:p>
            <a:pPr algn="l">
              <a:spcAft>
                <a:spcPts val="400"/>
              </a:spcAft>
            </a:pPr>
            <a:r>
              <a:rPr sz="1200" b="0">
                <a:solidFill>
                  <a:srgbClr val="161B26"/>
                </a:solidFill>
                <a:latin typeface="Arial"/>
              </a:rPr>
              <a:t>Observe signals, assess impact and separate facts from assumptions before choosing a response.</a:t>
            </a:r>
          </a:p>
        </p:txBody>
      </p:sp>
      <p:sp>
        <p:nvSpPr>
          <p:cNvPr id="9" name="TextBox 8"/>
          <p:cNvSpPr txBox="1"/>
          <p:nvPr/>
        </p:nvSpPr>
        <p:spPr>
          <a:xfrm>
            <a:off x="3513582" y="1828800"/>
            <a:ext cx="2425446" cy="822960"/>
          </a:xfrm>
          <a:prstGeom prst="rect">
            <a:avLst/>
          </a:prstGeom>
          <a:noFill/>
        </p:spPr>
        <p:txBody>
          <a:bodyPr wrap="square" anchor="t">
            <a:spAutoFit/>
          </a:bodyPr>
          <a:lstStyle/>
          <a:p>
            <a:pPr algn="l">
              <a:spcAft>
                <a:spcPts val="400"/>
              </a:spcAft>
            </a:pPr>
            <a:r>
              <a:rPr sz="4400" b="1">
                <a:solidFill>
                  <a:srgbClr val="D7DFEA"/>
                </a:solidFill>
                <a:latin typeface="Arial"/>
              </a:rPr>
              <a:t>02</a:t>
            </a:r>
          </a:p>
        </p:txBody>
      </p:sp>
      <p:sp>
        <p:nvSpPr>
          <p:cNvPr id="10" name="TextBox 9"/>
          <p:cNvSpPr txBox="1"/>
          <p:nvPr/>
        </p:nvSpPr>
        <p:spPr>
          <a:xfrm>
            <a:off x="3513582" y="2697480"/>
            <a:ext cx="2425446" cy="685800"/>
          </a:xfrm>
          <a:prstGeom prst="rect">
            <a:avLst/>
          </a:prstGeom>
          <a:noFill/>
        </p:spPr>
        <p:txBody>
          <a:bodyPr wrap="square" anchor="t">
            <a:spAutoFit/>
          </a:bodyPr>
          <a:lstStyle/>
          <a:p>
            <a:pPr algn="l">
              <a:spcAft>
                <a:spcPts val="400"/>
              </a:spcAft>
            </a:pPr>
            <a:r>
              <a:rPr sz="1600" b="1">
                <a:solidFill>
                  <a:srgbClr val="10B981"/>
                </a:solidFill>
                <a:latin typeface="Arial"/>
              </a:rPr>
              <a:t>Regulate</a:t>
            </a:r>
          </a:p>
        </p:txBody>
      </p:sp>
      <p:sp>
        <p:nvSpPr>
          <p:cNvPr id="11" name="TextBox 10"/>
          <p:cNvSpPr txBox="1"/>
          <p:nvPr/>
        </p:nvSpPr>
        <p:spPr>
          <a:xfrm>
            <a:off x="3513582" y="3401568"/>
            <a:ext cx="2425446" cy="1737360"/>
          </a:xfrm>
          <a:prstGeom prst="rect">
            <a:avLst/>
          </a:prstGeom>
          <a:noFill/>
        </p:spPr>
        <p:txBody>
          <a:bodyPr wrap="square" anchor="t">
            <a:spAutoFit/>
          </a:bodyPr>
          <a:lstStyle/>
          <a:p>
            <a:pPr algn="l">
              <a:spcAft>
                <a:spcPts val="400"/>
              </a:spcAft>
            </a:pPr>
            <a:r>
              <a:rPr sz="1200" b="0">
                <a:solidFill>
                  <a:srgbClr val="161B26"/>
                </a:solidFill>
                <a:latin typeface="Arial"/>
              </a:rPr>
              <a:t>Check safety, manage triggers, select the right time and agree respectful ground rules.</a:t>
            </a:r>
          </a:p>
        </p:txBody>
      </p:sp>
      <p:sp>
        <p:nvSpPr>
          <p:cNvPr id="12" name="TextBox 11"/>
          <p:cNvSpPr txBox="1"/>
          <p:nvPr/>
        </p:nvSpPr>
        <p:spPr>
          <a:xfrm>
            <a:off x="6249924" y="1828800"/>
            <a:ext cx="2425446" cy="822960"/>
          </a:xfrm>
          <a:prstGeom prst="rect">
            <a:avLst/>
          </a:prstGeom>
          <a:noFill/>
        </p:spPr>
        <p:txBody>
          <a:bodyPr wrap="square" anchor="t">
            <a:spAutoFit/>
          </a:bodyPr>
          <a:lstStyle/>
          <a:p>
            <a:pPr algn="l">
              <a:spcAft>
                <a:spcPts val="400"/>
              </a:spcAft>
            </a:pPr>
            <a:r>
              <a:rPr sz="4400" b="1">
                <a:solidFill>
                  <a:srgbClr val="D7DFEA"/>
                </a:solidFill>
                <a:latin typeface="Arial"/>
              </a:rPr>
              <a:t>03</a:t>
            </a:r>
          </a:p>
        </p:txBody>
      </p:sp>
      <p:sp>
        <p:nvSpPr>
          <p:cNvPr id="13" name="TextBox 12"/>
          <p:cNvSpPr txBox="1"/>
          <p:nvPr/>
        </p:nvSpPr>
        <p:spPr>
          <a:xfrm>
            <a:off x="6249924" y="2697480"/>
            <a:ext cx="2425446" cy="685800"/>
          </a:xfrm>
          <a:prstGeom prst="rect">
            <a:avLst/>
          </a:prstGeom>
          <a:noFill/>
        </p:spPr>
        <p:txBody>
          <a:bodyPr wrap="square" anchor="t">
            <a:spAutoFit/>
          </a:bodyPr>
          <a:lstStyle/>
          <a:p>
            <a:pPr algn="l">
              <a:spcAft>
                <a:spcPts val="400"/>
              </a:spcAft>
            </a:pPr>
            <a:r>
              <a:rPr sz="1600" b="1">
                <a:solidFill>
                  <a:srgbClr val="7C3AED"/>
                </a:solidFill>
                <a:latin typeface="Arial"/>
              </a:rPr>
              <a:t>Resolve</a:t>
            </a:r>
          </a:p>
        </p:txBody>
      </p:sp>
      <p:sp>
        <p:nvSpPr>
          <p:cNvPr id="14" name="TextBox 13"/>
          <p:cNvSpPr txBox="1"/>
          <p:nvPr/>
        </p:nvSpPr>
        <p:spPr>
          <a:xfrm>
            <a:off x="6249924" y="3401568"/>
            <a:ext cx="2425446" cy="1737360"/>
          </a:xfrm>
          <a:prstGeom prst="rect">
            <a:avLst/>
          </a:prstGeom>
          <a:noFill/>
        </p:spPr>
        <p:txBody>
          <a:bodyPr wrap="square" anchor="t">
            <a:spAutoFit/>
          </a:bodyPr>
          <a:lstStyle/>
          <a:p>
            <a:pPr algn="l">
              <a:spcAft>
                <a:spcPts val="400"/>
              </a:spcAft>
            </a:pPr>
            <a:r>
              <a:rPr sz="1200" b="0">
                <a:solidFill>
                  <a:srgbClr val="161B26"/>
                </a:solidFill>
                <a:latin typeface="Arial"/>
              </a:rPr>
              <a:t>Listen for interests, choose a fit-for-purpose strategy, agree actions and document ownership.</a:t>
            </a:r>
          </a:p>
        </p:txBody>
      </p:sp>
      <p:sp>
        <p:nvSpPr>
          <p:cNvPr id="15" name="TextBox 14"/>
          <p:cNvSpPr txBox="1"/>
          <p:nvPr/>
        </p:nvSpPr>
        <p:spPr>
          <a:xfrm>
            <a:off x="8986266" y="1828800"/>
            <a:ext cx="2425446" cy="822960"/>
          </a:xfrm>
          <a:prstGeom prst="rect">
            <a:avLst/>
          </a:prstGeom>
          <a:noFill/>
        </p:spPr>
        <p:txBody>
          <a:bodyPr wrap="square" anchor="t">
            <a:spAutoFit/>
          </a:bodyPr>
          <a:lstStyle/>
          <a:p>
            <a:pPr algn="l">
              <a:spcAft>
                <a:spcPts val="400"/>
              </a:spcAft>
            </a:pPr>
            <a:r>
              <a:rPr sz="4400" b="1">
                <a:solidFill>
                  <a:srgbClr val="D7DFEA"/>
                </a:solidFill>
                <a:latin typeface="Arial"/>
              </a:rPr>
              <a:t>04</a:t>
            </a:r>
          </a:p>
        </p:txBody>
      </p:sp>
      <p:sp>
        <p:nvSpPr>
          <p:cNvPr id="16" name="TextBox 15"/>
          <p:cNvSpPr txBox="1"/>
          <p:nvPr/>
        </p:nvSpPr>
        <p:spPr>
          <a:xfrm>
            <a:off x="8986266" y="2697480"/>
            <a:ext cx="2425446" cy="685800"/>
          </a:xfrm>
          <a:prstGeom prst="rect">
            <a:avLst/>
          </a:prstGeom>
          <a:noFill/>
        </p:spPr>
        <p:txBody>
          <a:bodyPr wrap="square" anchor="t">
            <a:spAutoFit/>
          </a:bodyPr>
          <a:lstStyle/>
          <a:p>
            <a:pPr algn="l">
              <a:spcAft>
                <a:spcPts val="400"/>
              </a:spcAft>
            </a:pPr>
            <a:r>
              <a:rPr sz="1600" b="1">
                <a:solidFill>
                  <a:srgbClr val="F59E0B"/>
                </a:solidFill>
                <a:latin typeface="Arial"/>
              </a:rPr>
              <a:t>Review</a:t>
            </a:r>
          </a:p>
        </p:txBody>
      </p:sp>
      <p:sp>
        <p:nvSpPr>
          <p:cNvPr id="17" name="TextBox 16"/>
          <p:cNvSpPr txBox="1"/>
          <p:nvPr/>
        </p:nvSpPr>
        <p:spPr>
          <a:xfrm>
            <a:off x="8986266" y="3401568"/>
            <a:ext cx="2425446" cy="1737360"/>
          </a:xfrm>
          <a:prstGeom prst="rect">
            <a:avLst/>
          </a:prstGeom>
          <a:noFill/>
        </p:spPr>
        <p:txBody>
          <a:bodyPr wrap="square" anchor="t">
            <a:spAutoFit/>
          </a:bodyPr>
          <a:lstStyle/>
          <a:p>
            <a:pPr algn="l">
              <a:spcAft>
                <a:spcPts val="400"/>
              </a:spcAft>
            </a:pPr>
            <a:r>
              <a:rPr sz="1200" b="0">
                <a:solidFill>
                  <a:srgbClr val="161B26"/>
                </a:solidFill>
                <a:latin typeface="Arial"/>
              </a:rPr>
              <a:t>Measure the outcome, follow up, learn from recurrence indicators and improve the work system.</a:t>
            </a:r>
          </a:p>
        </p:txBody>
      </p:sp>
      <p:sp>
        <p:nvSpPr>
          <p:cNvPr id="18" name="Rectangle 17"/>
          <p:cNvSpPr/>
          <p:nvPr/>
        </p:nvSpPr>
        <p:spPr>
          <a:xfrm>
            <a:off x="777240" y="5440680"/>
            <a:ext cx="10634472" cy="7315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440680"/>
            <a:ext cx="91440" cy="7315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440680"/>
            <a:ext cx="10058400" cy="731520"/>
          </a:xfrm>
          <a:prstGeom prst="rect">
            <a:avLst/>
          </a:prstGeom>
          <a:noFill/>
        </p:spPr>
        <p:txBody>
          <a:bodyPr wrap="square" anchor="ctr">
            <a:spAutoFit/>
          </a:bodyPr>
          <a:lstStyle/>
          <a:p>
            <a:pPr algn="l">
              <a:spcAft>
                <a:spcPts val="400"/>
              </a:spcAft>
            </a:pPr>
            <a:r>
              <a:rPr sz="1600" b="1">
                <a:solidFill>
                  <a:srgbClr val="161B26"/>
                </a:solidFill>
                <a:latin typeface="Arial"/>
              </a:rPr>
              <a:t>Recognise early, regulate emotion, resolve fairly, then review the system that allowed the conflict to grow.</a:t>
            </a:r>
          </a:p>
        </p:txBody>
      </p:sp>
      <p:sp>
        <p:nvSpPr>
          <p:cNvPr id="21" name="TextBox 20"/>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2" name="TextBox 21"/>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3" name="TextBox 22"/>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transition spd="fast" advClick="1">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9" name="TextBox 8"/>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10" name="TextBox 9"/>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transition spd="fast" advClick="1">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350"/>
                                        <p:tgtEl>
                                          <p:spTgt spid="4"/>
                                        </p:tgtEl>
                                      </p:cBhvr>
                                    </p:animEffect>
                                    <p:anim calcmode="lin" valueType="num">
                                      <p:cBhvr additive="base">
                                        <p:cTn id="15" dur="350" fill="hold"/>
                                        <p:tgtEl>
                                          <p:spTgt spid="4"/>
                                        </p:tgtEl>
                                        <p:attrNameLst>
                                          <p:attrName>ppt_y</p:attrName>
                                        </p:attrNameLst>
                                      </p:cBhvr>
                                      <p:tavLst>
                                        <p:tav tm="0">
                                          <p:val>
                                            <p:strVal val="#ppt_y+0.0350"/>
                                          </p:val>
                                        </p:tav>
                                        <p:tav tm="100000">
                                          <p:val>
                                            <p:strVal val="#ppt_y"/>
                                          </p:val>
                                        </p:tav>
                                      </p:tavLst>
                                    </p:anim>
                                  </p:childTnLst>
                                </p:cTn>
                              </p:par>
                            </p:childTnLst>
                          </p:cTn>
                        </p:par>
                      </p:childTnLst>
                    </p:cTn>
                  </p:par>
                  <p:par>
                    <p:cTn id="20" fill="hold">
                      <p:stCondLst>
                        <p:cond delay="0"/>
                      </p:stCondLst>
                      <p:childTnLst>
                        <p:par>
                          <p:cTn id="21" fill="hold">
                            <p:stCondLst>
                              <p:cond delay="0"/>
                            </p:stCondLst>
                            <p:childTnLst>
                              <p:par>
                                <p:cTn id="22" presetID="10" presetClass="entr" presetSubtype="0" fill="hold" grpId="0" nodeType="after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350"/>
                                        <p:tgtEl>
                                          <p:spTgt spid="5"/>
                                        </p:tgtEl>
                                      </p:cBhvr>
                                    </p:animEffect>
                                    <p:anim calcmode="lin" valueType="num">
                                      <p:cBhvr additive="base">
                                        <p:cTn id="25" dur="350" fill="hold"/>
                                        <p:tgtEl>
                                          <p:spTgt spid="5"/>
                                        </p:tgtEl>
                                        <p:attrNameLst>
                                          <p:attrName>ppt_y</p:attrName>
                                        </p:attrNameLst>
                                      </p:cBhvr>
                                      <p:tavLst>
                                        <p:tav tm="0">
                                          <p:val>
                                            <p:strVal val="#ppt_y+0.0350"/>
                                          </p:val>
                                        </p:tav>
                                        <p:tav tm="100000">
                                          <p:val>
                                            <p:strVal val="#ppt_y"/>
                                          </p:val>
                                        </p:tav>
                                      </p:tavLst>
                                    </p:anim>
                                  </p:childTnLst>
                                </p:cTn>
                              </p:par>
                            </p:childTnLst>
                          </p:cTn>
                        </p:par>
                      </p:childTnLst>
                    </p:cTn>
                  </p:par>
                  <p:par>
                    <p:cTn id="30" fill="hold">
                      <p:stCondLst>
                        <p:cond delay="0"/>
                      </p:stCondLst>
                      <p:childTnLst>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350"/>
                                        <p:tgtEl>
                                          <p:spTgt spid="6"/>
                                        </p:tgtEl>
                                      </p:cBhvr>
                                    </p:animEffect>
                                    <p:anim calcmode="lin" valueType="num">
                                      <p:cBhvr additive="base">
                                        <p:cTn id="35" dur="350" fill="hold"/>
                                        <p:tgtEl>
                                          <p:spTgt spid="6"/>
                                        </p:tgtEl>
                                        <p:attrNameLst>
                                          <p:attrName>ppt_y</p:attrName>
                                        </p:attrNameLst>
                                      </p:cBhvr>
                                      <p:tavLst>
                                        <p:tav tm="0">
                                          <p:val>
                                            <p:strVal val="#ppt_y+0.0350"/>
                                          </p:val>
                                        </p:tav>
                                        <p:tav tm="100000">
                                          <p:val>
                                            <p:strVal val="#ppt_y"/>
                                          </p:val>
                                        </p:tav>
                                      </p:tavLst>
                                    </p:anim>
                                  </p:childTnLst>
                                </p:cTn>
                              </p:par>
                            </p:childTnLst>
                          </p:cTn>
                        </p:par>
                      </p:childTnLst>
                    </p:cTn>
                  </p:par>
                </p:childTnLst>
                <p:prevCondLst>
                  <p:cond evt="onPrev" delay="0">
                    <p:tgtEl>
                      <p:sldTgt/>
                    </p:tgtEl>
                  </p:cond>
                </p:prevCondLst>
                <p:nextCondLst>
                  <p:cond evt="onNext" delay="0">
                    <p:tgtEl>
                      <p:sldTgt/>
                    </p:tgtEl>
                  </p:cond>
                </p:nextCondLst>
              </p:cTn>
            </p:seq>
          </p:childTnLst>
        </p:cTn>
      </p:par>
    </p:tnLst>
  </p:timing>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What You Achieved</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Identify Early</a:t>
            </a:r>
          </a:p>
          <a:p>
            <a:pPr algn="l">
              <a:spcAft>
                <a:spcPts val="300"/>
              </a:spcAft>
            </a:pPr>
            <a:r>
              <a:rPr sz="1300" b="0">
                <a:solidFill>
                  <a:srgbClr val="5B6372"/>
                </a:solidFill>
                <a:latin typeface="Arial"/>
              </a:rPr>
              <a:t>Recognised indicators and separated evidence from assumptions.</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Resolve Sensitively</a:t>
            </a:r>
          </a:p>
          <a:p>
            <a:pPr algn="l">
              <a:spcAft>
                <a:spcPts val="300"/>
              </a:spcAft>
            </a:pPr>
            <a:r>
              <a:rPr sz="1300" b="0">
                <a:solidFill>
                  <a:srgbClr val="5B6372"/>
                </a:solidFill>
                <a:latin typeface="Arial"/>
              </a:rPr>
              <a:t>Selected styles and practised listening, mediation and negotiation.</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Lead and Coach</a:t>
            </a:r>
          </a:p>
          <a:p>
            <a:pPr algn="l">
              <a:spcAft>
                <a:spcPts val="300"/>
              </a:spcAft>
            </a:pPr>
            <a:r>
              <a:rPr sz="1300" b="0">
                <a:solidFill>
                  <a:srgbClr val="5B6372"/>
                </a:solidFill>
                <a:latin typeface="Arial"/>
              </a:rPr>
              <a:t>Used fair leadership and coaching to repair team dynamics.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Review and Prevent</a:t>
            </a:r>
          </a:p>
          <a:p>
            <a:pPr algn="l">
              <a:spcAft>
                <a:spcPts val="300"/>
              </a:spcAft>
            </a:pPr>
            <a:r>
              <a:rPr sz="1300" b="0">
                <a:solidFill>
                  <a:srgbClr val="5B6372"/>
                </a:solidFill>
                <a:latin typeface="Arial"/>
              </a:rPr>
              <a:t>Measured outcomes and addressed recurrence in the work system.</a:t>
            </a:r>
          </a:p>
        </p:txBody>
      </p:sp>
      <p:sp>
        <p:nvSpPr>
          <p:cNvPr id="26" name="TextBox 2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7" name="TextBox 2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8" name="TextBox 2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transition spd="fast" advClick="1">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Assessment</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Written Assessment (WA-SAQ)</a:t>
            </a:r>
          </a:p>
          <a:p>
            <a:pPr algn="l">
              <a:spcAft>
                <a:spcPts val="300"/>
              </a:spcAft>
            </a:pPr>
            <a:r>
              <a:rPr sz="1200" b="0">
                <a:solidFill>
                  <a:srgbClr val="5B6372"/>
                </a:solidFill>
                <a:latin typeface="Arial"/>
              </a:rPr>
              <a:t>Six open-ended questions — 1 hour, open book.</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Case Study (CS)</a:t>
            </a:r>
          </a:p>
          <a:p>
            <a:pPr algn="l">
              <a:spcAft>
                <a:spcPts val="300"/>
              </a:spcAft>
            </a:pPr>
            <a:r>
              <a:rPr sz="1200" b="0">
                <a:solidFill>
                  <a:srgbClr val="5B6372"/>
                </a:solidFill>
                <a:latin typeface="Arial"/>
              </a:rPr>
              <a:t>One scenario, four questions — 1 hour, open book.</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Open Book</a:t>
            </a:r>
          </a:p>
          <a:p>
            <a:pPr algn="l">
              <a:spcAft>
                <a:spcPts val="300"/>
              </a:spcAft>
            </a:pPr>
            <a:r>
              <a:rPr sz="1200" b="0">
                <a:solidFill>
                  <a:srgbClr val="5B6372"/>
                </a:solidFill>
                <a:latin typeface="Arial"/>
              </a:rPr>
              <a:t>Slides, Learner Guide and approved materials only.</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Submit</a:t>
            </a:r>
          </a:p>
          <a:p>
            <a:pPr algn="l">
              <a:spcAft>
                <a:spcPts val="300"/>
              </a:spcAft>
            </a:pPr>
            <a:r>
              <a:rPr sz="1200" b="0">
                <a:solidFill>
                  <a:srgbClr val="5B6372"/>
                </a:solidFill>
                <a:latin typeface="Arial"/>
              </a:rPr>
              <a:t>On the LMS — lms-tms.tertiaryinfotech.com</a:t>
            </a:r>
          </a:p>
        </p:txBody>
      </p:sp>
      <p:sp>
        <p:nvSpPr>
          <p:cNvPr id="26" name="TextBox 2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7" name="TextBox 2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8" name="TextBox 2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transition spd="fast" advClick="1">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Assessment Flow</a:t>
            </a:r>
          </a:p>
        </p:txBody>
      </p:sp>
      <p:sp>
        <p:nvSpPr>
          <p:cNvPr id="6" name="Rectangle 5"/>
          <p:cNvSpPr/>
          <p:nvPr/>
        </p:nvSpPr>
        <p:spPr>
          <a:xfrm>
            <a:off x="777240"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01775" y="264261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01775"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0" name="TextBox 9"/>
          <p:cNvSpPr txBox="1"/>
          <p:nvPr/>
        </p:nvSpPr>
        <p:spPr>
          <a:xfrm>
            <a:off x="923544" y="3657600"/>
            <a:ext cx="1614830" cy="1417320"/>
          </a:xfrm>
          <a:prstGeom prst="rect">
            <a:avLst/>
          </a:prstGeom>
          <a:noFill/>
        </p:spPr>
        <p:txBody>
          <a:bodyPr wrap="square" anchor="t">
            <a:spAutoFit/>
          </a:bodyPr>
          <a:lstStyle/>
          <a:p>
            <a:pPr algn="ctr">
              <a:spcAft>
                <a:spcPts val="400"/>
              </a:spcAft>
            </a:pPr>
            <a:r>
              <a:rPr sz="1300" b="0">
                <a:solidFill>
                  <a:srgbClr val="161B26"/>
                </a:solidFill>
                <a:latin typeface="Arial"/>
              </a:rPr>
              <a:t>TRAQOM digital attendance — scan the QR code on the LMS</a:t>
            </a:r>
          </a:p>
        </p:txBody>
      </p:sp>
      <p:sp>
        <p:nvSpPr>
          <p:cNvPr id="11" name="Chevron 10"/>
          <p:cNvSpPr/>
          <p:nvPr/>
        </p:nvSpPr>
        <p:spPr>
          <a:xfrm>
            <a:off x="2702966" y="360730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958998"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58998" y="233172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83533" y="264261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83533"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6" name="TextBox 15"/>
          <p:cNvSpPr txBox="1"/>
          <p:nvPr/>
        </p:nvSpPr>
        <p:spPr>
          <a:xfrm>
            <a:off x="3105302" y="3657600"/>
            <a:ext cx="1614830" cy="1417320"/>
          </a:xfrm>
          <a:prstGeom prst="rect">
            <a:avLst/>
          </a:prstGeom>
          <a:noFill/>
        </p:spPr>
        <p:txBody>
          <a:bodyPr wrap="square" anchor="t">
            <a:spAutoFit/>
          </a:bodyPr>
          <a:lstStyle/>
          <a:p>
            <a:pPr algn="ctr">
              <a:spcAft>
                <a:spcPts val="400"/>
              </a:spcAft>
            </a:pPr>
            <a:r>
              <a:rPr sz="1300" b="0">
                <a:solidFill>
                  <a:srgbClr val="161B26"/>
                </a:solidFill>
                <a:latin typeface="Arial"/>
              </a:rPr>
              <a:t>Assessment digital attendance — scan the SSG QR</a:t>
            </a:r>
          </a:p>
        </p:txBody>
      </p:sp>
      <p:sp>
        <p:nvSpPr>
          <p:cNvPr id="17" name="Chevron 16"/>
          <p:cNvSpPr/>
          <p:nvPr/>
        </p:nvSpPr>
        <p:spPr>
          <a:xfrm>
            <a:off x="4884724" y="360730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40756"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40756" y="233172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765291" y="264261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5291"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2" name="TextBox 21"/>
          <p:cNvSpPr txBox="1"/>
          <p:nvPr/>
        </p:nvSpPr>
        <p:spPr>
          <a:xfrm>
            <a:off x="5287060" y="3657600"/>
            <a:ext cx="1614830" cy="1417320"/>
          </a:xfrm>
          <a:prstGeom prst="rect">
            <a:avLst/>
          </a:prstGeom>
          <a:noFill/>
        </p:spPr>
        <p:txBody>
          <a:bodyPr wrap="square" anchor="t">
            <a:spAutoFit/>
          </a:bodyPr>
          <a:lstStyle/>
          <a:p>
            <a:pPr algn="ctr">
              <a:spcAft>
                <a:spcPts val="400"/>
              </a:spcAft>
            </a:pPr>
            <a:r>
              <a:rPr sz="1300" b="0">
                <a:solidFill>
                  <a:srgbClr val="161B26"/>
                </a:solidFill>
                <a:latin typeface="Arial"/>
              </a:rPr>
              <a:t>Sit the WA-SAQ then the Case Study — open book</a:t>
            </a:r>
          </a:p>
        </p:txBody>
      </p:sp>
      <p:sp>
        <p:nvSpPr>
          <p:cNvPr id="23" name="Chevron 22"/>
          <p:cNvSpPr/>
          <p:nvPr/>
        </p:nvSpPr>
        <p:spPr>
          <a:xfrm>
            <a:off x="7066482" y="360730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22514"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2514" y="233172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947049" y="264261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47049"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28" name="TextBox 27"/>
          <p:cNvSpPr txBox="1"/>
          <p:nvPr/>
        </p:nvSpPr>
        <p:spPr>
          <a:xfrm>
            <a:off x="7468818" y="3657600"/>
            <a:ext cx="1614830" cy="1417320"/>
          </a:xfrm>
          <a:prstGeom prst="rect">
            <a:avLst/>
          </a:prstGeom>
          <a:noFill/>
        </p:spPr>
        <p:txBody>
          <a:bodyPr wrap="square" anchor="t">
            <a:spAutoFit/>
          </a:bodyPr>
          <a:lstStyle/>
          <a:p>
            <a:pPr algn="ctr">
              <a:spcAft>
                <a:spcPts val="400"/>
              </a:spcAft>
            </a:pPr>
            <a:r>
              <a:rPr sz="1300" b="0">
                <a:solidFill>
                  <a:srgbClr val="161B26"/>
                </a:solidFill>
                <a:latin typeface="Arial"/>
              </a:rPr>
              <a:t>Submit your answers on the LMS</a:t>
            </a:r>
          </a:p>
        </p:txBody>
      </p:sp>
      <p:sp>
        <p:nvSpPr>
          <p:cNvPr id="29" name="Chevron 28"/>
          <p:cNvSpPr/>
          <p:nvPr/>
        </p:nvSpPr>
        <p:spPr>
          <a:xfrm>
            <a:off x="9248240" y="3607308"/>
            <a:ext cx="237744" cy="329184"/>
          </a:xfrm>
          <a:prstGeom prst="chevron">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4272" y="2331720"/>
            <a:ext cx="1907438"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04272" y="2331720"/>
            <a:ext cx="1907438"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128807" y="2642616"/>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128807" y="2642616"/>
            <a:ext cx="658368" cy="65836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4" name="TextBox 33"/>
          <p:cNvSpPr txBox="1"/>
          <p:nvPr/>
        </p:nvSpPr>
        <p:spPr>
          <a:xfrm>
            <a:off x="9650576" y="3657600"/>
            <a:ext cx="1614830" cy="1417320"/>
          </a:xfrm>
          <a:prstGeom prst="rect">
            <a:avLst/>
          </a:prstGeom>
          <a:noFill/>
        </p:spPr>
        <p:txBody>
          <a:bodyPr wrap="square" anchor="t">
            <a:spAutoFit/>
          </a:bodyPr>
          <a:lstStyle/>
          <a:p>
            <a:pPr algn="ctr">
              <a:spcAft>
                <a:spcPts val="400"/>
              </a:spcAft>
            </a:pPr>
            <a:r>
              <a:rPr sz="1300" b="0">
                <a:solidFill>
                  <a:srgbClr val="161B26"/>
                </a:solidFill>
                <a:latin typeface="Arial"/>
              </a:rPr>
              <a:t>Sign the Assessment Summary Record</a:t>
            </a:r>
          </a:p>
        </p:txBody>
      </p:sp>
      <p:sp>
        <p:nvSpPr>
          <p:cNvPr id="35" name="TextBox 34"/>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36" name="TextBox 35"/>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37" name="TextBox 36"/>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transition spd="fast" advClick="1">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700" b="1">
                <a:solidFill>
                  <a:srgbClr val="161B26"/>
                </a:solidFill>
                <a:latin typeface="Arial"/>
              </a:rPr>
              <a:t>Digital Attendance (Mandatory)</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0" name="TextBox 9"/>
          <p:cNvSpPr txBox="1"/>
          <p:nvPr/>
        </p:nvSpPr>
        <p:spPr>
          <a:xfrm>
            <a:off x="1764792" y="1874520"/>
            <a:ext cx="9427464" cy="768096"/>
          </a:xfrm>
          <a:prstGeom prst="rect">
            <a:avLst/>
          </a:prstGeom>
          <a:noFill/>
        </p:spPr>
        <p:txBody>
          <a:bodyPr wrap="square" anchor="ctr">
            <a:spAutoFit/>
          </a:bodyPr>
          <a:lstStyle/>
          <a:p>
            <a:pPr algn="l">
              <a:spcAft>
                <a:spcPts val="400"/>
              </a:spcAft>
            </a:pPr>
            <a:r>
              <a:rPr sz="1500" b="0">
                <a:solidFill>
                  <a:srgbClr val="161B26"/>
                </a:solidFill>
                <a:latin typeface="Arial"/>
              </a:rPr>
              <a:t>It is mandatory to take the AM, PM and Assessment digital attendance for WSQ-funded courses.</a:t>
            </a:r>
          </a:p>
        </p:txBody>
      </p:sp>
      <p:sp>
        <p:nvSpPr>
          <p:cNvPr id="11" name="Rectangle 10"/>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5" name="TextBox 14"/>
          <p:cNvSpPr txBox="1"/>
          <p:nvPr/>
        </p:nvSpPr>
        <p:spPr>
          <a:xfrm>
            <a:off x="1764792" y="3026664"/>
            <a:ext cx="9427464" cy="768096"/>
          </a:xfrm>
          <a:prstGeom prst="rect">
            <a:avLst/>
          </a:prstGeom>
          <a:noFill/>
        </p:spPr>
        <p:txBody>
          <a:bodyPr wrap="square" anchor="ctr">
            <a:spAutoFit/>
          </a:bodyPr>
          <a:lstStyle/>
          <a:p>
            <a:pPr algn="l">
              <a:spcAft>
                <a:spcPts val="400"/>
              </a:spcAft>
            </a:pPr>
            <a:r>
              <a:rPr sz="1500" b="0">
                <a:solidFill>
                  <a:srgbClr val="161B26"/>
                </a:solidFill>
                <a:latin typeface="Arial"/>
              </a:rPr>
              <a:t>The trainer/administrator displays the digital attendance QR code from the SSG portal.</a:t>
            </a:r>
          </a:p>
        </p:txBody>
      </p:sp>
      <p:sp>
        <p:nvSpPr>
          <p:cNvPr id="16" name="Rectangle 15"/>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0" name="TextBox 19"/>
          <p:cNvSpPr txBox="1"/>
          <p:nvPr/>
        </p:nvSpPr>
        <p:spPr>
          <a:xfrm>
            <a:off x="1764792" y="4178808"/>
            <a:ext cx="9427464" cy="768096"/>
          </a:xfrm>
          <a:prstGeom prst="rect">
            <a:avLst/>
          </a:prstGeom>
          <a:noFill/>
        </p:spPr>
        <p:txBody>
          <a:bodyPr wrap="square" anchor="ctr">
            <a:spAutoFit/>
          </a:bodyPr>
          <a:lstStyle/>
          <a:p>
            <a:pPr algn="l">
              <a:spcAft>
                <a:spcPts val="400"/>
              </a:spcAft>
            </a:pPr>
            <a:r>
              <a:rPr sz="1500" b="0">
                <a:solidFill>
                  <a:srgbClr val="161B26"/>
                </a:solidFill>
                <a:latin typeface="Arial"/>
              </a:rPr>
              <a:t>Scan the QR code with your mobile phone camera and submit your attendance.</a:t>
            </a:r>
          </a:p>
        </p:txBody>
      </p:sp>
      <p:sp>
        <p:nvSpPr>
          <p:cNvPr id="21" name="Rectangle 20"/>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5" name="TextBox 24"/>
          <p:cNvSpPr txBox="1"/>
          <p:nvPr/>
        </p:nvSpPr>
        <p:spPr>
          <a:xfrm>
            <a:off x="1764792" y="5330952"/>
            <a:ext cx="9427464" cy="768096"/>
          </a:xfrm>
          <a:prstGeom prst="rect">
            <a:avLst/>
          </a:prstGeom>
          <a:noFill/>
        </p:spPr>
        <p:txBody>
          <a:bodyPr wrap="square" anchor="ctr">
            <a:spAutoFit/>
          </a:bodyPr>
          <a:lstStyle/>
          <a:p>
            <a:pPr algn="l">
              <a:spcAft>
                <a:spcPts val="400"/>
              </a:spcAft>
            </a:pPr>
            <a:r>
              <a:rPr sz="1500" b="0">
                <a:solidFill>
                  <a:srgbClr val="161B26"/>
                </a:solidFill>
                <a:latin typeface="Arial"/>
              </a:rPr>
              <a:t>A minimum of 75% attendance is required to be eligible for assessment and funding.</a:t>
            </a:r>
          </a:p>
        </p:txBody>
      </p:sp>
      <p:sp>
        <p:nvSpPr>
          <p:cNvPr id="26" name="TextBox 25"/>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27" name="TextBox 26"/>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28" name="TextBox 27"/>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transition spd="fast" advClick="1">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SEE YOU AT THE NEXT ONE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are now equipped to recognise conflict early, respond fairly and turn resolution into stronger team practice.</a:t>
            </a:r>
          </a:p>
        </p:txBody>
      </p:sp>
      <p:sp>
        <p:nvSpPr>
          <p:cNvPr id="7" name="TextBox 6"/>
          <p:cNvSpPr txBox="1"/>
          <p:nvPr/>
        </p:nvSpPr>
        <p:spPr>
          <a:xfrm>
            <a:off x="365760" y="6446520"/>
            <a:ext cx="3840480" cy="256032"/>
          </a:xfrm>
          <a:prstGeom prst="rect">
            <a:avLst/>
          </a:prstGeom>
          <a:noFill/>
        </p:spPr>
        <p:txBody>
          <a:bodyPr wrap="square" anchor="t">
            <a:spAutoFit/>
          </a:bodyPr>
          <a:lstStyle/>
          <a:p>
            <a:pPr algn="l">
              <a:spcAft>
                <a:spcPts val="400"/>
              </a:spcAft>
            </a:pPr>
            <a:r>
              <a:rPr sz="800" b="0">
                <a:solidFill>
                  <a:srgbClr val="5B6372"/>
                </a:solidFill>
                <a:latin typeface="Arial"/>
              </a:rPr>
              <a:t>Conflict Resolution  ·  TGS-2023021752</a:t>
            </a:r>
          </a:p>
        </p:txBody>
      </p:sp>
      <p:sp>
        <p:nvSpPr>
          <p:cNvPr id="8" name="TextBox 7"/>
          <p:cNvSpPr txBox="1"/>
          <p:nvPr/>
        </p:nvSpPr>
        <p:spPr>
          <a:xfrm>
            <a:off x="4069080" y="6446520"/>
            <a:ext cx="4069080" cy="256032"/>
          </a:xfrm>
          <a:prstGeom prst="rect">
            <a:avLst/>
          </a:prstGeom>
          <a:noFill/>
        </p:spPr>
        <p:txBody>
          <a:bodyPr wrap="square" anchor="t">
            <a:spAutoFit/>
          </a:bodyPr>
          <a:lstStyle/>
          <a:p>
            <a:pPr algn="ctr">
              <a:spcAft>
                <a:spcPts val="400"/>
              </a:spcAft>
            </a:pPr>
            <a:r>
              <a:rPr sz="800" b="0">
                <a:solidFill>
                  <a:srgbClr val="5B6372"/>
                </a:solidFill>
                <a:latin typeface="Arial"/>
              </a:rPr>
              <a:t>© 2026 Tertiary Infotech Academy Pte Ltd</a:t>
            </a:r>
          </a:p>
        </p:txBody>
      </p:sp>
      <p:sp>
        <p:nvSpPr>
          <p:cNvPr id="9" name="TextBox 8"/>
          <p:cNvSpPr txBox="1"/>
          <p:nvPr/>
        </p:nvSpPr>
        <p:spPr>
          <a:xfrm>
            <a:off x="11109960" y="6446520"/>
            <a:ext cx="502920" cy="256032"/>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transition spd="fast" advClick="1">
    <p:zoom/>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