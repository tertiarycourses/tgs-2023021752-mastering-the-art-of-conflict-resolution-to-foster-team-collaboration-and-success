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385" r:id="rId136"/>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3021752-Mastering-The-Art-of-Conflict-Resolution-to-Foster-Team-Collaboration-and-Success/tree/master/activitie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hero-v1.png"/>
          <p:cNvPicPr>
            <a:picLocks noChangeAspect="1"/>
          </p:cNvPicPr>
          <p:nvPr/>
        </p:nvPicPr>
        <p:blipFill>
          <a:blip r:embed="rId2"/>
          <a:stretch>
            <a:fillRect/>
          </a:stretch>
        </p:blipFill>
        <p:spPr>
          <a:xfrm>
            <a:off x="0" y="0"/>
            <a:ext cx="12191695" cy="6858000"/>
          </a:xfrm>
          <a:prstGeom prst="rect">
            <a:avLst/>
          </a:prstGeom>
        </p:spPr>
      </p:pic>
      <p:sp>
        <p:nvSpPr>
          <p:cNvPr id="4" name="Rectangle 3"/>
          <p:cNvSpPr/>
          <p:nvPr/>
        </p:nvSpPr>
        <p:spPr>
          <a:xfrm>
            <a:off x="0" y="0"/>
            <a:ext cx="66294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ertiary-infotech-logo.png"/>
          <p:cNvPicPr>
            <a:picLocks noChangeAspect="1"/>
          </p:cNvPicPr>
          <p:nvPr/>
        </p:nvPicPr>
        <p:blipFill>
          <a:blip r:embed="rId3"/>
          <a:stretch>
            <a:fillRect/>
          </a:stretch>
        </p:blipFill>
        <p:spPr>
          <a:xfrm>
            <a:off x="658368" y="512064"/>
            <a:ext cx="749808" cy="749808"/>
          </a:xfrm>
          <a:prstGeom prst="rect">
            <a:avLst/>
          </a:prstGeom>
        </p:spPr>
      </p:pic>
      <p:sp>
        <p:nvSpPr>
          <p:cNvPr id="8" name="TextBox 7"/>
          <p:cNvSpPr txBox="1"/>
          <p:nvPr/>
        </p:nvSpPr>
        <p:spPr>
          <a:xfrm>
            <a:off x="658368" y="1554480"/>
            <a:ext cx="5394960" cy="365760"/>
          </a:xfrm>
          <a:prstGeom prst="rect">
            <a:avLst/>
          </a:prstGeom>
          <a:noFill/>
        </p:spPr>
        <p:txBody>
          <a:bodyPr wrap="square" anchor="t">
            <a:spAutoFit/>
          </a:bodyPr>
          <a:lstStyle/>
          <a:p>
            <a:pPr algn="l">
              <a:spcAft>
                <a:spcPts val="400"/>
              </a:spcAft>
            </a:pPr>
            <a:r>
              <a:rPr sz="1400" b="1">
                <a:solidFill>
                  <a:srgbClr val="1F6FEB"/>
                </a:solidFill>
                <a:latin typeface="Arial"/>
              </a:rPr>
              <a:t>COURSE SLIDES  ·  WSQ</a:t>
            </a:r>
          </a:p>
        </p:txBody>
      </p:sp>
      <p:sp>
        <p:nvSpPr>
          <p:cNvPr id="9" name="TextBox 8"/>
          <p:cNvSpPr txBox="1"/>
          <p:nvPr/>
        </p:nvSpPr>
        <p:spPr>
          <a:xfrm>
            <a:off x="658368" y="2011680"/>
            <a:ext cx="5623560" cy="2057400"/>
          </a:xfrm>
          <a:prstGeom prst="rect">
            <a:avLst/>
          </a:prstGeom>
          <a:noFill/>
        </p:spPr>
        <p:txBody>
          <a:bodyPr wrap="square" anchor="t">
            <a:spAutoFit/>
          </a:bodyPr>
          <a:lstStyle/>
          <a:p>
            <a:pPr algn="l">
              <a:spcAft>
                <a:spcPts val="400"/>
              </a:spcAft>
            </a:pPr>
            <a:r>
              <a:rPr sz="2900" b="1">
                <a:solidFill>
                  <a:srgbClr val="161B26"/>
                </a:solidFill>
                <a:latin typeface="Arial"/>
              </a:rPr>
              <a:t>Mastering The Art of Conflict Resolution to Foster Team Collaboration and Success</a:t>
            </a:r>
          </a:p>
        </p:txBody>
      </p:sp>
      <p:sp>
        <p:nvSpPr>
          <p:cNvPr id="10" name="Rectangle 9"/>
          <p:cNvSpPr/>
          <p:nvPr/>
        </p:nvSpPr>
        <p:spPr>
          <a:xfrm>
            <a:off x="676656" y="4187952"/>
            <a:ext cx="201168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462272"/>
            <a:ext cx="5577840" cy="109728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TGS-2023021752</a:t>
            </a:r>
          </a:p>
          <a:p>
            <a:pPr algn="l">
              <a:spcAft>
                <a:spcPts val="600"/>
              </a:spcAft>
            </a:pPr>
            <a:r>
              <a:rPr sz="1400" b="0">
                <a:solidFill>
                  <a:srgbClr val="5B6372"/>
                </a:solidFill>
                <a:latin typeface="Arial"/>
              </a:rPr>
              <a:t>Conducted by Tertiary Infotech Academy Pte Ltd  ·  UEN 201200696W</a:t>
            </a:r>
          </a:p>
        </p:txBody>
      </p:sp>
      <p:sp>
        <p:nvSpPr>
          <p:cNvPr id="12" name="TextBox 11"/>
          <p:cNvSpPr txBox="1"/>
          <p:nvPr/>
        </p:nvSpPr>
        <p:spPr>
          <a:xfrm>
            <a:off x="658368" y="5715000"/>
            <a:ext cx="5577840" cy="365760"/>
          </a:xfrm>
          <a:prstGeom prst="rect">
            <a:avLst/>
          </a:prstGeom>
          <a:noFill/>
        </p:spPr>
        <p:txBody>
          <a:bodyPr wrap="square" anchor="t">
            <a:spAutoFit/>
          </a:bodyPr>
          <a:lstStyle/>
          <a:p>
            <a:pPr algn="l">
              <a:spcAft>
                <a:spcPts val="400"/>
              </a:spcAft>
            </a:pPr>
            <a:r>
              <a:rPr sz="1200" b="0">
                <a:solidFill>
                  <a:srgbClr val="5B6372"/>
                </a:solidFill>
                <a:latin typeface="Arial"/>
              </a:rPr>
              <a:t>Version v8.0  ·  20 August 2026</a:t>
            </a:r>
          </a:p>
        </p:txBody>
      </p:sp>
      <p:sp>
        <p:nvSpPr>
          <p:cNvPr id="13" name="TextBox 12"/>
          <p:cNvSpPr txBox="1"/>
          <p:nvPr/>
        </p:nvSpPr>
        <p:spPr>
          <a:xfrm>
            <a:off x="658368" y="6144768"/>
            <a:ext cx="5669280" cy="310896"/>
          </a:xfrm>
          <a:prstGeom prst="rect">
            <a:avLst/>
          </a:prstGeom>
          <a:noFill/>
        </p:spPr>
        <p:txBody>
          <a:bodyPr wrap="square" anchor="t">
            <a:spAutoFit/>
          </a:bodyPr>
          <a:lstStyle/>
          <a:p>
            <a:pPr algn="l">
              <a:spcAft>
                <a:spcPts val="400"/>
              </a:spcAft>
            </a:pPr>
            <a:r>
              <a:rPr sz="900" b="0">
                <a:solidFill>
                  <a:srgbClr val="5B6372"/>
                </a:solidFill>
                <a:latin typeface="Arial"/>
              </a:rPr>
              <a:t>© 2026 Tertiary Infotech Academy Pte Ltd. All rights reserved.</a:t>
            </a:r>
          </a:p>
        </p:txBody>
      </p:sp>
    </p:spTree>
  </p:cSld>
  <p:clrMapOvr>
    <a:masterClrMapping/>
  </p:clrMapOvr>
  <p:transition spd="fast" advClick="1">
    <p:zoom/>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GENERAL TRAINER PROFILE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WSQ Trainer</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Facilitator profile standards for this conflict-resolution programme.</a:t>
            </a:r>
          </a:p>
        </p:txBody>
      </p:sp>
      <p:sp>
        <p:nvSpPr>
          <p:cNvPr id="12" name="Rectangle 11"/>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Approved adult educator and workplace-learning facilitator.</a:t>
            </a:r>
          </a:p>
        </p:txBody>
      </p:sp>
      <p:sp>
        <p:nvSpPr>
          <p:cNvPr id="15" name="Rectangle 14"/>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CREDENTIALS</a:t>
            </a:r>
          </a:p>
          <a:p>
            <a:pPr algn="l">
              <a:spcAft>
                <a:spcPts val="300"/>
              </a:spcAft>
            </a:pPr>
            <a:r>
              <a:rPr sz="1400" b="0">
                <a:solidFill>
                  <a:srgbClr val="161B26"/>
                </a:solidFill>
                <a:latin typeface="Arial"/>
              </a:rPr>
              <a:t>Relevant ACTA/ACLP or equivalent adult-education credentials and domain experience.</a:t>
            </a:r>
          </a:p>
        </p:txBody>
      </p:sp>
      <p:sp>
        <p:nvSpPr>
          <p:cNvPr id="18" name="Rectangle 17"/>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FACILITATION</a:t>
            </a:r>
          </a:p>
          <a:p>
            <a:pPr algn="l">
              <a:spcAft>
                <a:spcPts val="300"/>
              </a:spcAft>
            </a:pPr>
            <a:r>
              <a:rPr sz="1400" b="0">
                <a:solidFill>
                  <a:srgbClr val="161B26"/>
                </a:solidFill>
                <a:latin typeface="Arial"/>
              </a:rPr>
              <a:t>Able to manage sensitive dialogue, role-play safety, debriefing and policy boundaries.</a:t>
            </a:r>
          </a:p>
        </p:txBody>
      </p:sp>
      <p:sp>
        <p:nvSpPr>
          <p:cNvPr id="21" name="Rectangle 20"/>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LEARNER SUPPORT</a:t>
            </a:r>
          </a:p>
          <a:p>
            <a:pPr algn="l">
              <a:spcAft>
                <a:spcPts val="300"/>
              </a:spcAft>
            </a:pPr>
            <a:r>
              <a:rPr sz="1400" b="0">
                <a:solidFill>
                  <a:srgbClr val="161B26"/>
                </a:solidFill>
                <a:latin typeface="Arial"/>
              </a:rPr>
              <a:t>Uses the approved academy support channel and protects participant confidentiality.</a:t>
            </a:r>
          </a:p>
        </p:txBody>
      </p:sp>
      <p:sp>
        <p:nvSpPr>
          <p:cNvPr id="24" name="TextBox 23"/>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5" name="TextBox 24"/>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6" name="TextBox 25"/>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wipe dir="l"/>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0" name="TextBox 9"/>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2" name="Rectangle 11"/>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5" name="Rectangle 14"/>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 / CREDENTIALS</a:t>
            </a:r>
          </a:p>
          <a:p>
            <a:pPr algn="l">
              <a:spcAft>
                <a:spcPts val="300"/>
              </a:spcAft>
            </a:pPr>
            <a:r>
              <a:rPr sz="1400" b="0">
                <a:solidFill>
                  <a:srgbClr val="161B26"/>
                </a:solidFill>
                <a:latin typeface="Arial"/>
              </a:rPr>
              <a:t>20+ years of training and industry experience.</a:t>
            </a:r>
          </a:p>
        </p:txBody>
      </p:sp>
      <p:sp>
        <p:nvSpPr>
          <p:cNvPr id="18" name="Rectangle 17"/>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programmes in leadership, workplace communication, digital transformation and professional capability.</a:t>
            </a:r>
          </a:p>
        </p:txBody>
      </p:sp>
      <p:sp>
        <p:nvSpPr>
          <p:cNvPr id="21" name="Rectangle 20"/>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4" name="TextBox 23"/>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5" name="TextBox 24"/>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6" name="TextBox 25"/>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Let's Know Each Other</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Your name and organisation / role.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410712"/>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One kind of workplace disagreement you are comfortable discussing in general terms—without naming real people.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946904"/>
            <a:ext cx="9427464" cy="1152144"/>
          </a:xfrm>
          <a:prstGeom prst="rect">
            <a:avLst/>
          </a:prstGeom>
          <a:noFill/>
        </p:spPr>
        <p:txBody>
          <a:bodyPr wrap="square" anchor="ctr">
            <a:spAutoFit/>
          </a:bodyPr>
          <a:lstStyle/>
          <a:p>
            <a:pPr algn="l">
              <a:spcAft>
                <a:spcPts val="400"/>
              </a:spcAft>
            </a:pPr>
            <a:r>
              <a:rPr sz="1500" b="0">
                <a:solidFill>
                  <a:srgbClr val="161B26"/>
                </a:solidFill>
                <a:latin typeface="Arial"/>
              </a:rPr>
              <a:t>One conflict-handling skill you want to strengthen during this course.</a:t>
            </a:r>
          </a:p>
        </p:txBody>
      </p:sp>
      <p:sp>
        <p:nvSpPr>
          <p:cNvPr id="21" name="TextBox 20"/>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2" name="TextBox 21"/>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3" name="TextBox 22"/>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Actively participate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 eligibility.</a:t>
            </a:r>
          </a:p>
        </p:txBody>
      </p:sp>
      <p:sp>
        <p:nvSpPr>
          <p:cNvPr id="36" name="TextBox 3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7" name="TextBox 3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8" name="TextBox 3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ACCREDITATION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Skills Framework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Title</a:t>
            </a:r>
          </a:p>
          <a:p>
            <a:pPr algn="l">
              <a:spcAft>
                <a:spcPts val="300"/>
              </a:spcAft>
            </a:pPr>
            <a:r>
              <a:rPr sz="1300" b="0">
                <a:solidFill>
                  <a:srgbClr val="5B6372"/>
                </a:solidFill>
                <a:latin typeface="Arial"/>
              </a:rPr>
              <a:t>Conflict Management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TSC Code</a:t>
            </a:r>
          </a:p>
          <a:p>
            <a:pPr algn="l">
              <a:spcAft>
                <a:spcPts val="300"/>
              </a:spcAft>
            </a:pPr>
            <a:r>
              <a:rPr sz="1300" b="0">
                <a:solidFill>
                  <a:srgbClr val="5B6372"/>
                </a:solidFill>
                <a:latin typeface="Arial"/>
              </a:rPr>
              <a:t>RET-PMD-4001-1.1</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Proficiency Level</a:t>
            </a:r>
          </a:p>
          <a:p>
            <a:pPr algn="l">
              <a:spcAft>
                <a:spcPts val="300"/>
              </a:spcAft>
            </a:pPr>
            <a:r>
              <a:rPr sz="1300" b="0">
                <a:solidFill>
                  <a:srgbClr val="5B6372"/>
                </a:solidFill>
                <a:latin typeface="Arial"/>
              </a:rPr>
              <a:t>Skills Framework</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Structure</a:t>
            </a:r>
          </a:p>
          <a:p>
            <a:pPr algn="l">
              <a:spcAft>
                <a:spcPts val="300"/>
              </a:spcAft>
            </a:pPr>
            <a:r>
              <a:rPr sz="1300" b="0">
                <a:solidFill>
                  <a:srgbClr val="5B6372"/>
                </a:solidFill>
                <a:latin typeface="Arial"/>
              </a:rPr>
              <a:t>Four topics, eight workplace activities and two assessment instruments.</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4 TOPICS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 Outline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Topic 1 — Identifying Conflicts</a:t>
            </a:r>
          </a:p>
          <a:p>
            <a:pPr algn="l">
              <a:spcAft>
                <a:spcPts val="300"/>
              </a:spcAft>
            </a:pPr>
            <a:r>
              <a:rPr sz="1200" b="0">
                <a:solidFill>
                  <a:srgbClr val="5B6372"/>
                </a:solidFill>
                <a:latin typeface="Arial"/>
              </a:rPr>
              <a:t>Signals · Stages · Facts and perceptions · Conflict history · Root causes · Impact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Topic 2 — Conflict Resolution Strategies</a:t>
            </a:r>
          </a:p>
          <a:p>
            <a:pPr algn="l">
              <a:spcAft>
                <a:spcPts val="300"/>
              </a:spcAft>
            </a:pPr>
            <a:r>
              <a:rPr sz="1200" b="0">
                <a:solidFill>
                  <a:srgbClr val="5B6372"/>
                </a:solidFill>
                <a:latin typeface="Arial"/>
              </a:rPr>
              <a:t>Emotional regulation · Conflict styles · Active listening · Sensitive dialogue · Negotiation · Mediation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Topic 3 — Managing Team Conflicts in the Workplace</a:t>
            </a:r>
          </a:p>
          <a:p>
            <a:pPr algn="l">
              <a:spcAft>
                <a:spcPts val="300"/>
              </a:spcAft>
            </a:pPr>
            <a:r>
              <a:rPr sz="1200" b="0">
                <a:solidFill>
                  <a:srgbClr val="5B6372"/>
                </a:solidFill>
                <a:latin typeface="Arial"/>
              </a:rPr>
              <a:t>Leader accountability · Team norms · Policy · Fair process · Coaching · Productive disagreement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Topic 4 — Reviewing Effectiveness and Preventing Recurrence</a:t>
            </a:r>
          </a:p>
          <a:p>
            <a:pPr algn="l">
              <a:spcAft>
                <a:spcPts val="300"/>
              </a:spcAft>
            </a:pPr>
            <a:r>
              <a:rPr sz="1200" b="0">
                <a:solidFill>
                  <a:srgbClr val="5B6372"/>
                </a:solidFill>
                <a:latin typeface="Arial"/>
              </a:rPr>
              <a:t>Outcome measures · Follow-up · Recurrence controls · Learning reviews · Legal and ethical safeguards</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Lesson Plan — 2 Days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 &amp; Assessment</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Identify conflict and practise sensitive resolution, negotiation and mediation</a:t>
            </a:r>
          </a:p>
          <a:p>
            <a:pPr>
              <a:spcAft>
                <a:spcPts val="1000"/>
              </a:spcAft>
            </a:pPr>
            <a:r>
              <a:rPr sz="1400" b="0">
                <a:solidFill>
                  <a:srgbClr val="5B6372"/>
                </a:solidFill>
                <a:latin typeface="Arial"/>
              </a:rPr>
              <a:t>–  Topic 1: identify signals, impact and root causes (Activities 1–2)</a:t>
            </a:r>
          </a:p>
          <a:p>
            <a:pPr>
              <a:spcAft>
                <a:spcPts val="1000"/>
              </a:spcAft>
            </a:pPr>
            <a:r>
              <a:rPr sz="1400" b="0">
                <a:solidFill>
                  <a:srgbClr val="5B6372"/>
                </a:solidFill>
                <a:latin typeface="Arial"/>
              </a:rPr>
              <a:t>–  Topic 2: styles, dialogue, mediation and negotiation (Activities 3–5)</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Lead team conflict, apply policy safeguards, review outcomes and prevent recurrence</a:t>
            </a:r>
          </a:p>
          <a:p>
            <a:pPr>
              <a:spcAft>
                <a:spcPts val="1000"/>
              </a:spcAft>
            </a:pPr>
            <a:r>
              <a:rPr sz="1400" b="0">
                <a:solidFill>
                  <a:srgbClr val="5B6372"/>
                </a:solidFill>
                <a:latin typeface="Arial"/>
              </a:rPr>
              <a:t>–  Topic 3: leader responsibility and coaching (Activity 6)</a:t>
            </a:r>
          </a:p>
          <a:p>
            <a:pPr>
              <a:spcAft>
                <a:spcPts val="1000"/>
              </a:spcAft>
            </a:pPr>
            <a:r>
              <a:rPr sz="1400" b="0">
                <a:solidFill>
                  <a:srgbClr val="5B6372"/>
                </a:solidFill>
                <a:latin typeface="Arial"/>
              </a:rPr>
              <a:t>–  Topic 4: policy, review and prevention (Activities 7–8)</a:t>
            </a:r>
          </a:p>
          <a:p>
            <a:pPr>
              <a:spcAft>
                <a:spcPts val="1000"/>
              </a:spcAft>
            </a:pPr>
            <a:r>
              <a:rPr sz="1400" b="0">
                <a:solidFill>
                  <a:srgbClr val="5B6372"/>
                </a:solidFill>
                <a:latin typeface="Arial"/>
              </a:rPr>
              <a:t>–  Assessment: WA-SAQ (1h) + Case Study (1h), 4:00–6:00pm</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Day 1 and Day 2: 9:00am–6:00pm, including scheduled breaks and lunch.</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Learning Outcomes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Identify Early</a:t>
            </a:r>
          </a:p>
          <a:p>
            <a:pPr algn="l">
              <a:spcAft>
                <a:spcPts val="300"/>
              </a:spcAft>
            </a:pPr>
            <a:r>
              <a:rPr sz="1300" b="0">
                <a:solidFill>
                  <a:srgbClr val="5B6372"/>
                </a:solidFill>
                <a:latin typeface="Arial"/>
              </a:rPr>
              <a:t>Recognise indicators, assess impact and minimise escalation.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Resolve Sensitively</a:t>
            </a:r>
          </a:p>
          <a:p>
            <a:pPr algn="l">
              <a:spcAft>
                <a:spcPts val="300"/>
              </a:spcAft>
            </a:pPr>
            <a:r>
              <a:rPr sz="1300" b="0">
                <a:solidFill>
                  <a:srgbClr val="5B6372"/>
                </a:solidFill>
                <a:latin typeface="Arial"/>
              </a:rPr>
              <a:t>Select and apply suitable strategies with fair communication.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Lead and Coach</a:t>
            </a:r>
          </a:p>
          <a:p>
            <a:pPr algn="l">
              <a:spcAft>
                <a:spcPts val="300"/>
              </a:spcAft>
            </a:pPr>
            <a:r>
              <a:rPr sz="1300" b="0">
                <a:solidFill>
                  <a:srgbClr val="5B6372"/>
                </a:solidFill>
                <a:latin typeface="Arial"/>
              </a:rPr>
              <a:t>Analyse team conflict and coach constructive disagreement.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Review and Prevent</a:t>
            </a:r>
          </a:p>
          <a:p>
            <a:pPr algn="l">
              <a:spcAft>
                <a:spcPts val="300"/>
              </a:spcAft>
            </a:pPr>
            <a:r>
              <a:rPr sz="1300" b="0">
                <a:solidFill>
                  <a:srgbClr val="5B6372"/>
                </a:solidFill>
                <a:latin typeface="Arial"/>
              </a:rPr>
              <a:t>Measure effectiveness and act on recurrence risks.</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Briefing for Assessment</a:t>
            </a:r>
          </a:p>
        </p:txBody>
      </p:sp>
      <p:sp>
        <p:nvSpPr>
          <p:cNvPr id="5" name="Rectangle 4"/>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9" name="TextBox 8"/>
          <p:cNvSpPr txBox="1"/>
          <p:nvPr/>
        </p:nvSpPr>
        <p:spPr>
          <a:xfrm>
            <a:off x="1764792" y="187452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0" name="Rectangle 9"/>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4" name="TextBox 13"/>
          <p:cNvSpPr txBox="1"/>
          <p:nvPr/>
        </p:nvSpPr>
        <p:spPr>
          <a:xfrm>
            <a:off x="1764792" y="2642616"/>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5" name="Rectangle 14"/>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19" name="TextBox 18"/>
          <p:cNvSpPr txBox="1"/>
          <p:nvPr/>
        </p:nvSpPr>
        <p:spPr>
          <a:xfrm>
            <a:off x="1764792" y="3410712"/>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0" name="Rectangle 19"/>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4" name="TextBox 23"/>
          <p:cNvSpPr txBox="1"/>
          <p:nvPr/>
        </p:nvSpPr>
        <p:spPr>
          <a:xfrm>
            <a:off x="1764792" y="4178808"/>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Use a black/blue pen for hard-copy assessments.</a:t>
            </a:r>
          </a:p>
        </p:txBody>
      </p:sp>
      <p:sp>
        <p:nvSpPr>
          <p:cNvPr id="25" name="Rectangle 24"/>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29" name="TextBox 28"/>
          <p:cNvSpPr txBox="1"/>
          <p:nvPr/>
        </p:nvSpPr>
        <p:spPr>
          <a:xfrm>
            <a:off x="1764792" y="4946904"/>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No liquid paper / correction tape.</a:t>
            </a:r>
          </a:p>
        </p:txBody>
      </p:sp>
      <p:sp>
        <p:nvSpPr>
          <p:cNvPr id="30" name="Rectangle 29"/>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4" name="TextBox 33"/>
          <p:cNvSpPr txBox="1"/>
          <p:nvPr/>
        </p:nvSpPr>
        <p:spPr>
          <a:xfrm>
            <a:off x="1764792" y="5715000"/>
            <a:ext cx="9427464" cy="384048"/>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time is up.</a:t>
            </a:r>
          </a:p>
        </p:txBody>
      </p:sp>
      <p:sp>
        <p:nvSpPr>
          <p:cNvPr id="35" name="TextBox 3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6" name="TextBox 3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7" name="TextBox 3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wipe dir="l"/>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Written Assessment (WA-SAQ) — six open-ended questions, 1 hour, open book.</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2796235"/>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Case Study (CS) — one workplace scenario with four mapped questions, 1 hour, open book.</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717950"/>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Format: Open Book — slides, Learner Guide and approved materials only.</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639665"/>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Learners must complete both instruments and be assessed as Competent.</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5561380"/>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An appeal process is available if required.</a:t>
            </a:r>
          </a:p>
        </p:txBody>
      </p:sp>
      <p:sp>
        <p:nvSpPr>
          <p:cNvPr id="31" name="TextBox 30"/>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2" name="TextBox 31"/>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3" name="TextBox 32"/>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digital attendance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the WA-SAQ then the Case Study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6" name="TextBox 3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7" name="TextBox 3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Courseware &amp; Assessment on the LMS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7" name="Rectangle 6"/>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ertiary-infotech-logo.png"/>
          <p:cNvPicPr>
            <a:picLocks noChangeAspect="1"/>
          </p:cNvPicPr>
          <p:nvPr/>
        </p:nvPicPr>
        <p:blipFill>
          <a:blip r:embed="rId2"/>
          <a:stretch>
            <a:fillRect/>
          </a:stretch>
        </p:blipFill>
        <p:spPr>
          <a:xfrm>
            <a:off x="1143000" y="2468880"/>
            <a:ext cx="502920" cy="502920"/>
          </a:xfrm>
          <a:prstGeom prst="rect">
            <a:avLst/>
          </a:prstGeom>
        </p:spPr>
      </p:pic>
      <p:sp>
        <p:nvSpPr>
          <p:cNvPr id="9" name="TextBox 8"/>
          <p:cNvSpPr txBox="1"/>
          <p:nvPr/>
        </p:nvSpPr>
        <p:spPr>
          <a:xfrm>
            <a:off x="777240" y="3200400"/>
            <a:ext cx="3749039" cy="457200"/>
          </a:xfrm>
          <a:prstGeom prst="rect">
            <a:avLst/>
          </a:prstGeom>
          <a:noFill/>
        </p:spPr>
        <p:txBody>
          <a:bodyPr wrap="square" anchor="t">
            <a:spAutoFit/>
          </a:bodyPr>
          <a:lstStyle/>
          <a:p>
            <a:pPr algn="ctr">
              <a:spcAft>
                <a:spcPts val="400"/>
              </a:spcAft>
            </a:pPr>
            <a:r>
              <a:rPr sz="1800" b="1">
                <a:solidFill>
                  <a:srgbClr val="FFFFFF"/>
                </a:solidFill>
                <a:latin typeface="Arial"/>
              </a:rPr>
              <a:t>Tertiary Infotech Academy</a:t>
            </a:r>
          </a:p>
        </p:txBody>
      </p:sp>
      <p:sp>
        <p:nvSpPr>
          <p:cNvPr id="10" name="TextBox 9"/>
          <p:cNvSpPr txBox="1"/>
          <p:nvPr/>
        </p:nvSpPr>
        <p:spPr>
          <a:xfrm>
            <a:off x="777240" y="370332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and TMS for SSG courses</a:t>
            </a:r>
          </a:p>
        </p:txBody>
      </p:sp>
      <p:sp>
        <p:nvSpPr>
          <p:cNvPr id="11" name="Rectangle 10"/>
          <p:cNvSpPr/>
          <p:nvPr/>
        </p:nvSpPr>
        <p:spPr>
          <a:xfrm>
            <a:off x="1737360" y="42976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37360" y="42976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3" name="TextBox 12"/>
          <p:cNvSpPr txBox="1"/>
          <p:nvPr/>
        </p:nvSpPr>
        <p:spPr>
          <a:xfrm>
            <a:off x="777240" y="502920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4" name="Rectangle 13"/>
          <p:cNvSpPr/>
          <p:nvPr/>
        </p:nvSpPr>
        <p:spPr>
          <a:xfrm>
            <a:off x="4800600" y="2148840"/>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800600" y="2148840"/>
            <a:ext cx="91440" cy="7406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029200" y="2290572"/>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290572"/>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8" name="TextBox 17"/>
          <p:cNvSpPr txBox="1"/>
          <p:nvPr/>
        </p:nvSpPr>
        <p:spPr>
          <a:xfrm>
            <a:off x="5669280" y="2148840"/>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00" b="0">
                <a:solidFill>
                  <a:srgbClr val="5B6372"/>
                </a:solidFill>
                <a:latin typeface="Arial"/>
              </a:rPr>
              <a:t>Log in with your registered email (OTP or password).</a:t>
            </a:r>
          </a:p>
        </p:txBody>
      </p:sp>
      <p:sp>
        <p:nvSpPr>
          <p:cNvPr id="19" name="Rectangle 18"/>
          <p:cNvSpPr/>
          <p:nvPr/>
        </p:nvSpPr>
        <p:spPr>
          <a:xfrm>
            <a:off x="4800600" y="3090672"/>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00600" y="3090672"/>
            <a:ext cx="91440" cy="7406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029200" y="3232404"/>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0" y="3232404"/>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3" name="TextBox 22"/>
          <p:cNvSpPr txBox="1"/>
          <p:nvPr/>
        </p:nvSpPr>
        <p:spPr>
          <a:xfrm>
            <a:off x="5669280" y="3090672"/>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Download materials</a:t>
            </a:r>
          </a:p>
          <a:p>
            <a:pPr algn="l">
              <a:spcAft>
                <a:spcPts val="200"/>
              </a:spcAft>
            </a:pPr>
            <a:r>
              <a:rPr sz="1100" b="0">
                <a:solidFill>
                  <a:srgbClr val="5B6372"/>
                </a:solidFill>
                <a:latin typeface="Arial"/>
              </a:rPr>
              <a:t>Slides and the Learner Guide from the course page — your open-book references.</a:t>
            </a:r>
          </a:p>
        </p:txBody>
      </p:sp>
      <p:sp>
        <p:nvSpPr>
          <p:cNvPr id="24" name="Rectangle 23"/>
          <p:cNvSpPr/>
          <p:nvPr/>
        </p:nvSpPr>
        <p:spPr>
          <a:xfrm>
            <a:off x="4800600" y="4032504"/>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00600" y="4032504"/>
            <a:ext cx="91440" cy="7406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29200" y="4174236"/>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4174236"/>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8" name="TextBox 27"/>
          <p:cNvSpPr txBox="1"/>
          <p:nvPr/>
        </p:nvSpPr>
        <p:spPr>
          <a:xfrm>
            <a:off x="5669280" y="4032504"/>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Submit answers</a:t>
            </a:r>
          </a:p>
          <a:p>
            <a:pPr algn="l">
              <a:spcAft>
                <a:spcPts val="200"/>
              </a:spcAft>
            </a:pPr>
            <a:r>
              <a:rPr sz="1100" b="0">
                <a:solidFill>
                  <a:srgbClr val="5B6372"/>
                </a:solidFill>
                <a:latin typeface="Arial"/>
              </a:rPr>
              <a:t>Upload your Written Assessment and Case Study answers on the LMS.</a:t>
            </a:r>
          </a:p>
        </p:txBody>
      </p:sp>
      <p:sp>
        <p:nvSpPr>
          <p:cNvPr id="29" name="Rectangle 28"/>
          <p:cNvSpPr/>
          <p:nvPr/>
        </p:nvSpPr>
        <p:spPr>
          <a:xfrm>
            <a:off x="4800600" y="4974336"/>
            <a:ext cx="6611112" cy="7406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00600" y="4974336"/>
            <a:ext cx="91440" cy="7406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029200" y="5116068"/>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5116068"/>
            <a:ext cx="457200" cy="45720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3" name="TextBox 32"/>
          <p:cNvSpPr txBox="1"/>
          <p:nvPr/>
        </p:nvSpPr>
        <p:spPr>
          <a:xfrm>
            <a:off x="5669280" y="4974336"/>
            <a:ext cx="5559552" cy="740664"/>
          </a:xfrm>
          <a:prstGeom prst="rect">
            <a:avLst/>
          </a:prstGeom>
          <a:noFill/>
        </p:spPr>
        <p:txBody>
          <a:bodyPr wrap="square" anchor="ctr">
            <a:spAutoFit/>
          </a:bodyPr>
          <a:lstStyle/>
          <a:p>
            <a:pPr algn="l">
              <a:spcAft>
                <a:spcPts val="200"/>
              </a:spcAft>
            </a:pPr>
            <a:r>
              <a:rPr sz="1400" b="1">
                <a:solidFill>
                  <a:srgbClr val="161B26"/>
                </a:solidFill>
                <a:latin typeface="Arial"/>
              </a:rPr>
              <a:t>TRAQOM attendance</a:t>
            </a:r>
          </a:p>
          <a:p>
            <a:pPr algn="l">
              <a:spcAft>
                <a:spcPts val="200"/>
              </a:spcAft>
            </a:pPr>
            <a:r>
              <a:rPr sz="1100" b="0">
                <a:solidFill>
                  <a:srgbClr val="5B6372"/>
                </a:solidFill>
                <a:latin typeface="Arial"/>
              </a:rPr>
              <a:t>Complete TRAQOM digital attendance via the QR code shown on the LMS.</a:t>
            </a:r>
          </a:p>
        </p:txBody>
      </p:sp>
      <p:sp>
        <p:nvSpPr>
          <p:cNvPr id="34" name="Rectangle 33"/>
          <p:cNvSpPr/>
          <p:nvPr/>
        </p:nvSpPr>
        <p:spPr>
          <a:xfrm>
            <a:off x="777240" y="5870448"/>
            <a:ext cx="1063447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77240" y="5870448"/>
            <a:ext cx="914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97280" y="5870448"/>
            <a:ext cx="10058400" cy="457200"/>
          </a:xfrm>
          <a:prstGeom prst="rect">
            <a:avLst/>
          </a:prstGeom>
          <a:noFill/>
        </p:spPr>
        <p:txBody>
          <a:bodyPr wrap="square" anchor="ctr">
            <a:spAutoFit/>
          </a:bodyPr>
          <a:lstStyle/>
          <a:p>
            <a:pPr algn="l">
              <a:spcAft>
                <a:spcPts val="400"/>
              </a:spcAft>
            </a:pPr>
            <a:r>
              <a:rPr sz="1300" b="1">
                <a:solidFill>
                  <a:srgbClr val="161B26"/>
                </a:solidFill>
                <a:latin typeface="Arial"/>
              </a:rPr>
              <a:t>https://lms-tms.tertiaryinfotech.com/</a:t>
            </a:r>
          </a:p>
        </p:txBody>
      </p:sp>
      <p:sp>
        <p:nvSpPr>
          <p:cNvPr id="37" name="TextBox 3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8" name="TextBox 3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9" name="TextBox 3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LEARNER RESOURCES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Activity Files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Each activity has its own scenario, role cards, detailed instructions, worksheet, checklist and printable PDF set.</a:t>
            </a:r>
          </a:p>
        </p:txBody>
      </p:sp>
      <p:sp>
        <p:nvSpPr>
          <p:cNvPr id="7" name="Rectangle 6"/>
          <p:cNvSpPr/>
          <p:nvPr/>
        </p:nvSpPr>
        <p:spPr>
          <a:xfrm>
            <a:off x="777240" y="2057400"/>
            <a:ext cx="51663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63440" cy="320040"/>
          </a:xfrm>
          <a:prstGeom prst="rect">
            <a:avLst/>
          </a:prstGeom>
          <a:noFill/>
        </p:spPr>
        <p:txBody>
          <a:bodyPr wrap="square" anchor="t">
            <a:spAutoFit/>
          </a:bodyPr>
          <a:lstStyle/>
          <a:p>
            <a:pPr algn="l">
              <a:spcAft>
                <a:spcPts val="400"/>
              </a:spcAft>
            </a:pPr>
            <a:r>
              <a:rPr sz="1500" b="1">
                <a:solidFill>
                  <a:srgbClr val="1F6FEB"/>
                </a:solidFill>
                <a:latin typeface="Arial"/>
              </a:rPr>
              <a:t>Open online</a:t>
            </a:r>
          </a:p>
        </p:txBody>
      </p:sp>
      <p:sp>
        <p:nvSpPr>
          <p:cNvPr id="10" name="TextBox 9"/>
          <p:cNvSpPr txBox="1"/>
          <p:nvPr/>
        </p:nvSpPr>
        <p:spPr>
          <a:xfrm>
            <a:off x="1051560" y="2587752"/>
            <a:ext cx="4663440" cy="566928"/>
          </a:xfrm>
          <a:prstGeom prst="rect">
            <a:avLst/>
          </a:prstGeom>
          <a:noFill/>
        </p:spPr>
        <p:txBody>
          <a:bodyPr wrap="square" anchor="t">
            <a:spAutoFit/>
          </a:bodyPr>
          <a:lstStyle/>
          <a:p>
            <a:pPr algn="l">
              <a:spcAft>
                <a:spcPts val="400"/>
              </a:spcAft>
            </a:pPr>
            <a:r>
              <a:rPr sz="1150" b="0">
                <a:solidFill>
                  <a:srgbClr val="161B26"/>
                </a:solidFill>
                <a:latin typeface="Arial"/>
              </a:rPr>
              <a:t>Use the GitHub course repository to browse or download the public activity folders.</a:t>
            </a:r>
          </a:p>
        </p:txBody>
      </p:sp>
      <p:sp>
        <p:nvSpPr>
          <p:cNvPr id="11" name="Rectangle 10"/>
          <p:cNvSpPr/>
          <p:nvPr/>
        </p:nvSpPr>
        <p:spPr>
          <a:xfrm>
            <a:off x="6245352" y="2057400"/>
            <a:ext cx="51663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5352" y="2057400"/>
            <a:ext cx="91440"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2221992"/>
            <a:ext cx="4663440" cy="320040"/>
          </a:xfrm>
          <a:prstGeom prst="rect">
            <a:avLst/>
          </a:prstGeom>
          <a:noFill/>
        </p:spPr>
        <p:txBody>
          <a:bodyPr wrap="square" anchor="t">
            <a:spAutoFit/>
          </a:bodyPr>
          <a:lstStyle/>
          <a:p>
            <a:pPr algn="l">
              <a:spcAft>
                <a:spcPts val="400"/>
              </a:spcAft>
            </a:pPr>
            <a:r>
              <a:rPr sz="1500" b="1">
                <a:solidFill>
                  <a:srgbClr val="10B981"/>
                </a:solidFill>
                <a:latin typeface="Arial"/>
              </a:rPr>
              <a:t>Choose your activity</a:t>
            </a:r>
          </a:p>
        </p:txBody>
      </p:sp>
      <p:sp>
        <p:nvSpPr>
          <p:cNvPr id="14" name="TextBox 13"/>
          <p:cNvSpPr txBox="1"/>
          <p:nvPr/>
        </p:nvSpPr>
        <p:spPr>
          <a:xfrm>
            <a:off x="6519672" y="2587752"/>
            <a:ext cx="4663440" cy="566928"/>
          </a:xfrm>
          <a:prstGeom prst="rect">
            <a:avLst/>
          </a:prstGeom>
          <a:noFill/>
        </p:spPr>
        <p:txBody>
          <a:bodyPr wrap="square" anchor="t">
            <a:spAutoFit/>
          </a:bodyPr>
          <a:lstStyle/>
          <a:p>
            <a:pPr algn="l">
              <a:spcAft>
                <a:spcPts val="400"/>
              </a:spcAft>
            </a:pPr>
            <a:r>
              <a:rPr sz="1150" b="0">
                <a:solidFill>
                  <a:srgbClr val="161B26"/>
                </a:solidFill>
                <a:latin typeface="Arial"/>
              </a:rPr>
              <a:t>Open Activity-01 to Activity-08; every folder is self-contained.</a:t>
            </a:r>
          </a:p>
        </p:txBody>
      </p:sp>
      <p:sp>
        <p:nvSpPr>
          <p:cNvPr id="15" name="Rectangle 14"/>
          <p:cNvSpPr/>
          <p:nvPr/>
        </p:nvSpPr>
        <p:spPr>
          <a:xfrm>
            <a:off x="777240" y="3538728"/>
            <a:ext cx="51663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538728"/>
            <a:ext cx="91440"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703320"/>
            <a:ext cx="4663440" cy="320040"/>
          </a:xfrm>
          <a:prstGeom prst="rect">
            <a:avLst/>
          </a:prstGeom>
          <a:noFill/>
        </p:spPr>
        <p:txBody>
          <a:bodyPr wrap="square" anchor="t">
            <a:spAutoFit/>
          </a:bodyPr>
          <a:lstStyle/>
          <a:p>
            <a:pPr algn="l">
              <a:spcAft>
                <a:spcPts val="400"/>
              </a:spcAft>
            </a:pPr>
            <a:r>
              <a:rPr sz="1500" b="1">
                <a:solidFill>
                  <a:srgbClr val="7C3AED"/>
                </a:solidFill>
                <a:latin typeface="Arial"/>
              </a:rPr>
              <a:t>Work from the guide</a:t>
            </a:r>
          </a:p>
        </p:txBody>
      </p:sp>
      <p:sp>
        <p:nvSpPr>
          <p:cNvPr id="18" name="TextBox 17"/>
          <p:cNvSpPr txBox="1"/>
          <p:nvPr/>
        </p:nvSpPr>
        <p:spPr>
          <a:xfrm>
            <a:off x="1051560" y="4069080"/>
            <a:ext cx="4663440" cy="566928"/>
          </a:xfrm>
          <a:prstGeom prst="rect">
            <a:avLst/>
          </a:prstGeom>
          <a:noFill/>
        </p:spPr>
        <p:txBody>
          <a:bodyPr wrap="square" anchor="t">
            <a:spAutoFit/>
          </a:bodyPr>
          <a:lstStyle/>
          <a:p>
            <a:pPr algn="l">
              <a:spcAft>
                <a:spcPts val="400"/>
              </a:spcAft>
            </a:pPr>
            <a:r>
              <a:rPr sz="1150" b="0">
                <a:solidFill>
                  <a:srgbClr val="161B26"/>
                </a:solidFill>
                <a:latin typeface="Arial"/>
              </a:rPr>
              <a:t>Detailed procedures stay in the Learner Guide and activity instructions—not in this deck.</a:t>
            </a:r>
          </a:p>
        </p:txBody>
      </p:sp>
      <p:sp>
        <p:nvSpPr>
          <p:cNvPr id="19" name="Rectangle 18"/>
          <p:cNvSpPr/>
          <p:nvPr/>
        </p:nvSpPr>
        <p:spPr>
          <a:xfrm>
            <a:off x="6245352" y="3538728"/>
            <a:ext cx="51663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5352" y="3538728"/>
            <a:ext cx="91440"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9672" y="3703320"/>
            <a:ext cx="4663440" cy="320040"/>
          </a:xfrm>
          <a:prstGeom prst="rect">
            <a:avLst/>
          </a:prstGeom>
          <a:noFill/>
        </p:spPr>
        <p:txBody>
          <a:bodyPr wrap="square" anchor="t">
            <a:spAutoFit/>
          </a:bodyPr>
          <a:lstStyle/>
          <a:p>
            <a:pPr algn="l">
              <a:spcAft>
                <a:spcPts val="400"/>
              </a:spcAft>
            </a:pPr>
            <a:r>
              <a:rPr sz="1500" b="1">
                <a:solidFill>
                  <a:srgbClr val="F59E0B"/>
                </a:solidFill>
                <a:latin typeface="Arial"/>
              </a:rPr>
              <a:t>Submit evidence</a:t>
            </a:r>
          </a:p>
        </p:txBody>
      </p:sp>
      <p:sp>
        <p:nvSpPr>
          <p:cNvPr id="22" name="TextBox 21"/>
          <p:cNvSpPr txBox="1"/>
          <p:nvPr/>
        </p:nvSpPr>
        <p:spPr>
          <a:xfrm>
            <a:off x="6519672" y="4069080"/>
            <a:ext cx="4663440" cy="566928"/>
          </a:xfrm>
          <a:prstGeom prst="rect">
            <a:avLst/>
          </a:prstGeom>
          <a:noFill/>
        </p:spPr>
        <p:txBody>
          <a:bodyPr wrap="square" anchor="t">
            <a:spAutoFit/>
          </a:bodyPr>
          <a:lstStyle/>
          <a:p>
            <a:pPr algn="l">
              <a:spcAft>
                <a:spcPts val="400"/>
              </a:spcAft>
            </a:pPr>
            <a:r>
              <a:rPr sz="1150" b="0">
                <a:solidFill>
                  <a:srgbClr val="161B26"/>
                </a:solidFill>
                <a:latin typeface="Arial"/>
              </a:rPr>
              <a:t>Use the approved LMS channel and avoid including real personal or confidential case data.</a:t>
            </a:r>
          </a:p>
        </p:txBody>
      </p:sp>
      <p:sp>
        <p:nvSpPr>
          <p:cNvPr id="23" name="TextBox 22"/>
          <p:cNvSpPr txBox="1"/>
          <p:nvPr/>
        </p:nvSpPr>
        <p:spPr>
          <a:xfrm>
            <a:off x="868680" y="5230368"/>
            <a:ext cx="10469880" cy="594360"/>
          </a:xfrm>
          <a:prstGeom prst="rect">
            <a:avLst/>
          </a:prstGeom>
          <a:solidFill>
            <a:srgbClr val="F5F8FC"/>
          </a:solidFill>
          <a:ln>
            <a:solidFill>
              <a:srgbClr val="10B981"/>
            </a:solidFill>
          </a:ln>
        </p:spPr>
        <p:txBody>
          <a:bodyPr wrap="square" anchor="ctr">
            <a:spAutoFit/>
          </a:bodyPr>
          <a:lstStyle/>
          <a:p>
            <a:pPr algn="ctr">
              <a:spcAft>
                <a:spcPts val="400"/>
              </a:spcAft>
            </a:pPr>
            <a:r>
              <a:rPr sz="1500" b="1">
                <a:solidFill>
                  <a:srgbClr val="1F6FEB"/>
                </a:solidFill>
                <a:latin typeface="Arial"/>
                <a:hlinkClick r:id="rId2"/>
              </a:rPr>
              <a:t>Open the Activities repository</a:t>
            </a:r>
          </a:p>
        </p:txBody>
      </p:sp>
      <p:sp>
        <p:nvSpPr>
          <p:cNvPr id="24" name="TextBox 23"/>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5" name="TextBox 24"/>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6" name="TextBox 25"/>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wipe dir="l"/>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Identifying Conflicts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Signals · Stages · Facts and perceptions · Conflict history · Root causes · Impact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Topic 1</a:t>
            </a:r>
          </a:p>
        </p:txBody>
      </p:sp>
      <p:sp>
        <p:nvSpPr>
          <p:cNvPr id="9" name="TextBox 8"/>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0" name="TextBox 9"/>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1" name="TextBox 10"/>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350"/>
                                        <p:tgtEl>
                                          <p:spTgt spid="7"/>
                                        </p:tgtEl>
                                      </p:cBhvr>
                                    </p:animEffect>
                                    <p:anim calcmode="lin" valueType="num">
                                      <p:cBhvr additive="base">
                                        <p:cTn id="4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Identifying Conflicts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Conflict is more than disagreement: it arises when one or more parties perceive that important needs, interests, values, roles or resources are threatened.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Early indicators include changed communication, avoidance, cliques, repeated rework, defensive behaviour, absenteeism, complaints and declining service or output.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escalation path moves from latent conditions to perceived tension, felt emotion, manifest behaviour and an aftermath that can repair or reinforce the pattern.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fair assessment triangulates accounts, records, observations and context; it distinguishes facts from interpretations and tests alternative explanations.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Root causes often combine task, process, relationship, status, identity, resource, value and structural factors rather than one difficult personality.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Immediate safety, harassment, discrimination, retaliation or serious misconduct concerns require policy-led escalation rather than informal facilitation alone.</a:t>
            </a:r>
          </a:p>
        </p:txBody>
      </p:sp>
      <p:sp>
        <p:nvSpPr>
          <p:cNvPr id="36" name="TextBox 3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7" name="TextBox 3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8" name="TextBox 3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EARLY INDICATORS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Conflict is data before it becomes damage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manager's first task is accurate recognition—not a fast verdict.</a:t>
            </a:r>
          </a:p>
        </p:txBody>
      </p:sp>
      <p:sp>
        <p:nvSpPr>
          <p:cNvPr id="7" name="Rectangle 6"/>
          <p:cNvSpPr/>
          <p:nvPr/>
        </p:nvSpPr>
        <p:spPr>
          <a:xfrm>
            <a:off x="777240"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9156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Communication</a:t>
            </a:r>
          </a:p>
        </p:txBody>
      </p:sp>
      <p:sp>
        <p:nvSpPr>
          <p:cNvPr id="10" name="TextBox 9"/>
          <p:cNvSpPr txBox="1"/>
          <p:nvPr/>
        </p:nvSpPr>
        <p:spPr>
          <a:xfrm>
            <a:off x="1051560"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Silence, repeated interruption, sarcasm, side conversations or messages that bypass normal channels.</a:t>
            </a:r>
          </a:p>
        </p:txBody>
      </p:sp>
      <p:sp>
        <p:nvSpPr>
          <p:cNvPr id="11" name="Rectangle 10"/>
          <p:cNvSpPr/>
          <p:nvPr/>
        </p:nvSpPr>
        <p:spPr>
          <a:xfrm>
            <a:off x="6231636"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9156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Coordination</a:t>
            </a:r>
          </a:p>
        </p:txBody>
      </p:sp>
      <p:sp>
        <p:nvSpPr>
          <p:cNvPr id="14" name="TextBox 13"/>
          <p:cNvSpPr txBox="1"/>
          <p:nvPr/>
        </p:nvSpPr>
        <p:spPr>
          <a:xfrm>
            <a:off x="6505956"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Missed handoffs, duplicated work, withheld information or unexplained decision reversals.</a:t>
            </a:r>
          </a:p>
        </p:txBody>
      </p:sp>
      <p:sp>
        <p:nvSpPr>
          <p:cNvPr id="15" name="Rectangle 14"/>
          <p:cNvSpPr/>
          <p:nvPr/>
        </p:nvSpPr>
        <p:spPr>
          <a:xfrm>
            <a:off x="777240"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10812"/>
            <a:ext cx="91440" cy="19156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375404"/>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People</a:t>
            </a:r>
          </a:p>
        </p:txBody>
      </p:sp>
      <p:sp>
        <p:nvSpPr>
          <p:cNvPr id="18" name="TextBox 17"/>
          <p:cNvSpPr txBox="1"/>
          <p:nvPr/>
        </p:nvSpPr>
        <p:spPr>
          <a:xfrm>
            <a:off x="1051560"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Withdrawal, visible tension, repeated absence, complaints or requests to move team.</a:t>
            </a:r>
          </a:p>
        </p:txBody>
      </p:sp>
      <p:sp>
        <p:nvSpPr>
          <p:cNvPr id="19" name="Rectangle 18"/>
          <p:cNvSpPr/>
          <p:nvPr/>
        </p:nvSpPr>
        <p:spPr>
          <a:xfrm>
            <a:off x="6231636"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4210812"/>
            <a:ext cx="91440" cy="19156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4375404"/>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Results</a:t>
            </a:r>
          </a:p>
        </p:txBody>
      </p:sp>
      <p:sp>
        <p:nvSpPr>
          <p:cNvPr id="22" name="TextBox 21"/>
          <p:cNvSpPr txBox="1"/>
          <p:nvPr/>
        </p:nvSpPr>
        <p:spPr>
          <a:xfrm>
            <a:off x="6505956"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Quality defects, delay, rework, customer complaints, safety exposure or lost opportunities.</a:t>
            </a:r>
          </a:p>
        </p:txBody>
      </p:sp>
      <p:sp>
        <p:nvSpPr>
          <p:cNvPr id="23" name="TextBox 2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4" name="TextBox 2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5" name="TextBox 2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CONFLICT STAGES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From latent tension to observable conflict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Intervene at the earliest stage that evidence and safety allow.</a:t>
            </a: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Latent</a:t>
            </a:r>
          </a:p>
        </p:txBody>
      </p:sp>
      <p:sp>
        <p:nvSpPr>
          <p:cNvPr id="12" name="TextBox 11"/>
          <p:cNvSpPr txBox="1"/>
          <p:nvPr/>
        </p:nvSpPr>
        <p:spPr>
          <a:xfrm>
            <a:off x="905256"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Conditions exist: scarce resources, unclear roles or incompatible goals.</a:t>
            </a:r>
          </a:p>
        </p:txBody>
      </p:sp>
      <p:sp>
        <p:nvSpPr>
          <p:cNvPr id="13" name="Chevron 12"/>
          <p:cNvSpPr/>
          <p:nvPr/>
        </p:nvSpPr>
        <p:spPr>
          <a:xfrm>
            <a:off x="2702966"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8353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87014"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Perceived</a:t>
            </a:r>
          </a:p>
        </p:txBody>
      </p:sp>
      <p:sp>
        <p:nvSpPr>
          <p:cNvPr id="19" name="TextBox 18"/>
          <p:cNvSpPr txBox="1"/>
          <p:nvPr/>
        </p:nvSpPr>
        <p:spPr>
          <a:xfrm>
            <a:off x="3087014"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A party recognises an incompatibility or threat.</a:t>
            </a:r>
          </a:p>
        </p:txBody>
      </p:sp>
      <p:sp>
        <p:nvSpPr>
          <p:cNvPr id="20" name="Chevron 19"/>
          <p:cNvSpPr/>
          <p:nvPr/>
        </p:nvSpPr>
        <p:spPr>
          <a:xfrm>
            <a:off x="4884724"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652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68772"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Felt</a:t>
            </a:r>
          </a:p>
        </p:txBody>
      </p:sp>
      <p:sp>
        <p:nvSpPr>
          <p:cNvPr id="26" name="TextBox 25"/>
          <p:cNvSpPr txBox="1"/>
          <p:nvPr/>
        </p:nvSpPr>
        <p:spPr>
          <a:xfrm>
            <a:off x="5268772"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Stress, anger, fear or frustration becomes personally experienced.</a:t>
            </a:r>
          </a:p>
        </p:txBody>
      </p:sp>
      <p:sp>
        <p:nvSpPr>
          <p:cNvPr id="27" name="Chevron 26"/>
          <p:cNvSpPr/>
          <p:nvPr/>
        </p:nvSpPr>
        <p:spPr>
          <a:xfrm>
            <a:off x="7066482"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704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50530"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Manifest</a:t>
            </a:r>
          </a:p>
        </p:txBody>
      </p:sp>
      <p:sp>
        <p:nvSpPr>
          <p:cNvPr id="33" name="TextBox 32"/>
          <p:cNvSpPr txBox="1"/>
          <p:nvPr/>
        </p:nvSpPr>
        <p:spPr>
          <a:xfrm>
            <a:off x="7450530"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Conflict appears in words, behaviour, decisions or work results.</a:t>
            </a:r>
          </a:p>
        </p:txBody>
      </p:sp>
      <p:sp>
        <p:nvSpPr>
          <p:cNvPr id="34" name="Chevron 33"/>
          <p:cNvSpPr/>
          <p:nvPr/>
        </p:nvSpPr>
        <p:spPr>
          <a:xfrm>
            <a:off x="9248240"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28807"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32288"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Aftermath</a:t>
            </a:r>
          </a:p>
        </p:txBody>
      </p:sp>
      <p:sp>
        <p:nvSpPr>
          <p:cNvPr id="40" name="TextBox 39"/>
          <p:cNvSpPr txBox="1"/>
          <p:nvPr/>
        </p:nvSpPr>
        <p:spPr>
          <a:xfrm>
            <a:off x="9632288"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Resolution, suppression or recurrence reshapes the next interaction.</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Stages are a diagnostic lens, not a rigid or universal sequence.</a:t>
            </a:r>
          </a:p>
        </p:txBody>
      </p:sp>
      <p:sp>
        <p:nvSpPr>
          <p:cNvPr id="44" name="TextBox 43"/>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5" name="TextBox 44"/>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6" name="TextBox 45"/>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EVIDENCE DISCIPLINE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Facts, claims, interpretations and unknowns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Neutral handling depends on preserving the status of information.</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Weak diagnostic language</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Evidence-ready language</a:t>
            </a:r>
          </a:p>
        </p:txBody>
      </p:sp>
      <p:sp>
        <p:nvSpPr>
          <p:cNvPr id="11" name="Rectangle 10"/>
          <p:cNvSpPr/>
          <p:nvPr/>
        </p:nvSpPr>
        <p:spPr>
          <a:xfrm>
            <a:off x="777240" y="256032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Label</a:t>
            </a:r>
          </a:p>
        </p:txBody>
      </p:sp>
      <p:sp>
        <p:nvSpPr>
          <p:cNvPr id="13" name="Rectangle 12"/>
          <p:cNvSpPr/>
          <p:nvPr/>
        </p:nvSpPr>
        <p:spPr>
          <a:xfrm>
            <a:off x="2926080"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‘She is hostile.’</a:t>
            </a:r>
          </a:p>
        </p:txBody>
      </p:sp>
      <p:sp>
        <p:nvSpPr>
          <p:cNvPr id="15" name="Rectangle 14"/>
          <p:cNvSpPr/>
          <p:nvPr/>
        </p:nvSpPr>
        <p:spPr>
          <a:xfrm>
            <a:off x="7168896"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‘She interrupted three times and raised her voice in Tuesday's meeting.’</a:t>
            </a:r>
          </a:p>
        </p:txBody>
      </p:sp>
      <p:sp>
        <p:nvSpPr>
          <p:cNvPr id="17" name="Rectangle 16"/>
          <p:cNvSpPr/>
          <p:nvPr/>
        </p:nvSpPr>
        <p:spPr>
          <a:xfrm>
            <a:off x="777240" y="345186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45186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Consensus</a:t>
            </a:r>
          </a:p>
        </p:txBody>
      </p:sp>
      <p:sp>
        <p:nvSpPr>
          <p:cNvPr id="19" name="Rectangle 18"/>
          <p:cNvSpPr/>
          <p:nvPr/>
        </p:nvSpPr>
        <p:spPr>
          <a:xfrm>
            <a:off x="2926080"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‘Everyone agrees.’</a:t>
            </a:r>
          </a:p>
        </p:txBody>
      </p:sp>
      <p:sp>
        <p:nvSpPr>
          <p:cNvPr id="21" name="Rectangle 20"/>
          <p:cNvSpPr/>
          <p:nvPr/>
        </p:nvSpPr>
        <p:spPr>
          <a:xfrm>
            <a:off x="7168896"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‘Two named colleagues reported similar concerns; five others were not interviewed.’</a:t>
            </a:r>
          </a:p>
        </p:txBody>
      </p:sp>
      <p:sp>
        <p:nvSpPr>
          <p:cNvPr id="23" name="Rectangle 22"/>
          <p:cNvSpPr/>
          <p:nvPr/>
        </p:nvSpPr>
        <p:spPr>
          <a:xfrm>
            <a:off x="777240" y="434340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34340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Cause</a:t>
            </a:r>
          </a:p>
        </p:txBody>
      </p:sp>
      <p:sp>
        <p:nvSpPr>
          <p:cNvPr id="25" name="Rectangle 24"/>
          <p:cNvSpPr/>
          <p:nvPr/>
        </p:nvSpPr>
        <p:spPr>
          <a:xfrm>
            <a:off x="2926080"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‘He caused the delay.’</a:t>
            </a:r>
          </a:p>
        </p:txBody>
      </p:sp>
      <p:sp>
        <p:nvSpPr>
          <p:cNvPr id="27" name="Rectangle 26"/>
          <p:cNvSpPr/>
          <p:nvPr/>
        </p:nvSpPr>
        <p:spPr>
          <a:xfrm>
            <a:off x="7168896"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‘The approval record is missing; two accounts disagree about the sequence.’</a:t>
            </a:r>
          </a:p>
        </p:txBody>
      </p:sp>
      <p:sp>
        <p:nvSpPr>
          <p:cNvPr id="29" name="Rectangle 28"/>
          <p:cNvSpPr/>
          <p:nvPr/>
        </p:nvSpPr>
        <p:spPr>
          <a:xfrm>
            <a:off x="777240" y="523494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23494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Root</a:t>
            </a:r>
          </a:p>
        </p:txBody>
      </p:sp>
      <p:sp>
        <p:nvSpPr>
          <p:cNvPr id="31" name="Rectangle 30"/>
          <p:cNvSpPr/>
          <p:nvPr/>
        </p:nvSpPr>
        <p:spPr>
          <a:xfrm>
            <a:off x="2926080"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‘It is only a personality clash.’</a:t>
            </a:r>
          </a:p>
        </p:txBody>
      </p:sp>
      <p:sp>
        <p:nvSpPr>
          <p:cNvPr id="33" name="Rectangle 32"/>
          <p:cNvSpPr/>
          <p:nvPr/>
        </p:nvSpPr>
        <p:spPr>
          <a:xfrm>
            <a:off x="7168896"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‘The handoff, incentive and decision-right conditions have not yet been tested.’</a:t>
            </a:r>
          </a:p>
        </p:txBody>
      </p:sp>
      <p:sp>
        <p:nvSpPr>
          <p:cNvPr id="35" name="TextBox 3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6" name="TextBox 3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7" name="TextBox 3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FROM SIGNAL TO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fair conflict-assessment workflow</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Protection and evidence move in parallel; neither waits for certainty.</a:t>
            </a:r>
          </a:p>
        </p:txBody>
      </p:sp>
      <p:sp>
        <p:nvSpPr>
          <p:cNvPr id="7" name="Rectangle 6"/>
          <p:cNvSpPr/>
          <p:nvPr/>
        </p:nvSpPr>
        <p:spPr>
          <a:xfrm>
            <a:off x="777240" y="2194560"/>
            <a:ext cx="1874519"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2194560"/>
            <a:ext cx="1618487" cy="981456"/>
          </a:xfrm>
          <a:prstGeom prst="rect">
            <a:avLst/>
          </a:prstGeom>
          <a:noFill/>
        </p:spPr>
        <p:txBody>
          <a:bodyPr wrap="square" anchor="ctr">
            <a:spAutoFit/>
          </a:bodyPr>
          <a:lstStyle/>
          <a:p>
            <a:pPr algn="l">
              <a:spcAft>
                <a:spcPts val="400"/>
              </a:spcAft>
            </a:pPr>
            <a:r>
              <a:rPr sz="1200" b="1">
                <a:solidFill>
                  <a:srgbClr val="FFFFFF"/>
                </a:solidFill>
                <a:latin typeface="Arial"/>
              </a:rPr>
              <a:t>Manager</a:t>
            </a:r>
          </a:p>
        </p:txBody>
      </p:sp>
      <p:sp>
        <p:nvSpPr>
          <p:cNvPr id="9" name="Rectangle 8"/>
          <p:cNvSpPr/>
          <p:nvPr/>
        </p:nvSpPr>
        <p:spPr>
          <a:xfrm>
            <a:off x="2834639" y="2194560"/>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34639" y="2194560"/>
            <a:ext cx="64008"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1" y="2194560"/>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Receive concern</a:t>
            </a:r>
          </a:p>
        </p:txBody>
      </p:sp>
      <p:sp>
        <p:nvSpPr>
          <p:cNvPr id="12" name="Rectangle 11"/>
          <p:cNvSpPr/>
          <p:nvPr/>
        </p:nvSpPr>
        <p:spPr>
          <a:xfrm>
            <a:off x="5070347" y="2194560"/>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70347" y="2194560"/>
            <a:ext cx="64008"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4939" y="2194560"/>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Screen immediate risk</a:t>
            </a:r>
          </a:p>
        </p:txBody>
      </p:sp>
      <p:sp>
        <p:nvSpPr>
          <p:cNvPr id="15" name="Rectangle 14"/>
          <p:cNvSpPr/>
          <p:nvPr/>
        </p:nvSpPr>
        <p:spPr>
          <a:xfrm>
            <a:off x="7306055" y="2194560"/>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06055" y="2194560"/>
            <a:ext cx="64008"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0647" y="2194560"/>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Choose safe interim step</a:t>
            </a:r>
          </a:p>
        </p:txBody>
      </p:sp>
      <p:sp>
        <p:nvSpPr>
          <p:cNvPr id="18" name="Rectangle 17"/>
          <p:cNvSpPr/>
          <p:nvPr/>
        </p:nvSpPr>
        <p:spPr>
          <a:xfrm>
            <a:off x="9541763" y="2194560"/>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41763" y="2194560"/>
            <a:ext cx="64008"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06355" y="2194560"/>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Review next action</a:t>
            </a:r>
          </a:p>
        </p:txBody>
      </p:sp>
      <p:sp>
        <p:nvSpPr>
          <p:cNvPr id="21" name="Rectangle 20"/>
          <p:cNvSpPr/>
          <p:nvPr/>
        </p:nvSpPr>
        <p:spPr>
          <a:xfrm>
            <a:off x="777240" y="3304032"/>
            <a:ext cx="1874519" cy="9814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 y="3304032"/>
            <a:ext cx="1618487" cy="981456"/>
          </a:xfrm>
          <a:prstGeom prst="rect">
            <a:avLst/>
          </a:prstGeom>
          <a:noFill/>
        </p:spPr>
        <p:txBody>
          <a:bodyPr wrap="square" anchor="ctr">
            <a:spAutoFit/>
          </a:bodyPr>
          <a:lstStyle/>
          <a:p>
            <a:pPr algn="l">
              <a:spcAft>
                <a:spcPts val="400"/>
              </a:spcAft>
            </a:pPr>
            <a:r>
              <a:rPr sz="1200" b="1">
                <a:solidFill>
                  <a:srgbClr val="FFFFFF"/>
                </a:solidFill>
                <a:latin typeface="Arial"/>
              </a:rPr>
              <a:t>People / HR</a:t>
            </a:r>
          </a:p>
        </p:txBody>
      </p:sp>
      <p:sp>
        <p:nvSpPr>
          <p:cNvPr id="23" name="Rectangle 22"/>
          <p:cNvSpPr/>
          <p:nvPr/>
        </p:nvSpPr>
        <p:spPr>
          <a:xfrm>
            <a:off x="5070347" y="3304032"/>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70347" y="3304032"/>
            <a:ext cx="64008" cy="9814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34939" y="3304032"/>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Advise on policy route</a:t>
            </a:r>
          </a:p>
        </p:txBody>
      </p:sp>
      <p:sp>
        <p:nvSpPr>
          <p:cNvPr id="26" name="Rectangle 25"/>
          <p:cNvSpPr/>
          <p:nvPr/>
        </p:nvSpPr>
        <p:spPr>
          <a:xfrm>
            <a:off x="7306055" y="3304032"/>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06055" y="3304032"/>
            <a:ext cx="64008" cy="9814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70647" y="3304032"/>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Support fair fact-finding</a:t>
            </a:r>
          </a:p>
        </p:txBody>
      </p:sp>
      <p:sp>
        <p:nvSpPr>
          <p:cNvPr id="29" name="Rectangle 28"/>
          <p:cNvSpPr/>
          <p:nvPr/>
        </p:nvSpPr>
        <p:spPr>
          <a:xfrm>
            <a:off x="9541763" y="3304032"/>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41763" y="3304032"/>
            <a:ext cx="64008" cy="9814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06355" y="3304032"/>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Own formal process if required</a:t>
            </a:r>
          </a:p>
        </p:txBody>
      </p:sp>
      <p:sp>
        <p:nvSpPr>
          <p:cNvPr id="32" name="Rectangle 31"/>
          <p:cNvSpPr/>
          <p:nvPr/>
        </p:nvSpPr>
        <p:spPr>
          <a:xfrm>
            <a:off x="777240" y="4413504"/>
            <a:ext cx="1874519"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256" y="4413504"/>
            <a:ext cx="1618487" cy="981456"/>
          </a:xfrm>
          <a:prstGeom prst="rect">
            <a:avLst/>
          </a:prstGeom>
          <a:noFill/>
        </p:spPr>
        <p:txBody>
          <a:bodyPr wrap="square" anchor="ctr">
            <a:spAutoFit/>
          </a:bodyPr>
          <a:lstStyle/>
          <a:p>
            <a:pPr algn="l">
              <a:spcAft>
                <a:spcPts val="400"/>
              </a:spcAft>
            </a:pPr>
            <a:r>
              <a:rPr sz="1200" b="1">
                <a:solidFill>
                  <a:srgbClr val="FFFFFF"/>
                </a:solidFill>
                <a:latin typeface="Arial"/>
              </a:rPr>
              <a:t>Parties</a:t>
            </a:r>
          </a:p>
        </p:txBody>
      </p:sp>
      <p:sp>
        <p:nvSpPr>
          <p:cNvPr id="34" name="Rectangle 33"/>
          <p:cNvSpPr/>
          <p:nvPr/>
        </p:nvSpPr>
        <p:spPr>
          <a:xfrm>
            <a:off x="2834639" y="4413504"/>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834639" y="4413504"/>
            <a:ext cx="64008"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99231" y="4413504"/>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Share account</a:t>
            </a:r>
          </a:p>
        </p:txBody>
      </p:sp>
      <p:sp>
        <p:nvSpPr>
          <p:cNvPr id="37" name="Rectangle 36"/>
          <p:cNvSpPr/>
          <p:nvPr/>
        </p:nvSpPr>
        <p:spPr>
          <a:xfrm>
            <a:off x="5070347" y="4413504"/>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70347" y="4413504"/>
            <a:ext cx="64008"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34939" y="4413504"/>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Clarify evidence</a:t>
            </a:r>
          </a:p>
        </p:txBody>
      </p:sp>
      <p:sp>
        <p:nvSpPr>
          <p:cNvPr id="40" name="Rectangle 39"/>
          <p:cNvSpPr/>
          <p:nvPr/>
        </p:nvSpPr>
        <p:spPr>
          <a:xfrm>
            <a:off x="7306055" y="4413504"/>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06055" y="4413504"/>
            <a:ext cx="64008"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70647" y="4413504"/>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State needs and impact</a:t>
            </a:r>
          </a:p>
        </p:txBody>
      </p:sp>
      <p:sp>
        <p:nvSpPr>
          <p:cNvPr id="43" name="Rectangle 42"/>
          <p:cNvSpPr/>
          <p:nvPr/>
        </p:nvSpPr>
        <p:spPr>
          <a:xfrm>
            <a:off x="9541763" y="4413504"/>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541763" y="4413504"/>
            <a:ext cx="64008"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06355" y="4413504"/>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Respond to proposed next step</a:t>
            </a:r>
          </a:p>
        </p:txBody>
      </p:sp>
      <p:sp>
        <p:nvSpPr>
          <p:cNvPr id="46" name="Chevron 45"/>
          <p:cNvSpPr/>
          <p:nvPr/>
        </p:nvSpPr>
        <p:spPr>
          <a:xfrm>
            <a:off x="4924043" y="4812792"/>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hevron 46"/>
          <p:cNvSpPr/>
          <p:nvPr/>
        </p:nvSpPr>
        <p:spPr>
          <a:xfrm>
            <a:off x="7159751" y="4812792"/>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hevron 47"/>
          <p:cNvSpPr/>
          <p:nvPr/>
        </p:nvSpPr>
        <p:spPr>
          <a:xfrm>
            <a:off x="9395459" y="4812792"/>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Use a formal route when safety, harassment, discrimination, retaliation or serious misconduct is alleged.</a:t>
            </a:r>
          </a:p>
        </p:txBody>
      </p:sp>
      <p:sp>
        <p:nvSpPr>
          <p:cNvPr id="52" name="TextBox 51"/>
          <p:cNvSpPr txBox="1"/>
          <p:nvPr/>
        </p:nvSpPr>
        <p:spPr>
          <a:xfrm>
            <a:off x="777240" y="5532120"/>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MOM workplace grievances and Tripartite Advisory; UC Berkeley Ombuds</a:t>
            </a:r>
          </a:p>
        </p:txBody>
      </p:sp>
      <p:sp>
        <p:nvSpPr>
          <p:cNvPr id="53" name="TextBox 5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54" name="TextBox 5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55" name="TextBox 5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DIAGNOSTIC MINDSET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Observe the pattern.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Name what is known, what is reported and what still needs to be checked.</a:t>
            </a:r>
          </a:p>
        </p:txBody>
      </p:sp>
      <p:sp>
        <p:nvSpPr>
          <p:cNvPr id="7" name="TextBox 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8" name="TextBox 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9" name="TextBox 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anim calcmode="lin" valueType="num">
                                      <p:cBhvr additive="base">
                                        <p:cTn id="1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350"/>
                                        <p:tgtEl>
                                          <p:spTgt spid="6"/>
                                        </p:tgtEl>
                                      </p:cBhvr>
                                    </p:animEffect>
                                    <p:anim calcmode="lin" valueType="num">
                                      <p:cBhvr additive="base">
                                        <p:cTn id="2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Topic 1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conflict signal triage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Topic 1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conflict signal triage?</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Observable signal</a:t>
            </a:r>
          </a:p>
          <a:p>
            <a:pPr algn="l">
              <a:spcAft>
                <a:spcPts val="300"/>
              </a:spcAft>
            </a:pPr>
            <a:r>
              <a:rPr sz="1200" b="0">
                <a:solidFill>
                  <a:srgbClr val="5B6372"/>
                </a:solidFill>
                <a:latin typeface="Arial"/>
              </a:rPr>
              <a:t>What changed in words, behaviour, attendance, quality or customer impact?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Interpretation</a:t>
            </a:r>
          </a:p>
          <a:p>
            <a:pPr algn="l">
              <a:spcAft>
                <a:spcPts val="300"/>
              </a:spcAft>
            </a:pPr>
            <a:r>
              <a:rPr sz="1200" b="0">
                <a:solidFill>
                  <a:srgbClr val="5B6372"/>
                </a:solidFill>
                <a:latin typeface="Arial"/>
              </a:rPr>
              <a:t>What meaning are people assigning to the signal—and what else could explain it?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Immediate risk</a:t>
            </a:r>
          </a:p>
          <a:p>
            <a:pPr algn="l">
              <a:spcAft>
                <a:spcPts val="300"/>
              </a:spcAft>
            </a:pPr>
            <a:r>
              <a:rPr sz="1200" b="0">
                <a:solidFill>
                  <a:srgbClr val="5B6372"/>
                </a:solidFill>
                <a:latin typeface="Arial"/>
              </a:rPr>
              <a:t>Is there a safety, harassment, discrimination, retaliation or serious misconduct concern?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First response</a:t>
            </a:r>
          </a:p>
          <a:p>
            <a:pPr algn="l">
              <a:spcAft>
                <a:spcPts val="300"/>
              </a:spcAft>
            </a:pPr>
            <a:r>
              <a:rPr sz="1200" b="0">
                <a:solidFill>
                  <a:srgbClr val="5B6372"/>
                </a:solidFill>
                <a:latin typeface="Arial"/>
              </a:rPr>
              <a:t>Monitor, clarify, facilitate, escalate or activate a formal process.</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HelpGuide; mindbodygreen; MOM workplace grievances</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1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Signal-to-Response Triage</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Observe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Record specific changes without labels or blame.</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Check impact</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Test effects on people, work, customers and risk.</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Seek context</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Gather more than one perspective and relevant records.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Screen safety</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Stop informal handling when policy or urgent protection is required.</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Choose next step</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Name the owner, timing and evidence needed.</a:t>
            </a:r>
          </a:p>
        </p:txBody>
      </p:sp>
      <p:sp>
        <p:nvSpPr>
          <p:cNvPr id="40" name="TextBox 39"/>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1" name="TextBox 40"/>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2" name="TextBox 41"/>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Topic 1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Observation vs Assumption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Assumption</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Evidence-ready observation</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Aisha is disengaged.</a:t>
            </a:r>
          </a:p>
          <a:p>
            <a:pPr>
              <a:spcAft>
                <a:spcPts val="1000"/>
              </a:spcAft>
            </a:pPr>
            <a:r>
              <a:rPr sz="1600" b="0">
                <a:solidFill>
                  <a:srgbClr val="161B26"/>
                </a:solidFill>
                <a:latin typeface="Arial"/>
              </a:rPr>
              <a:t>•  Ben is sabotaging the rota.</a:t>
            </a:r>
          </a:p>
          <a:p>
            <a:pPr>
              <a:spcAft>
                <a:spcPts val="1000"/>
              </a:spcAft>
            </a:pPr>
            <a:r>
              <a:rPr sz="1600" b="0">
                <a:solidFill>
                  <a:srgbClr val="161B26"/>
                </a:solidFill>
                <a:latin typeface="Arial"/>
              </a:rPr>
              <a:t>•  The team is toxic.</a:t>
            </a:r>
          </a:p>
          <a:p>
            <a:pPr>
              <a:spcAft>
                <a:spcPts val="1000"/>
              </a:spcAft>
            </a:pPr>
            <a:r>
              <a:rPr sz="1600" b="0">
                <a:solidFill>
                  <a:srgbClr val="161B26"/>
                </a:solidFill>
                <a:latin typeface="Arial"/>
              </a:rPr>
              <a:t>•  Everyone hates the new process.</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Aisha spoke once in three meetings and cancelled two check-ins.</a:t>
            </a:r>
          </a:p>
          <a:p>
            <a:pPr>
              <a:spcAft>
                <a:spcPts val="1000"/>
              </a:spcAft>
            </a:pPr>
            <a:r>
              <a:rPr sz="1600" b="0">
                <a:solidFill>
                  <a:srgbClr val="161B26"/>
                </a:solidFill>
                <a:latin typeface="Arial"/>
              </a:rPr>
              <a:t>•  Two rota changes were made without the agreed approval note.</a:t>
            </a:r>
          </a:p>
          <a:p>
            <a:pPr>
              <a:spcAft>
                <a:spcPts val="1000"/>
              </a:spcAft>
            </a:pPr>
            <a:r>
              <a:rPr sz="1600" b="0">
                <a:solidFill>
                  <a:srgbClr val="161B26"/>
                </a:solidFill>
                <a:latin typeface="Arial"/>
              </a:rPr>
              <a:t>•  Four handoffs were returned and two staff requested transfers.</a:t>
            </a:r>
          </a:p>
          <a:p>
            <a:pPr>
              <a:spcAft>
                <a:spcPts val="1000"/>
              </a:spcAft>
            </a:pPr>
            <a:r>
              <a:rPr sz="1600" b="0">
                <a:solidFill>
                  <a:srgbClr val="161B26"/>
                </a:solidFill>
                <a:latin typeface="Arial"/>
              </a:rPr>
              <a:t>•  Five of eight staff raised the same unclear-priority concern.</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Atlassian objectivity guidance; UC Berkeley Ombuds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Topic 1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Triage Decision Matrix</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Low impact · low urgency</a:t>
            </a:r>
          </a:p>
          <a:p>
            <a:pPr algn="l">
              <a:spcAft>
                <a:spcPts val="300"/>
              </a:spcAft>
            </a:pPr>
            <a:r>
              <a:rPr sz="1200" b="0">
                <a:solidFill>
                  <a:srgbClr val="5B6372"/>
                </a:solidFill>
                <a:latin typeface="Arial"/>
              </a:rPr>
              <a:t>Monitor, clarify and set a check-in.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High impact · low urgency</a:t>
            </a:r>
          </a:p>
          <a:p>
            <a:pPr algn="l">
              <a:spcAft>
                <a:spcPts val="300"/>
              </a:spcAft>
            </a:pPr>
            <a:r>
              <a:rPr sz="1200" b="0">
                <a:solidFill>
                  <a:srgbClr val="5B6372"/>
                </a:solidFill>
                <a:latin typeface="Arial"/>
              </a:rPr>
              <a:t>Plan a structured conversation and evidence review.</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Low impact · high urgency</a:t>
            </a:r>
          </a:p>
          <a:p>
            <a:pPr algn="l">
              <a:spcAft>
                <a:spcPts val="300"/>
              </a:spcAft>
            </a:pPr>
            <a:r>
              <a:rPr sz="1200" b="0">
                <a:solidFill>
                  <a:srgbClr val="5B6372"/>
                </a:solidFill>
                <a:latin typeface="Arial"/>
              </a:rPr>
              <a:t>Stabilise the immediate work issue, then review.</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High impact · high urgency</a:t>
            </a:r>
          </a:p>
          <a:p>
            <a:pPr algn="l">
              <a:spcAft>
                <a:spcPts val="300"/>
              </a:spcAft>
            </a:pPr>
            <a:r>
              <a:rPr sz="1200" b="0">
                <a:solidFill>
                  <a:srgbClr val="5B6372"/>
                </a:solidFill>
                <a:latin typeface="Arial"/>
              </a:rPr>
              <a:t>Protect people, preserve evidence and escalate under policy.</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worked example</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Topic 1 · T1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complaints appeared before the argument</a:t>
            </a:r>
          </a:p>
        </p:txBody>
      </p:sp>
      <p:sp>
        <p:nvSpPr>
          <p:cNvPr id="6" name="Rectangle 5"/>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0" name="TextBox 9"/>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LionCity Retail</a:t>
            </a:r>
          </a:p>
        </p:txBody>
      </p:sp>
      <p:sp>
        <p:nvSpPr>
          <p:cNvPr id="11" name="TextBox 10"/>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A supervisor notices repeated shift swaps, silence in huddles, customer handoff errors and a private allegation of unfair weekend rostering. The correct first move is structured triage—not deciding who is difficult.</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350"/>
                                        <p:tgtEl>
                                          <p:spTgt spid="10"/>
                                        </p:tgtEl>
                                      </p:cBhvr>
                                    </p:animEffect>
                                    <p:anim calcmode="lin" valueType="num">
                                      <p:cBhvr additive="base">
                                        <p:cTn id="3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Conflict Signal Triage at LionCity Retail</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LionCity Retail's Orchard service team is preparing for a major promotion. Over three weeks, two experienced staff have repeatedly swapped shifts, huddles have become quiet, and four customer handoffs were returned for missing information.</a:t>
            </a:r>
          </a:p>
          <a:p>
            <a:pPr algn="l">
              <a:spcAft>
                <a:spcPts val="800"/>
              </a:spcAft>
            </a:pPr>
            <a:r>
              <a:rPr sz="1450" b="0">
                <a:solidFill>
                  <a:srgbClr val="161B26"/>
                </a:solidFill>
                <a:latin typeface="Arial"/>
              </a:rPr>
              <a:t>Aisha privately tells supervisor Marcus that weekend duties are being allocated unfairly. Ben says Aisha is refusing to cooperate. Marcus has only fragments of chat messages and no agreed roster-change record. The promotion starts in five days.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signal log, conflict-stage map and first-response decision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6" name="TextBox 1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7" name="TextBox 1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Conflict Signal Triage at LionCity Retail</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details are observable facts, reported claims and interpretations?</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indicators suggest latent, perceived, felt or manifest conflict?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immediate impact is visible for staff, customers and the promotion?</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would make informal clarification unsafe or inappropriate?</a:t>
            </a:r>
          </a:p>
        </p:txBody>
      </p:sp>
      <p:sp>
        <p:nvSpPr>
          <p:cNvPr id="27" name="TextBox 2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8" name="TextBox 2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9" name="TextBox 2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wipe dir="l"/>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1 · T1 · ACTIVITY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Conflict Signal Triage at LionCity Retail</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 avoid diagnosing personality from limited evidence?</a:t>
            </a:r>
          </a:p>
          <a:p>
            <a:pPr>
              <a:spcAft>
                <a:spcPts val="900"/>
              </a:spcAft>
            </a:pPr>
            <a:r>
              <a:rPr sz="1450" b="0">
                <a:solidFill>
                  <a:srgbClr val="161B26"/>
                </a:solidFill>
                <a:latin typeface="Arial"/>
              </a:rPr>
              <a:t>•  Did your first response name an owner, deadline and escalation boundary?</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triage separates facts from assumptions, screens safety/policy risk and selects a proportionate next action.</a:t>
            </a:r>
          </a:p>
        </p:txBody>
      </p:sp>
      <p:sp>
        <p:nvSpPr>
          <p:cNvPr id="13" name="TextBox 1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4" name="TextBox 1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5" name="TextBox 1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LO1 · Topic 1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an evidence-based conflict diagnosis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Topic 1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an evidence-based conflict diagnosis?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Position</a:t>
            </a:r>
          </a:p>
          <a:p>
            <a:pPr algn="l">
              <a:spcAft>
                <a:spcPts val="300"/>
              </a:spcAft>
            </a:pPr>
            <a:r>
              <a:rPr sz="1200" b="0">
                <a:solidFill>
                  <a:srgbClr val="5B6372"/>
                </a:solidFill>
                <a:latin typeface="Arial"/>
              </a:rPr>
              <a:t>What each person says should happen.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Interest</a:t>
            </a:r>
          </a:p>
          <a:p>
            <a:pPr algn="l">
              <a:spcAft>
                <a:spcPts val="300"/>
              </a:spcAft>
            </a:pPr>
            <a:r>
              <a:rPr sz="1200" b="0">
                <a:solidFill>
                  <a:srgbClr val="5B6372"/>
                </a:solidFill>
                <a:latin typeface="Arial"/>
              </a:rPr>
              <a:t>The need, concern or value underneath the position.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Records, observations and corroborated facts relevant to the issue.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System factor</a:t>
            </a:r>
          </a:p>
          <a:p>
            <a:pPr algn="l">
              <a:spcAft>
                <a:spcPts val="300"/>
              </a:spcAft>
            </a:pPr>
            <a:r>
              <a:rPr sz="1200" b="0">
                <a:solidFill>
                  <a:srgbClr val="5B6372"/>
                </a:solidFill>
                <a:latin typeface="Arial"/>
              </a:rPr>
              <a:t>Role, handoff, incentive, workload or decision-right condition feeding the conflict.</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Harvard PON; Study.com; Indeed workplace strategies</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1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Neutral Fact-Finding Interview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Prepare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Set purpose, privacy boundary, questions and records.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Invite account</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Ask what happened, when, who observed it and what impact followed.</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Clarify</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Paraphrase, test sequence and distinguish direct knowledge from hearsay.</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Triangulate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Compare accounts with records and plausible alternatives.</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Map causes</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Identify task, process, relationship and structural contributors.</a:t>
            </a:r>
          </a:p>
        </p:txBody>
      </p:sp>
      <p:sp>
        <p:nvSpPr>
          <p:cNvPr id="40" name="TextBox 39"/>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1" name="TextBox 40"/>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2" name="TextBox 41"/>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Topic 1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Questioning That Opens vs Closes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Closing / accusatory</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Neutral / exploratory</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Why did you ignore the procedure?</a:t>
            </a:r>
          </a:p>
          <a:p>
            <a:pPr>
              <a:spcAft>
                <a:spcPts val="1000"/>
              </a:spcAft>
            </a:pPr>
            <a:r>
              <a:rPr sz="1600" b="0">
                <a:solidFill>
                  <a:srgbClr val="161B26"/>
                </a:solidFill>
                <a:latin typeface="Arial"/>
              </a:rPr>
              <a:t>•  Who started this?</a:t>
            </a:r>
          </a:p>
          <a:p>
            <a:pPr>
              <a:spcAft>
                <a:spcPts val="1000"/>
              </a:spcAft>
            </a:pPr>
            <a:r>
              <a:rPr sz="1600" b="0">
                <a:solidFill>
                  <a:srgbClr val="161B26"/>
                </a:solidFill>
                <a:latin typeface="Arial"/>
              </a:rPr>
              <a:t>•  Don't you think Priya overreacted?</a:t>
            </a:r>
          </a:p>
          <a:p>
            <a:pPr>
              <a:spcAft>
                <a:spcPts val="1000"/>
              </a:spcAft>
            </a:pPr>
            <a:r>
              <a:rPr sz="1600" b="0">
                <a:solidFill>
                  <a:srgbClr val="161B26"/>
                </a:solidFill>
                <a:latin typeface="Arial"/>
              </a:rPr>
              <a:t>•  Can you prove you are right?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Walk me through the handoff from your perspective.</a:t>
            </a:r>
          </a:p>
          <a:p>
            <a:pPr>
              <a:spcAft>
                <a:spcPts val="1000"/>
              </a:spcAft>
            </a:pPr>
            <a:r>
              <a:rPr sz="1600" b="0">
                <a:solidFill>
                  <a:srgbClr val="161B26"/>
                </a:solidFill>
                <a:latin typeface="Arial"/>
              </a:rPr>
              <a:t>•  What happened immediately before and after the missed scan?</a:t>
            </a:r>
          </a:p>
          <a:p>
            <a:pPr>
              <a:spcAft>
                <a:spcPts val="1000"/>
              </a:spcAft>
            </a:pPr>
            <a:r>
              <a:rPr sz="1600" b="0">
                <a:solidFill>
                  <a:srgbClr val="161B26"/>
                </a:solidFill>
                <a:latin typeface="Arial"/>
              </a:rPr>
              <a:t>•  What impact did you observe, and what evidence supports it?</a:t>
            </a:r>
          </a:p>
          <a:p>
            <a:pPr>
              <a:spcAft>
                <a:spcPts val="1000"/>
              </a:spcAft>
            </a:pPr>
            <a:r>
              <a:rPr sz="1600" b="0">
                <a:solidFill>
                  <a:srgbClr val="161B26"/>
                </a:solidFill>
                <a:latin typeface="Arial"/>
              </a:rPr>
              <a:t>•  What need or constraint would a workable solution have to address?</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UC Berkeley Ombuds; active-listening guidance across supplied sources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Topic 1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Root-Cause Lenses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Task</a:t>
            </a:r>
          </a:p>
          <a:p>
            <a:pPr algn="l">
              <a:spcAft>
                <a:spcPts val="300"/>
              </a:spcAft>
            </a:pPr>
            <a:r>
              <a:rPr sz="1200" b="0">
                <a:solidFill>
                  <a:srgbClr val="5B6372"/>
                </a:solidFill>
                <a:latin typeface="Arial"/>
              </a:rPr>
              <a:t>Different goals, quality standards or priorities.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Process</a:t>
            </a:r>
          </a:p>
          <a:p>
            <a:pPr algn="l">
              <a:spcAft>
                <a:spcPts val="300"/>
              </a:spcAft>
            </a:pPr>
            <a:r>
              <a:rPr sz="1200" b="0">
                <a:solidFill>
                  <a:srgbClr val="5B6372"/>
                </a:solidFill>
                <a:latin typeface="Arial"/>
              </a:rPr>
              <a:t>Unclear workflow, handoff, information or decision rights.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Relationship</a:t>
            </a:r>
          </a:p>
          <a:p>
            <a:pPr algn="l">
              <a:spcAft>
                <a:spcPts val="300"/>
              </a:spcAft>
            </a:pPr>
            <a:r>
              <a:rPr sz="1200" b="0">
                <a:solidFill>
                  <a:srgbClr val="5B6372"/>
                </a:solidFill>
                <a:latin typeface="Arial"/>
              </a:rPr>
              <a:t>Trust erosion, communication pattern or unresolved history.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Structure</a:t>
            </a:r>
          </a:p>
          <a:p>
            <a:pPr algn="l">
              <a:spcAft>
                <a:spcPts val="300"/>
              </a:spcAft>
            </a:pPr>
            <a:r>
              <a:rPr sz="1200" b="0">
                <a:solidFill>
                  <a:srgbClr val="5B6372"/>
                </a:solidFill>
                <a:latin typeface="Arial"/>
              </a:rPr>
              <a:t>Resource scarcity, incentives, workload, hierarchy or change.</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worked example</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Evidence Interview and Root-Cause Map at HarborLink Logistics</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At HarborLink Logistics, warehouse lead Priya says transport planner Daniel repeatedly changes dispatch priorities without warning. Daniel says Priya's team ignores urgent customer requests and hides picking delays until late afternoon.</a:t>
            </a:r>
          </a:p>
          <a:p>
            <a:pPr algn="l">
              <a:spcAft>
                <a:spcPts val="800"/>
              </a:spcAft>
            </a:pPr>
            <a:r>
              <a:rPr sz="1450" b="0">
                <a:solidFill>
                  <a:srgbClr val="161B26"/>
                </a:solidFill>
                <a:latin typeface="Arial"/>
              </a:rPr>
              <a:t>The shared dashboard records timestamps but not who approved priority changes. A new performance incentive rewards each function differently. Learners conduct two short interviews and build a root-cause map before recommending any resolution.</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Interview notes, an evidence matrix and a multi-cause conflict map</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55 minutes</a:t>
            </a:r>
          </a:p>
        </p:txBody>
      </p:sp>
      <p:sp>
        <p:nvSpPr>
          <p:cNvPr id="15" name="TextBox 1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6" name="TextBox 1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7" name="TextBox 1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Evidence Interview and Root-Cause Map at HarborLink Logistics</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questions reveal sequence, impact, evidence and underlying interests?</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information should be validated before deciding on blame or remedy?</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root causes sit in the work system rather than either person's character?</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facts remain unknown, and how will you record that uncertainty?</a:t>
            </a:r>
          </a:p>
        </p:txBody>
      </p:sp>
      <p:sp>
        <p:nvSpPr>
          <p:cNvPr id="27" name="TextBox 2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8" name="TextBox 2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9" name="TextBox 2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wipe dir="l"/>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Topic 1 · T2 · ACTIVITY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Evidence Interview and Root-Cause Map at HarborLink Logistics</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each interviewee receive equal opportunity and comparable questions?</a:t>
            </a:r>
          </a:p>
          <a:p>
            <a:pPr>
              <a:spcAft>
                <a:spcPts val="900"/>
              </a:spcAft>
            </a:pPr>
            <a:r>
              <a:rPr sz="1450" b="0">
                <a:solidFill>
                  <a:srgbClr val="161B26"/>
                </a:solidFill>
                <a:latin typeface="Arial"/>
              </a:rPr>
              <a:t>•  Did the root-cause map include the conflicting incentives and missing approval trail?</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diagnosis shows a traceable evidence chain, at least two plausible causes and unanswered questions before strategy selection.</a:t>
            </a:r>
          </a:p>
        </p:txBody>
      </p:sp>
      <p:sp>
        <p:nvSpPr>
          <p:cNvPr id="13" name="TextBox 1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4" name="TextBox 1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5" name="TextBox 1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Identifying Conflicts</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Conflict Signal Triage at LionCity Retail</a:t>
            </a:r>
          </a:p>
          <a:p>
            <a:pPr algn="l">
              <a:spcAft>
                <a:spcPts val="300"/>
              </a:spcAft>
            </a:pPr>
            <a:r>
              <a:rPr sz="1200" b="0">
                <a:solidFill>
                  <a:srgbClr val="5B6372"/>
                </a:solidFill>
                <a:latin typeface="Arial"/>
              </a:rPr>
              <a:t>You can now: recognise early indicators, assess impact and decide the safe first response.</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Evidence Interview and Root-Cause Map at HarborLink Logistics</a:t>
            </a:r>
          </a:p>
          <a:p>
            <a:pPr algn="l">
              <a:spcAft>
                <a:spcPts val="300"/>
              </a:spcAft>
            </a:pPr>
            <a:r>
              <a:rPr sz="1200" b="0">
                <a:solidFill>
                  <a:srgbClr val="5B6372"/>
                </a:solidFill>
                <a:latin typeface="Arial"/>
              </a:rPr>
              <a:t>You can now: gather and validate conflict information through neutral interviews and root-cause analysis.</a:t>
            </a:r>
          </a:p>
        </p:txBody>
      </p:sp>
      <p:sp>
        <p:nvSpPr>
          <p:cNvPr id="16" name="TextBox 1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7" name="TextBox 1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8" name="TextBox 1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1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Treat early signals as data, not proof of blame.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Good assessment separates observable facts, interpretations, needs and risk.</a:t>
            </a:r>
          </a:p>
        </p:txBody>
      </p:sp>
      <p:sp>
        <p:nvSpPr>
          <p:cNvPr id="7" name="TextBox 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8" name="TextBox 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9" name="TextBox 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zoom/>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Conflict Resolution Strategies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Emotional regulation · Conflict styles · Active listening · Sensitive dialogue · Negotiation · Mediation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Topic 2</a:t>
            </a:r>
          </a:p>
        </p:txBody>
      </p:sp>
      <p:sp>
        <p:nvSpPr>
          <p:cNvPr id="9" name="TextBox 8"/>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0" name="TextBox 9"/>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1" name="TextBox 10"/>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350"/>
                                        <p:tgtEl>
                                          <p:spTgt spid="7"/>
                                        </p:tgtEl>
                                      </p:cBhvr>
                                    </p:animEffect>
                                    <p:anim calcmode="lin" valueType="num">
                                      <p:cBhvr additive="base">
                                        <p:cTn id="4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Conflict Resolution Strategies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five common conflict styles—compete, collaborate, compromise, avoid and accommodate—are options with different levels of assertiveness and cooperation.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Emotional regulation comes before problem solving: notice triggers, lower arousal, check safety and agree when and where to talk.</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Active listening uses open questions, paraphrasing, validation and summaries to surface needs without implying agreement with every claim.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Assertive communication describes observable behaviour and impact, names the need and makes a specific request without attacking character.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Interest-based negotiation separates people from the problem, explores underlying interests, generates options and checks agreements against objective criteria.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Use a neutral third party when direct dialogue is unsafe, stuck, affected by power imbalance or required by policy; choose facilitation, mediation, conciliation or formal investigation deliberately.</a:t>
            </a:r>
          </a:p>
        </p:txBody>
      </p:sp>
      <p:sp>
        <p:nvSpPr>
          <p:cNvPr id="36" name="TextBox 3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7" name="TextBox 3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8" name="TextBox 3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STYLE FIT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Select a response—do not default to a favourite style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Score the situation before choosing compete, collaborate, compromise, avoid or accommodate.</a:t>
            </a:r>
          </a:p>
        </p:txBody>
      </p:sp>
      <p:sp>
        <p:nvSpPr>
          <p:cNvPr id="7" name="Rectangle 6"/>
          <p:cNvSpPr/>
          <p:nvPr/>
        </p:nvSpPr>
        <p:spPr>
          <a:xfrm>
            <a:off x="777240" y="2212848"/>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SAFE?</a:t>
            </a:r>
          </a:p>
        </p:txBody>
      </p:sp>
      <p:sp>
        <p:nvSpPr>
          <p:cNvPr id="10" name="TextBox 9"/>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Urgent protection or non-negotiable standard?</a:t>
            </a:r>
          </a:p>
        </p:txBody>
      </p:sp>
      <p:sp>
        <p:nvSpPr>
          <p:cNvPr id="11" name="Rectangle 10"/>
          <p:cNvSpPr/>
          <p:nvPr/>
        </p:nvSpPr>
        <p:spPr>
          <a:xfrm>
            <a:off x="4407408" y="2212848"/>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8" y="2487168"/>
            <a:ext cx="3374136" cy="914400"/>
          </a:xfrm>
          <a:prstGeom prst="rect">
            <a:avLst/>
          </a:prstGeom>
          <a:noFill/>
        </p:spPr>
        <p:txBody>
          <a:bodyPr wrap="square" anchor="t">
            <a:spAutoFit/>
          </a:bodyPr>
          <a:lstStyle/>
          <a:p>
            <a:pPr algn="ctr">
              <a:spcAft>
                <a:spcPts val="400"/>
              </a:spcAft>
            </a:pPr>
            <a:r>
              <a:rPr sz="3000" b="1">
                <a:solidFill>
                  <a:srgbClr val="10B981"/>
                </a:solidFill>
                <a:latin typeface="Arial"/>
              </a:rPr>
              <a:t>STAKES</a:t>
            </a:r>
          </a:p>
        </p:txBody>
      </p:sp>
      <p:sp>
        <p:nvSpPr>
          <p:cNvPr id="14" name="TextBox 13"/>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How important is the substantive result?</a:t>
            </a:r>
          </a:p>
        </p:txBody>
      </p:sp>
      <p:sp>
        <p:nvSpPr>
          <p:cNvPr id="15" name="Rectangle 14"/>
          <p:cNvSpPr/>
          <p:nvPr/>
        </p:nvSpPr>
        <p:spPr>
          <a:xfrm>
            <a:off x="8037576" y="2212848"/>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37576" y="2487168"/>
            <a:ext cx="3374136" cy="914400"/>
          </a:xfrm>
          <a:prstGeom prst="rect">
            <a:avLst/>
          </a:prstGeom>
          <a:noFill/>
        </p:spPr>
        <p:txBody>
          <a:bodyPr wrap="square" anchor="t">
            <a:spAutoFit/>
          </a:bodyPr>
          <a:lstStyle/>
          <a:p>
            <a:pPr algn="ctr">
              <a:spcAft>
                <a:spcPts val="400"/>
              </a:spcAft>
            </a:pPr>
            <a:r>
              <a:rPr sz="4000" b="1">
                <a:solidFill>
                  <a:srgbClr val="7C3AED"/>
                </a:solidFill>
                <a:latin typeface="Arial"/>
              </a:rPr>
              <a:t>TRUST</a:t>
            </a:r>
          </a:p>
        </p:txBody>
      </p:sp>
      <p:sp>
        <p:nvSpPr>
          <p:cNvPr id="18" name="TextBox 17"/>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How important is future working trust?</a:t>
            </a:r>
          </a:p>
        </p:txBody>
      </p:sp>
      <p:sp>
        <p:nvSpPr>
          <p:cNvPr id="19" name="Rectangle 18"/>
          <p:cNvSpPr/>
          <p:nvPr/>
        </p:nvSpPr>
        <p:spPr>
          <a:xfrm>
            <a:off x="777240" y="3931920"/>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3192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206240"/>
            <a:ext cx="3374136" cy="914400"/>
          </a:xfrm>
          <a:prstGeom prst="rect">
            <a:avLst/>
          </a:prstGeom>
          <a:noFill/>
        </p:spPr>
        <p:txBody>
          <a:bodyPr wrap="square" anchor="t">
            <a:spAutoFit/>
          </a:bodyPr>
          <a:lstStyle/>
          <a:p>
            <a:pPr algn="ctr">
              <a:spcAft>
                <a:spcPts val="400"/>
              </a:spcAft>
            </a:pPr>
            <a:r>
              <a:rPr sz="4000" b="1">
                <a:solidFill>
                  <a:srgbClr val="F59E0B"/>
                </a:solidFill>
                <a:latin typeface="Arial"/>
              </a:rPr>
              <a:t>VOICE</a:t>
            </a:r>
          </a:p>
        </p:txBody>
      </p:sp>
      <p:sp>
        <p:nvSpPr>
          <p:cNvPr id="22" name="TextBox 21"/>
          <p:cNvSpPr txBox="1"/>
          <p:nvPr/>
        </p:nvSpPr>
        <p:spPr>
          <a:xfrm>
            <a:off x="923544" y="513892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Can both parties speak freely and fairly?</a:t>
            </a:r>
          </a:p>
        </p:txBody>
      </p:sp>
      <p:sp>
        <p:nvSpPr>
          <p:cNvPr id="23" name="Rectangle 22"/>
          <p:cNvSpPr/>
          <p:nvPr/>
        </p:nvSpPr>
        <p:spPr>
          <a:xfrm>
            <a:off x="4407408" y="3931920"/>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07408" y="393192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8" y="4206240"/>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TIME</a:t>
            </a:r>
          </a:p>
        </p:txBody>
      </p:sp>
      <p:sp>
        <p:nvSpPr>
          <p:cNvPr id="26" name="TextBox 25"/>
          <p:cNvSpPr txBox="1"/>
          <p:nvPr/>
        </p:nvSpPr>
        <p:spPr>
          <a:xfrm>
            <a:off x="4553712" y="513892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Temporary response before deeper resolution?</a:t>
            </a:r>
          </a:p>
        </p:txBody>
      </p:sp>
      <p:sp>
        <p:nvSpPr>
          <p:cNvPr id="27" name="Rectangle 26"/>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One conflict may require different styles at different stages.</a:t>
            </a:r>
          </a:p>
        </p:txBody>
      </p:sp>
      <p:sp>
        <p:nvSpPr>
          <p:cNvPr id="30" name="TextBox 29"/>
          <p:cNvSpPr txBox="1"/>
          <p:nvPr/>
        </p:nvSpPr>
        <p:spPr>
          <a:xfrm>
            <a:off x="777240" y="554126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HelpGuide, Indeed and Syracuse University conflict-style guidance</a:t>
            </a:r>
          </a:p>
        </p:txBody>
      </p:sp>
      <p:sp>
        <p:nvSpPr>
          <p:cNvPr id="31" name="TextBox 30"/>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2" name="TextBox 31"/>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3" name="TextBox 32"/>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2 · COMMUNICATION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CLEAR: a structure for sensitive conversation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Regulate first; then create a fair path from accounts to commitments.</a:t>
            </a: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Cool &amp; check</a:t>
            </a:r>
          </a:p>
        </p:txBody>
      </p:sp>
      <p:sp>
        <p:nvSpPr>
          <p:cNvPr id="12" name="TextBox 11"/>
          <p:cNvSpPr txBox="1"/>
          <p:nvPr/>
        </p:nvSpPr>
        <p:spPr>
          <a:xfrm>
            <a:off x="905256"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Readiness, safety, scope and power.</a:t>
            </a:r>
          </a:p>
        </p:txBody>
      </p:sp>
      <p:sp>
        <p:nvSpPr>
          <p:cNvPr id="13" name="Chevron 12"/>
          <p:cNvSpPr/>
          <p:nvPr/>
        </p:nvSpPr>
        <p:spPr>
          <a:xfrm>
            <a:off x="2702966"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83533"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87014"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Listen</a:t>
            </a:r>
          </a:p>
        </p:txBody>
      </p:sp>
      <p:sp>
        <p:nvSpPr>
          <p:cNvPr id="19" name="TextBox 18"/>
          <p:cNvSpPr txBox="1"/>
          <p:nvPr/>
        </p:nvSpPr>
        <p:spPr>
          <a:xfrm>
            <a:off x="3087014"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Equal voice, paraphrase, emotion acknowledgement.</a:t>
            </a:r>
          </a:p>
        </p:txBody>
      </p:sp>
      <p:sp>
        <p:nvSpPr>
          <p:cNvPr id="20" name="Chevron 19"/>
          <p:cNvSpPr/>
          <p:nvPr/>
        </p:nvSpPr>
        <p:spPr>
          <a:xfrm>
            <a:off x="4884724"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65291"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68772"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Explore</a:t>
            </a:r>
          </a:p>
        </p:txBody>
      </p:sp>
      <p:sp>
        <p:nvSpPr>
          <p:cNvPr id="26" name="TextBox 25"/>
          <p:cNvSpPr txBox="1"/>
          <p:nvPr/>
        </p:nvSpPr>
        <p:spPr>
          <a:xfrm>
            <a:off x="5268772"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Impact, interests, needs and shared goals.</a:t>
            </a:r>
          </a:p>
        </p:txBody>
      </p:sp>
      <p:sp>
        <p:nvSpPr>
          <p:cNvPr id="27" name="Chevron 26"/>
          <p:cNvSpPr/>
          <p:nvPr/>
        </p:nvSpPr>
        <p:spPr>
          <a:xfrm>
            <a:off x="7066482"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7049"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50530"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Agree</a:t>
            </a:r>
          </a:p>
        </p:txBody>
      </p:sp>
      <p:sp>
        <p:nvSpPr>
          <p:cNvPr id="33" name="TextBox 32"/>
          <p:cNvSpPr txBox="1"/>
          <p:nvPr/>
        </p:nvSpPr>
        <p:spPr>
          <a:xfrm>
            <a:off x="7450530"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Generate and reality-test options.</a:t>
            </a:r>
          </a:p>
        </p:txBody>
      </p:sp>
      <p:sp>
        <p:nvSpPr>
          <p:cNvPr id="34" name="Chevron 33"/>
          <p:cNvSpPr/>
          <p:nvPr/>
        </p:nvSpPr>
        <p:spPr>
          <a:xfrm>
            <a:off x="9248240" y="3447288"/>
            <a:ext cx="237744" cy="329184"/>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28807" y="2551176"/>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32288"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Record &amp; review</a:t>
            </a:r>
          </a:p>
        </p:txBody>
      </p:sp>
      <p:sp>
        <p:nvSpPr>
          <p:cNvPr id="40" name="TextBox 39"/>
          <p:cNvSpPr txBox="1"/>
          <p:nvPr/>
        </p:nvSpPr>
        <p:spPr>
          <a:xfrm>
            <a:off x="9632288"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Owners, behaviours, dates and follow-up.</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Validation acknowledges experience; it does not decide that every claim is factually correct.</a:t>
            </a:r>
          </a:p>
        </p:txBody>
      </p:sp>
      <p:sp>
        <p:nvSpPr>
          <p:cNvPr id="44" name="TextBox 43"/>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5" name="TextBox 44"/>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6" name="TextBox 45"/>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MEDIATION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mediator owns the process—not the outcome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Neutrality is demonstrated through comparable opportunity, questions and scrutiny.</a:t>
            </a:r>
          </a:p>
        </p:txBody>
      </p:sp>
      <p:sp>
        <p:nvSpPr>
          <p:cNvPr id="7" name="Rectangle 6"/>
          <p:cNvSpPr/>
          <p:nvPr/>
        </p:nvSpPr>
        <p:spPr>
          <a:xfrm>
            <a:off x="777240"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9156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Safety</a:t>
            </a:r>
          </a:p>
        </p:txBody>
      </p:sp>
      <p:sp>
        <p:nvSpPr>
          <p:cNvPr id="10" name="TextBox 9"/>
          <p:cNvSpPr txBox="1"/>
          <p:nvPr/>
        </p:nvSpPr>
        <p:spPr>
          <a:xfrm>
            <a:off x="1051560"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Check suitability, voluntariness, retaliation risk and formal-process boundaries.</a:t>
            </a:r>
          </a:p>
        </p:txBody>
      </p:sp>
      <p:sp>
        <p:nvSpPr>
          <p:cNvPr id="11" name="Rectangle 10"/>
          <p:cNvSpPr/>
          <p:nvPr/>
        </p:nvSpPr>
        <p:spPr>
          <a:xfrm>
            <a:off x="6231636"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9156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Voice</a:t>
            </a:r>
          </a:p>
        </p:txBody>
      </p:sp>
      <p:sp>
        <p:nvSpPr>
          <p:cNvPr id="14" name="TextBox 13"/>
          <p:cNvSpPr txBox="1"/>
          <p:nvPr/>
        </p:nvSpPr>
        <p:spPr>
          <a:xfrm>
            <a:off x="6505956"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Give comparable uninterrupted time and an opportunity to clarify or respond.</a:t>
            </a:r>
          </a:p>
        </p:txBody>
      </p:sp>
      <p:sp>
        <p:nvSpPr>
          <p:cNvPr id="15" name="Rectangle 14"/>
          <p:cNvSpPr/>
          <p:nvPr/>
        </p:nvSpPr>
        <p:spPr>
          <a:xfrm>
            <a:off x="777240"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10812"/>
            <a:ext cx="91440" cy="19156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375404"/>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Reframing</a:t>
            </a:r>
          </a:p>
        </p:txBody>
      </p:sp>
      <p:sp>
        <p:nvSpPr>
          <p:cNvPr id="18" name="TextBox 17"/>
          <p:cNvSpPr txBox="1"/>
          <p:nvPr/>
        </p:nvSpPr>
        <p:spPr>
          <a:xfrm>
            <a:off x="1051560"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Convert blame into observable behaviour, impact, interests and requests.</a:t>
            </a:r>
          </a:p>
        </p:txBody>
      </p:sp>
      <p:sp>
        <p:nvSpPr>
          <p:cNvPr id="19" name="Rectangle 18"/>
          <p:cNvSpPr/>
          <p:nvPr/>
        </p:nvSpPr>
        <p:spPr>
          <a:xfrm>
            <a:off x="6231636"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4210812"/>
            <a:ext cx="91440" cy="19156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4375404"/>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Agreement</a:t>
            </a:r>
          </a:p>
        </p:txBody>
      </p:sp>
      <p:sp>
        <p:nvSpPr>
          <p:cNvPr id="22" name="TextBox 21"/>
          <p:cNvSpPr txBox="1"/>
          <p:nvPr/>
        </p:nvSpPr>
        <p:spPr>
          <a:xfrm>
            <a:off x="6505956"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Record commitments that are specific, lawful, owned, supported and reviewable.</a:t>
            </a:r>
          </a:p>
        </p:txBody>
      </p:sp>
      <p:sp>
        <p:nvSpPr>
          <p:cNvPr id="23" name="TextBox 2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4" name="TextBox 2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5" name="TextBox 2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 NEGOTIATION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Position bargaining vs interest-based negotiation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Move from one demanded answer to several evidence-tested packages.</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Position bargaining</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Interest-based negotiation</a:t>
            </a:r>
          </a:p>
        </p:txBody>
      </p:sp>
      <p:sp>
        <p:nvSpPr>
          <p:cNvPr id="11" name="Rectangle 10"/>
          <p:cNvSpPr/>
          <p:nvPr/>
        </p:nvSpPr>
        <p:spPr>
          <a:xfrm>
            <a:off x="777240" y="256032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Focus</a:t>
            </a:r>
          </a:p>
        </p:txBody>
      </p:sp>
      <p:sp>
        <p:nvSpPr>
          <p:cNvPr id="13" name="Rectangle 12"/>
          <p:cNvSpPr/>
          <p:nvPr/>
        </p:nvSpPr>
        <p:spPr>
          <a:xfrm>
            <a:off x="2926080"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Argues for a fixed demand</a:t>
            </a:r>
          </a:p>
        </p:txBody>
      </p:sp>
      <p:sp>
        <p:nvSpPr>
          <p:cNvPr id="15" name="Rectangle 14"/>
          <p:cNvSpPr/>
          <p:nvPr/>
        </p:nvSpPr>
        <p:spPr>
          <a:xfrm>
            <a:off x="7168896"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Explores the needs and constraints beneath the demand</a:t>
            </a:r>
          </a:p>
        </p:txBody>
      </p:sp>
      <p:sp>
        <p:nvSpPr>
          <p:cNvPr id="17" name="Rectangle 16"/>
          <p:cNvSpPr/>
          <p:nvPr/>
        </p:nvSpPr>
        <p:spPr>
          <a:xfrm>
            <a:off x="777240" y="345186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45186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Value</a:t>
            </a:r>
          </a:p>
        </p:txBody>
      </p:sp>
      <p:sp>
        <p:nvSpPr>
          <p:cNvPr id="19" name="Rectangle 18"/>
          <p:cNvSpPr/>
          <p:nvPr/>
        </p:nvSpPr>
        <p:spPr>
          <a:xfrm>
            <a:off x="2926080"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Treats concessions as loss</a:t>
            </a:r>
          </a:p>
        </p:txBody>
      </p:sp>
      <p:sp>
        <p:nvSpPr>
          <p:cNvPr id="21" name="Rectangle 20"/>
          <p:cNvSpPr/>
          <p:nvPr/>
        </p:nvSpPr>
        <p:spPr>
          <a:xfrm>
            <a:off x="7168896"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Trades across differences and creates packages</a:t>
            </a:r>
          </a:p>
        </p:txBody>
      </p:sp>
      <p:sp>
        <p:nvSpPr>
          <p:cNvPr id="23" name="Rectangle 22"/>
          <p:cNvSpPr/>
          <p:nvPr/>
        </p:nvSpPr>
        <p:spPr>
          <a:xfrm>
            <a:off x="777240" y="434340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34340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Basis</a:t>
            </a:r>
          </a:p>
        </p:txBody>
      </p:sp>
      <p:sp>
        <p:nvSpPr>
          <p:cNvPr id="25" name="Rectangle 24"/>
          <p:cNvSpPr/>
          <p:nvPr/>
        </p:nvSpPr>
        <p:spPr>
          <a:xfrm>
            <a:off x="2926080"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Relies on power or persistence</a:t>
            </a:r>
          </a:p>
        </p:txBody>
      </p:sp>
      <p:sp>
        <p:nvSpPr>
          <p:cNvPr id="27" name="Rectangle 26"/>
          <p:cNvSpPr/>
          <p:nvPr/>
        </p:nvSpPr>
        <p:spPr>
          <a:xfrm>
            <a:off x="7168896"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Uses objective criteria, evidence and authority</a:t>
            </a:r>
          </a:p>
        </p:txBody>
      </p:sp>
      <p:sp>
        <p:nvSpPr>
          <p:cNvPr id="29" name="Rectangle 28"/>
          <p:cNvSpPr/>
          <p:nvPr/>
        </p:nvSpPr>
        <p:spPr>
          <a:xfrm>
            <a:off x="777240" y="523494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23494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Finish</a:t>
            </a:r>
          </a:p>
        </p:txBody>
      </p:sp>
      <p:sp>
        <p:nvSpPr>
          <p:cNvPr id="31" name="Rectangle 30"/>
          <p:cNvSpPr/>
          <p:nvPr/>
        </p:nvSpPr>
        <p:spPr>
          <a:xfrm>
            <a:off x="2926080"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Stops at verbal compromise</a:t>
            </a:r>
          </a:p>
        </p:txBody>
      </p:sp>
      <p:sp>
        <p:nvSpPr>
          <p:cNvPr id="33" name="Rectangle 32"/>
          <p:cNvSpPr/>
          <p:nvPr/>
        </p:nvSpPr>
        <p:spPr>
          <a:xfrm>
            <a:off x="7168896"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Records action, owner, timing, review and no-agreement route</a:t>
            </a:r>
          </a:p>
        </p:txBody>
      </p:sp>
      <p:sp>
        <p:nvSpPr>
          <p:cNvPr id="35" name="TextBox 3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6" name="TextBox 3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7" name="TextBox 3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SENSITIVE HANDLING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Regulation precedes resolution.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good technique fails when timing, safety or power makes the conversation unfair.</a:t>
            </a:r>
          </a:p>
        </p:txBody>
      </p:sp>
      <p:sp>
        <p:nvSpPr>
          <p:cNvPr id="7" name="TextBox 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8" name="TextBox 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9" name="TextBox 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anim calcmode="lin" valueType="num">
                                      <p:cBhvr additive="base">
                                        <p:cTn id="1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350"/>
                                        <p:tgtEl>
                                          <p:spTgt spid="6"/>
                                        </p:tgtEl>
                                      </p:cBhvr>
                                    </p:animEffect>
                                    <p:anim calcmode="lin" valueType="num">
                                      <p:cBhvr additive="base">
                                        <p:cTn id="2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Topic 2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fit-for-purpose conflict style decision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fit-for-purpose conflict style decision?</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Compete</a:t>
            </a:r>
          </a:p>
          <a:p>
            <a:pPr algn="l">
              <a:spcAft>
                <a:spcPts val="300"/>
              </a:spcAft>
            </a:pPr>
            <a:r>
              <a:rPr sz="1200" b="0">
                <a:solidFill>
                  <a:srgbClr val="5B6372"/>
                </a:solidFill>
                <a:latin typeface="Arial"/>
              </a:rPr>
              <a:t>High assertiveness, low cooperation; useful for urgent safety or non-negotiable standards.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Collaborate</a:t>
            </a:r>
          </a:p>
          <a:p>
            <a:pPr algn="l">
              <a:spcAft>
                <a:spcPts val="300"/>
              </a:spcAft>
            </a:pPr>
            <a:r>
              <a:rPr sz="1200" b="0">
                <a:solidFill>
                  <a:srgbClr val="5B6372"/>
                </a:solidFill>
                <a:latin typeface="Arial"/>
              </a:rPr>
              <a:t>High assertiveness and cooperation; useful for important, interdependent issues.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Compromise</a:t>
            </a:r>
          </a:p>
          <a:p>
            <a:pPr algn="l">
              <a:spcAft>
                <a:spcPts val="300"/>
              </a:spcAft>
            </a:pPr>
            <a:r>
              <a:rPr sz="1200" b="0">
                <a:solidFill>
                  <a:srgbClr val="5B6372"/>
                </a:solidFill>
                <a:latin typeface="Arial"/>
              </a:rPr>
              <a:t>Moderate exchange; useful when time matters and both can trade.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Avoid / accommodate</a:t>
            </a:r>
          </a:p>
          <a:p>
            <a:pPr algn="l">
              <a:spcAft>
                <a:spcPts val="300"/>
              </a:spcAft>
            </a:pPr>
            <a:r>
              <a:rPr sz="1200" b="0">
                <a:solidFill>
                  <a:srgbClr val="5B6372"/>
                </a:solidFill>
                <a:latin typeface="Arial"/>
              </a:rPr>
              <a:t>Useful for cooling off, low stakes or learning—but risky when overused.</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HelpGuide; Indeed; Coursera conflict management; Syracuse University</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Choose a Style Deliberately</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Safety</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Is harm, policy breach or urgent action involved?</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Importance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How important is the substantive outcome?</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Relationship</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How important is trust and future interdependence?</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Power and voice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Can both parties participate freely and fairly?</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Time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Is a temporary response needed before deeper resolution?</a:t>
            </a:r>
          </a:p>
        </p:txBody>
      </p:sp>
      <p:sp>
        <p:nvSpPr>
          <p:cNvPr id="40" name="TextBox 39"/>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1" name="TextBox 40"/>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2" name="TextBox 41"/>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Helpful Use vs Costly Overuse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Helpful use</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Costly overuse</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Compete to stop an unsafe act.</a:t>
            </a:r>
          </a:p>
          <a:p>
            <a:pPr>
              <a:spcAft>
                <a:spcPts val="1000"/>
              </a:spcAft>
            </a:pPr>
            <a:r>
              <a:rPr sz="1600" b="0">
                <a:solidFill>
                  <a:srgbClr val="161B26"/>
                </a:solidFill>
                <a:latin typeface="Arial"/>
              </a:rPr>
              <a:t>•  Avoid briefly to cool down and prepare.</a:t>
            </a:r>
          </a:p>
          <a:p>
            <a:pPr>
              <a:spcAft>
                <a:spcPts val="1000"/>
              </a:spcAft>
            </a:pPr>
            <a:r>
              <a:rPr sz="1600" b="0">
                <a:solidFill>
                  <a:srgbClr val="161B26"/>
                </a:solidFill>
                <a:latin typeface="Arial"/>
              </a:rPr>
              <a:t>•  Accommodate a low-value preference.</a:t>
            </a:r>
          </a:p>
          <a:p>
            <a:pPr>
              <a:spcAft>
                <a:spcPts val="1000"/>
              </a:spcAft>
            </a:pPr>
            <a:r>
              <a:rPr sz="1600" b="0">
                <a:solidFill>
                  <a:srgbClr val="161B26"/>
                </a:solidFill>
                <a:latin typeface="Arial"/>
              </a:rPr>
              <a:t>•  Compromise on a temporary schedule.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Compete to protect ego or silence dissent.</a:t>
            </a:r>
          </a:p>
          <a:p>
            <a:pPr>
              <a:spcAft>
                <a:spcPts val="1000"/>
              </a:spcAft>
            </a:pPr>
            <a:r>
              <a:rPr sz="1600" b="0">
                <a:solidFill>
                  <a:srgbClr val="161B26"/>
                </a:solidFill>
                <a:latin typeface="Arial"/>
              </a:rPr>
              <a:t>•  Avoid a recurring fairness problem.</a:t>
            </a:r>
          </a:p>
          <a:p>
            <a:pPr>
              <a:spcAft>
                <a:spcPts val="1000"/>
              </a:spcAft>
            </a:pPr>
            <a:r>
              <a:rPr sz="1600" b="0">
                <a:solidFill>
                  <a:srgbClr val="161B26"/>
                </a:solidFill>
                <a:latin typeface="Arial"/>
              </a:rPr>
              <a:t>•  Accommodate until resentment grows.</a:t>
            </a:r>
          </a:p>
          <a:p>
            <a:pPr>
              <a:spcAft>
                <a:spcPts val="1000"/>
              </a:spcAft>
            </a:pPr>
            <a:r>
              <a:rPr sz="1600" b="0">
                <a:solidFill>
                  <a:srgbClr val="161B26"/>
                </a:solidFill>
                <a:latin typeface="Arial"/>
              </a:rPr>
              <a:t>•  Compromise on ethics or safety standards.</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HelpGuide Thomas-Kilmann overview; Indeed strategy guidance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Style Selection Cases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Safety breach</a:t>
            </a:r>
          </a:p>
          <a:p>
            <a:pPr algn="l">
              <a:spcAft>
                <a:spcPts val="300"/>
              </a:spcAft>
            </a:pPr>
            <a:r>
              <a:rPr sz="1200" b="0">
                <a:solidFill>
                  <a:srgbClr val="5B6372"/>
                </a:solidFill>
                <a:latin typeface="Arial"/>
              </a:rPr>
              <a:t>Compete/decide now; investigate and learn later.</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Shared product risk</a:t>
            </a:r>
          </a:p>
          <a:p>
            <a:pPr algn="l">
              <a:spcAft>
                <a:spcPts val="300"/>
              </a:spcAft>
            </a:pPr>
            <a:r>
              <a:rPr sz="1200" b="0">
                <a:solidFill>
                  <a:srgbClr val="5B6372"/>
                </a:solidFill>
                <a:latin typeface="Arial"/>
              </a:rPr>
              <a:t>Collaborate around evidence and common goals.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Temporary rota gap</a:t>
            </a:r>
          </a:p>
          <a:p>
            <a:pPr algn="l">
              <a:spcAft>
                <a:spcPts val="300"/>
              </a:spcAft>
            </a:pPr>
            <a:r>
              <a:rPr sz="1200" b="0">
                <a:solidFill>
                  <a:srgbClr val="5B6372"/>
                </a:solidFill>
                <a:latin typeface="Arial"/>
              </a:rPr>
              <a:t>Compromise with a review date.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Heated but non-urgent</a:t>
            </a:r>
          </a:p>
          <a:p>
            <a:pPr algn="l">
              <a:spcAft>
                <a:spcPts val="300"/>
              </a:spcAft>
            </a:pPr>
            <a:r>
              <a:rPr sz="1200" b="0">
                <a:solidFill>
                  <a:srgbClr val="5B6372"/>
                </a:solidFill>
                <a:latin typeface="Arial"/>
              </a:rPr>
              <a:t>Pause/avoid briefly, then re-engage.</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worked example</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Conflict Style Choice Clinic at BrightWorks Digital</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BrightWorks Digital's product and sales teams disagree about releasing a feature before security testing is complete. Sales promises a launch date to a key client; Product says the unresolved issue may expose customer data.</a:t>
            </a:r>
          </a:p>
          <a:p>
            <a:pPr algn="l">
              <a:spcAft>
                <a:spcPts val="800"/>
              </a:spcAft>
            </a:pPr>
            <a:r>
              <a:rPr sz="1450" b="0">
                <a:solidFill>
                  <a:srgbClr val="161B26"/>
                </a:solidFill>
                <a:latin typeface="Arial"/>
              </a:rPr>
              <a:t>The CEO wants a decision today, but both teams must work together for the next six months. Learners assess five possible styles and explain a staged response rather than declaring one style universally best.</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conflict-style decision matrix with a staged response rationale</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45 minutes</a:t>
            </a:r>
          </a:p>
        </p:txBody>
      </p:sp>
      <p:sp>
        <p:nvSpPr>
          <p:cNvPr id="15" name="TextBox 1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6" name="TextBox 1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7" name="TextBox 1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Conflict Style Choice Clinic at BrightWorks Digital</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part of the issue is non-negotiable, and who has authority to decide it?</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Where would collaboration add value after the immediate decision?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power imbalance or voice risk must the facilitator manage?</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temporary agreement could protect the client relationship without compromising security?</a:t>
            </a:r>
          </a:p>
        </p:txBody>
      </p:sp>
      <p:sp>
        <p:nvSpPr>
          <p:cNvPr id="27" name="TextBox 2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8" name="TextBox 2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9" name="TextBox 2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wipe dir="l"/>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T1 · ACTIVITY 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Conflict Style Choice Clinic at BrightWorks Digital</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 distinguish a short-term emergency response from long-term resolution?</a:t>
            </a:r>
          </a:p>
          <a:p>
            <a:pPr>
              <a:spcAft>
                <a:spcPts val="900"/>
              </a:spcAft>
            </a:pPr>
            <a:r>
              <a:rPr sz="1450" b="0">
                <a:solidFill>
                  <a:srgbClr val="161B26"/>
                </a:solidFill>
                <a:latin typeface="Arial"/>
              </a:rPr>
              <a:t>•  Did you name the risks of overusing your preferred style?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recommendation links each style choice to evidence about safety, stakes, relationship, power and time.</a:t>
            </a:r>
          </a:p>
        </p:txBody>
      </p:sp>
      <p:sp>
        <p:nvSpPr>
          <p:cNvPr id="13" name="TextBox 1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4" name="TextBox 1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5" name="TextBox 1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Topic 2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structured mediation conversation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structured mediation conversation?</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Neutral process</a:t>
            </a:r>
          </a:p>
          <a:p>
            <a:pPr algn="l">
              <a:spcAft>
                <a:spcPts val="300"/>
              </a:spcAft>
            </a:pPr>
            <a:r>
              <a:rPr sz="1200" b="0">
                <a:solidFill>
                  <a:srgbClr val="5B6372"/>
                </a:solidFill>
                <a:latin typeface="Arial"/>
              </a:rPr>
              <a:t>The mediator manages fairness and dialogue, not a preferred outcome.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Validation</a:t>
            </a:r>
          </a:p>
          <a:p>
            <a:pPr algn="l">
              <a:spcAft>
                <a:spcPts val="300"/>
              </a:spcAft>
            </a:pPr>
            <a:r>
              <a:rPr sz="1200" b="0">
                <a:solidFill>
                  <a:srgbClr val="5B6372"/>
                </a:solidFill>
                <a:latin typeface="Arial"/>
              </a:rPr>
              <a:t>Recognise a person's experience without deciding that every claim is correct.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Reframing</a:t>
            </a:r>
          </a:p>
          <a:p>
            <a:pPr algn="l">
              <a:spcAft>
                <a:spcPts val="300"/>
              </a:spcAft>
            </a:pPr>
            <a:r>
              <a:rPr sz="1200" b="0">
                <a:solidFill>
                  <a:srgbClr val="5B6372"/>
                </a:solidFill>
                <a:latin typeface="Arial"/>
              </a:rPr>
              <a:t>Translate blame and fixed positions into interests, impact and requests.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Agreement</a:t>
            </a:r>
          </a:p>
          <a:p>
            <a:pPr algn="l">
              <a:spcAft>
                <a:spcPts val="300"/>
              </a:spcAft>
            </a:pPr>
            <a:r>
              <a:rPr sz="1200" b="0">
                <a:solidFill>
                  <a:srgbClr val="5B6372"/>
                </a:solidFill>
                <a:latin typeface="Arial"/>
              </a:rPr>
              <a:t>Record specific behaviours, owners, timing, support and review.</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UC Berkeley Ombuds; Training Industry; Study.com</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CLEAR Mediation Cycle</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Cool and check</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Confirm readiness, safety, scope and confidentiality boundary.</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Listen</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Give equal uninterrupted time; paraphrase and clarify.</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Explore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Surface impact, needs, common goals and root causes.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Agree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Generate options and reality-test fairness and feasibility.</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Record and review</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Document commitments and schedule follow-up.</a:t>
            </a:r>
          </a:p>
        </p:txBody>
      </p:sp>
      <p:sp>
        <p:nvSpPr>
          <p:cNvPr id="40" name="TextBox 39"/>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1" name="TextBox 40"/>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2" name="TextBox 41"/>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Blame Language vs Reframing</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Escalating statement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Mediator reframe</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Taylor shoots down everything I say.</a:t>
            </a:r>
          </a:p>
          <a:p>
            <a:pPr>
              <a:spcAft>
                <a:spcPts val="1000"/>
              </a:spcAft>
            </a:pPr>
            <a:r>
              <a:rPr sz="1600" b="0">
                <a:solidFill>
                  <a:srgbClr val="161B26"/>
                </a:solidFill>
                <a:latin typeface="Arial"/>
              </a:rPr>
              <a:t>•  Alex cannot take feedback.</a:t>
            </a:r>
          </a:p>
          <a:p>
            <a:pPr>
              <a:spcAft>
                <a:spcPts val="1000"/>
              </a:spcAft>
            </a:pPr>
            <a:r>
              <a:rPr sz="1600" b="0">
                <a:solidFill>
                  <a:srgbClr val="161B26"/>
                </a:solidFill>
                <a:latin typeface="Arial"/>
              </a:rPr>
              <a:t>•  This always happens.</a:t>
            </a:r>
          </a:p>
          <a:p>
            <a:pPr>
              <a:spcAft>
                <a:spcPts val="1000"/>
              </a:spcAft>
            </a:pPr>
            <a:r>
              <a:rPr sz="1600" b="0">
                <a:solidFill>
                  <a:srgbClr val="161B26"/>
                </a:solidFill>
                <a:latin typeface="Arial"/>
              </a:rPr>
              <a:t>•  I want an apology before we continue.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You need space to finish ideas before critique begins.</a:t>
            </a:r>
          </a:p>
          <a:p>
            <a:pPr>
              <a:spcAft>
                <a:spcPts val="1000"/>
              </a:spcAft>
            </a:pPr>
            <a:r>
              <a:rPr sz="1600" b="0">
                <a:solidFill>
                  <a:srgbClr val="161B26"/>
                </a:solidFill>
                <a:latin typeface="Arial"/>
              </a:rPr>
              <a:t>•  You need feedback to be considered without defensiveness.</a:t>
            </a:r>
          </a:p>
          <a:p>
            <a:pPr>
              <a:spcAft>
                <a:spcPts val="1000"/>
              </a:spcAft>
            </a:pPr>
            <a:r>
              <a:rPr sz="1600" b="0">
                <a:solidFill>
                  <a:srgbClr val="161B26"/>
                </a:solidFill>
                <a:latin typeface="Arial"/>
              </a:rPr>
              <a:t>•  Let's identify the specific recent pattern and impact.</a:t>
            </a:r>
          </a:p>
          <a:p>
            <a:pPr>
              <a:spcAft>
                <a:spcPts val="1000"/>
              </a:spcAft>
            </a:pPr>
            <a:r>
              <a:rPr sz="1600" b="0">
                <a:solidFill>
                  <a:srgbClr val="161B26"/>
                </a:solidFill>
                <a:latin typeface="Arial"/>
              </a:rPr>
              <a:t>•  What acknowledgement and future behaviour would support repair?</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supplied active-listening, validation and non-defensive communication guidance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Mediator Quality Markers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Equal voice</a:t>
            </a:r>
          </a:p>
          <a:p>
            <a:pPr algn="l">
              <a:spcAft>
                <a:spcPts val="300"/>
              </a:spcAft>
            </a:pPr>
            <a:r>
              <a:rPr sz="1200" b="0">
                <a:solidFill>
                  <a:srgbClr val="5B6372"/>
                </a:solidFill>
                <a:latin typeface="Arial"/>
              </a:rPr>
              <a:t>Comparable time, questions and opportunity to respond.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Specificity</a:t>
            </a:r>
          </a:p>
          <a:p>
            <a:pPr algn="l">
              <a:spcAft>
                <a:spcPts val="300"/>
              </a:spcAft>
            </a:pPr>
            <a:r>
              <a:rPr sz="1200" b="0">
                <a:solidFill>
                  <a:srgbClr val="5B6372"/>
                </a:solidFill>
                <a:latin typeface="Arial"/>
              </a:rPr>
              <a:t>Behaviour, context and impact replace character labels.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Voluntary options</a:t>
            </a:r>
          </a:p>
          <a:p>
            <a:pPr algn="l">
              <a:spcAft>
                <a:spcPts val="300"/>
              </a:spcAft>
            </a:pPr>
            <a:r>
              <a:rPr sz="1200" b="0">
                <a:solidFill>
                  <a:srgbClr val="5B6372"/>
                </a:solidFill>
                <a:latin typeface="Arial"/>
              </a:rPr>
              <a:t>Parties generate and test choices within policy limits.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Durable follow-up</a:t>
            </a:r>
          </a:p>
          <a:p>
            <a:pPr algn="l">
              <a:spcAft>
                <a:spcPts val="300"/>
              </a:spcAft>
            </a:pPr>
            <a:r>
              <a:rPr sz="1200" b="0">
                <a:solidFill>
                  <a:srgbClr val="5B6372"/>
                </a:solidFill>
                <a:latin typeface="Arial"/>
              </a:rPr>
              <a:t>Commitments are observable, owned and reviewed.</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worked example</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Critique became personal before anyone named the process</a:t>
            </a:r>
          </a:p>
        </p:txBody>
      </p:sp>
      <p:sp>
        <p:nvSpPr>
          <p:cNvPr id="6" name="Rectangle 5"/>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0" name="TextBox 9"/>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Mosaic Creative</a:t>
            </a:r>
          </a:p>
        </p:txBody>
      </p:sp>
      <p:sp>
        <p:nvSpPr>
          <p:cNvPr id="11" name="TextBox 10"/>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Designer Alex needs uninterrupted time to present concepts; reviewer Taylor needs earlier risk testing. The mediator reframes the clash into a new critique protocol with time-boxes and a follow-up review.</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350"/>
                                        <p:tgtEl>
                                          <p:spTgt spid="10"/>
                                        </p:tgtEl>
                                      </p:cBhvr>
                                    </p:animEffect>
                                    <p:anim calcmode="lin" valueType="num">
                                      <p:cBhvr additive="base">
                                        <p:cTn id="3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Mediated Conversation at Mosaic Creative</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At Mosaic Creative, designer Alex says reviewer Taylor undermines ideas in client-preparation meetings by interrupting with risks. Taylor says Alex dismisses feedback and presents concepts too late for proper review.</a:t>
            </a:r>
          </a:p>
          <a:p>
            <a:pPr algn="l">
              <a:spcAft>
                <a:spcPts val="800"/>
              </a:spcAft>
            </a:pPr>
            <a:r>
              <a:rPr sz="1450" b="0">
                <a:solidFill>
                  <a:srgbClr val="161B26"/>
                </a:solidFill>
                <a:latin typeface="Arial"/>
              </a:rPr>
              <a:t>Their manager Jordan will mediate. The shared goal is to improve client work without silencing critique. The issue is appropriate for mediation: there is no current allegation of harassment, discrimination or threat, and both parties agree to participate.</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recorded mediation role play, observer checklist and written resolution agreement</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60 minutes</a:t>
            </a:r>
          </a:p>
        </p:txBody>
      </p:sp>
      <p:sp>
        <p:nvSpPr>
          <p:cNvPr id="15" name="TextBox 1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6" name="TextBox 1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7" name="TextBox 1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Mediated Conversation at Mosaic Creative</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opening establishes purpose, neutrality and limits of confidentiality?</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will Jordan validate each perspective without taking sides?</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shared interests can move the dialogue beyond positions?</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specific agreement would change the next design review?</a:t>
            </a:r>
          </a:p>
        </p:txBody>
      </p:sp>
      <p:sp>
        <p:nvSpPr>
          <p:cNvPr id="27" name="TextBox 2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8" name="TextBox 2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9" name="TextBox 2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wipe dir="l"/>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T2 · ACTIVITY 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Mediated Conversation at Mosaic Creative</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mediator speak less than the parties and use balanced summaries?</a:t>
            </a:r>
          </a:p>
          <a:p>
            <a:pPr>
              <a:spcAft>
                <a:spcPts val="900"/>
              </a:spcAft>
            </a:pPr>
            <a:r>
              <a:rPr sz="1450" b="0">
                <a:solidFill>
                  <a:srgbClr val="161B26"/>
                </a:solidFill>
                <a:latin typeface="Arial"/>
              </a:rPr>
              <a:t>•  Did the agreement contain behaviours, owner, date and follow-up evidence?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role play completes the CLEAR cycle and produces a balanced, observable and reviewable agreement.</a:t>
            </a:r>
          </a:p>
        </p:txBody>
      </p:sp>
      <p:sp>
        <p:nvSpPr>
          <p:cNvPr id="13" name="TextBox 1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4" name="TextBox 1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5" name="TextBox 1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LO2 · Topic 2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an interest-based workplace negotiation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T3</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an interest-based workplace negotiation?</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Position</a:t>
            </a:r>
          </a:p>
          <a:p>
            <a:pPr algn="l">
              <a:spcAft>
                <a:spcPts val="300"/>
              </a:spcAft>
            </a:pPr>
            <a:r>
              <a:rPr sz="1200" b="0">
                <a:solidFill>
                  <a:srgbClr val="5B6372"/>
                </a:solidFill>
                <a:latin typeface="Arial"/>
              </a:rPr>
              <a:t>The stated demand: what a party says it wants.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Interest</a:t>
            </a:r>
          </a:p>
          <a:p>
            <a:pPr algn="l">
              <a:spcAft>
                <a:spcPts val="300"/>
              </a:spcAft>
            </a:pPr>
            <a:r>
              <a:rPr sz="1200" b="0">
                <a:solidFill>
                  <a:srgbClr val="5B6372"/>
                </a:solidFill>
                <a:latin typeface="Arial"/>
              </a:rPr>
              <a:t>The reason underneath: safety, fairness, recognition, time or control.</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Option</a:t>
            </a:r>
          </a:p>
          <a:p>
            <a:pPr algn="l">
              <a:spcAft>
                <a:spcPts val="300"/>
              </a:spcAft>
            </a:pPr>
            <a:r>
              <a:rPr sz="1200" b="0">
                <a:solidFill>
                  <a:srgbClr val="5B6372"/>
                </a:solidFill>
                <a:latin typeface="Arial"/>
              </a:rPr>
              <a:t>A possible package that addresses more than one interest.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Criterion</a:t>
            </a:r>
          </a:p>
          <a:p>
            <a:pPr algn="l">
              <a:spcAft>
                <a:spcPts val="300"/>
              </a:spcAft>
            </a:pPr>
            <a:r>
              <a:rPr sz="1200" b="0">
                <a:solidFill>
                  <a:srgbClr val="5B6372"/>
                </a:solidFill>
                <a:latin typeface="Arial"/>
              </a:rPr>
              <a:t>An external standard, data point or policy used to evaluate fairness.</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Harvard Program on Negotiation; Coursera; Indeed</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T3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Interest-Based Negotiation</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Prepare</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List interests, evidence, authority, alternatives and non-negotiables.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Open</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State common goal, issue and respectful process.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Explore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Ask and summarise before proposing.</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Create</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Build packages and trade across differing priorities.</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Close</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Reality-test, document and plan review.</a:t>
            </a:r>
          </a:p>
        </p:txBody>
      </p:sp>
      <p:sp>
        <p:nvSpPr>
          <p:cNvPr id="40" name="TextBox 39"/>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1" name="TextBox 40"/>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2" name="TextBox 41"/>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T3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Position Bargaining vs Interest-Based Dialogue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Position bargaining</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Interest-based dialogue</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We need two more nurses—non-negotiable.</a:t>
            </a:r>
          </a:p>
          <a:p>
            <a:pPr>
              <a:spcAft>
                <a:spcPts val="1000"/>
              </a:spcAft>
            </a:pPr>
            <a:r>
              <a:rPr sz="1600" b="0">
                <a:solidFill>
                  <a:srgbClr val="161B26"/>
                </a:solidFill>
                <a:latin typeface="Arial"/>
              </a:rPr>
              <a:t>•  Your team must cover weekends.</a:t>
            </a:r>
          </a:p>
          <a:p>
            <a:pPr>
              <a:spcAft>
                <a:spcPts val="1000"/>
              </a:spcAft>
            </a:pPr>
            <a:r>
              <a:rPr sz="1600" b="0">
                <a:solidFill>
                  <a:srgbClr val="161B26"/>
                </a:solidFill>
                <a:latin typeface="Arial"/>
              </a:rPr>
              <a:t>•  Split everything 50/50.</a:t>
            </a:r>
          </a:p>
          <a:p>
            <a:pPr>
              <a:spcAft>
                <a:spcPts val="1000"/>
              </a:spcAft>
            </a:pPr>
            <a:r>
              <a:rPr sz="1600" b="0">
                <a:solidFill>
                  <a:srgbClr val="161B26"/>
                </a:solidFill>
                <a:latin typeface="Arial"/>
              </a:rPr>
              <a:t>•  Agree now or I escalate.</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Which patient-safety and workload needs are driving the request?</a:t>
            </a:r>
          </a:p>
          <a:p>
            <a:pPr>
              <a:spcAft>
                <a:spcPts val="1000"/>
              </a:spcAft>
            </a:pPr>
            <a:r>
              <a:rPr sz="1600" b="0">
                <a:solidFill>
                  <a:srgbClr val="161B26"/>
                </a:solidFill>
                <a:latin typeface="Arial"/>
              </a:rPr>
              <a:t>•  What coverage pattern protects both continuity and staff recovery?</a:t>
            </a:r>
          </a:p>
          <a:p>
            <a:pPr>
              <a:spcAft>
                <a:spcPts val="1000"/>
              </a:spcAft>
            </a:pPr>
            <a:r>
              <a:rPr sz="1600" b="0">
                <a:solidFill>
                  <a:srgbClr val="161B26"/>
                </a:solidFill>
                <a:latin typeface="Arial"/>
              </a:rPr>
              <a:t>•  Which criteria make the distribution fair for different shift demands?</a:t>
            </a:r>
          </a:p>
          <a:p>
            <a:pPr>
              <a:spcAft>
                <a:spcPts val="1000"/>
              </a:spcAft>
            </a:pPr>
            <a:r>
              <a:rPr sz="1600" b="0">
                <a:solidFill>
                  <a:srgbClr val="161B26"/>
                </a:solidFill>
                <a:latin typeface="Arial"/>
              </a:rPr>
              <a:t>•  What is within our authority, and what requires approval?</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interest-based negotiation synthesis from Harvard PON guidance</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Topic 2 · T3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Objective Criteria for the Clinic Rota</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Patient demand</a:t>
            </a:r>
          </a:p>
          <a:p>
            <a:pPr algn="l">
              <a:spcAft>
                <a:spcPts val="300"/>
              </a:spcAft>
            </a:pPr>
            <a:r>
              <a:rPr sz="1200" b="0">
                <a:solidFill>
                  <a:srgbClr val="5B6372"/>
                </a:solidFill>
                <a:latin typeface="Arial"/>
              </a:rPr>
              <a:t>Appointments, acuity and peak-time risk.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Workload</a:t>
            </a:r>
          </a:p>
          <a:p>
            <a:pPr algn="l">
              <a:spcAft>
                <a:spcPts val="300"/>
              </a:spcAft>
            </a:pPr>
            <a:r>
              <a:rPr sz="1200" b="0">
                <a:solidFill>
                  <a:srgbClr val="5B6372"/>
                </a:solidFill>
                <a:latin typeface="Arial"/>
              </a:rPr>
              <a:t>Hours, complexity, recovery time and overtime.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Capability</a:t>
            </a:r>
          </a:p>
          <a:p>
            <a:pPr algn="l">
              <a:spcAft>
                <a:spcPts val="300"/>
              </a:spcAft>
            </a:pPr>
            <a:r>
              <a:rPr sz="1200" b="0">
                <a:solidFill>
                  <a:srgbClr val="5B6372"/>
                </a:solidFill>
                <a:latin typeface="Arial"/>
              </a:rPr>
              <a:t>Required skills and safe coverage mix.</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Fairness</a:t>
            </a:r>
          </a:p>
          <a:p>
            <a:pPr algn="l">
              <a:spcAft>
                <a:spcPts val="300"/>
              </a:spcAft>
            </a:pPr>
            <a:r>
              <a:rPr sz="1200" b="0">
                <a:solidFill>
                  <a:srgbClr val="5B6372"/>
                </a:solidFill>
                <a:latin typeface="Arial"/>
              </a:rPr>
              <a:t>Rotation history, constraints and transparent exceptions.</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worked example</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Interest-Based Negotiation at CarePoint Clinics</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CarePoint Clinics must cover three Saturday vaccination sessions during a seasonal surge. Nurse lead Mei wants two extra staff at each session; operations lead Arjun says the overtime ceiling permits only one.</a:t>
            </a:r>
          </a:p>
          <a:p>
            <a:pPr algn="l">
              <a:spcAft>
                <a:spcPts val="800"/>
              </a:spcAft>
            </a:pPr>
            <a:r>
              <a:rPr sz="1450" b="0">
                <a:solidFill>
                  <a:srgbClr val="161B26"/>
                </a:solidFill>
                <a:latin typeface="Arial"/>
              </a:rPr>
              <a:t>Both need safe patient care and sustainable staffing. Each receives private interests and tradeable options, then negotiates a package using demand data, skill coverage, overtime limits and rotation history.</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negotiation preparation sheet, observed role play and signed implementation record</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60 minutes</a:t>
            </a:r>
          </a:p>
        </p:txBody>
      </p:sp>
      <p:sp>
        <p:nvSpPr>
          <p:cNvPr id="15" name="TextBox 1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6" name="TextBox 1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7" name="TextBox 1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Interest-Based Negotiation at CarePoint Clinics</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are each party's positions, interests, constraints and alternatives?</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objective criteria should guide a fair rota?</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package trades across time, skill mix, session design and budget?</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must be recorded so implementation does not create a new conflict?</a:t>
            </a:r>
          </a:p>
        </p:txBody>
      </p:sp>
      <p:sp>
        <p:nvSpPr>
          <p:cNvPr id="27" name="TextBox 2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8" name="TextBox 2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9" name="TextBox 2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wipe dir="l"/>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Topic 2 · T3 · ACTIVITY 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Interest-Based Negotiation at CarePoint Clinics</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parties ask enough questions before exchanging proposals?</a:t>
            </a:r>
          </a:p>
          <a:p>
            <a:pPr>
              <a:spcAft>
                <a:spcPts val="900"/>
              </a:spcAft>
            </a:pPr>
            <a:r>
              <a:rPr sz="1450" b="0">
                <a:solidFill>
                  <a:srgbClr val="161B26"/>
                </a:solidFill>
                <a:latin typeface="Arial"/>
              </a:rPr>
              <a:t>•  Did the final package meet safety and authority boundaries?</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agreement explains interests, criteria, trade-offs, owners, escalation conditions and review date.</a:t>
            </a:r>
          </a:p>
        </p:txBody>
      </p:sp>
      <p:sp>
        <p:nvSpPr>
          <p:cNvPr id="13" name="TextBox 1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4" name="TextBox 1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5" name="TextBox 1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2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Conflict Resolution Strategies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Conflict Style Choice Clinic at BrightWorks Digital</a:t>
            </a:r>
          </a:p>
          <a:p>
            <a:pPr algn="l">
              <a:spcAft>
                <a:spcPts val="300"/>
              </a:spcAft>
            </a:pPr>
            <a:r>
              <a:rPr sz="1200" b="0">
                <a:solidFill>
                  <a:srgbClr val="5B6372"/>
                </a:solidFill>
                <a:latin typeface="Arial"/>
              </a:rPr>
              <a:t>You can now: select and justify a conflict style based on stakes, urgency, relationship and power.</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Mediated Conversation at Mosaic Creative</a:t>
            </a:r>
          </a:p>
          <a:p>
            <a:pPr algn="l">
              <a:spcAft>
                <a:spcPts val="300"/>
              </a:spcAft>
            </a:pPr>
            <a:r>
              <a:rPr sz="1200" b="0">
                <a:solidFill>
                  <a:srgbClr val="5B6372"/>
                </a:solidFill>
                <a:latin typeface="Arial"/>
              </a:rPr>
              <a:t>You can now: conduct a sensitive mediated conversation using active listening, validation and option generation.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Interest-Based Negotiation at CarePoint Clinics</a:t>
            </a:r>
          </a:p>
          <a:p>
            <a:pPr algn="l">
              <a:spcAft>
                <a:spcPts val="300"/>
              </a:spcAft>
            </a:pPr>
            <a:r>
              <a:rPr sz="1200" b="0">
                <a:solidFill>
                  <a:srgbClr val="5B6372"/>
                </a:solidFill>
                <a:latin typeface="Arial"/>
              </a:rPr>
              <a:t>You can now: negotiate workload and service priorities using interests, options and objective criteria.</a:t>
            </a:r>
          </a:p>
        </p:txBody>
      </p:sp>
      <p:sp>
        <p:nvSpPr>
          <p:cNvPr id="21" name="TextBox 20"/>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2" name="TextBox 21"/>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3" name="TextBox 22"/>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2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best strategy fits the stakes, urgency, relationship and power—not habit.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Pause, listen for interests, generate options, agree actions and record follow-up.</a:t>
            </a:r>
          </a:p>
        </p:txBody>
      </p:sp>
      <p:sp>
        <p:nvSpPr>
          <p:cNvPr id="7" name="TextBox 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8" name="TextBox 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9" name="TextBox 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zoom/>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Managing Team Conflicts in the Workplace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Leader accountability · Team norms · Policy · Fair process · Coaching · Productive disagreement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Topic 3</a:t>
            </a:r>
          </a:p>
        </p:txBody>
      </p:sp>
      <p:sp>
        <p:nvSpPr>
          <p:cNvPr id="9" name="TextBox 8"/>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0" name="TextBox 9"/>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1" name="TextBox 10"/>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350"/>
                                        <p:tgtEl>
                                          <p:spTgt spid="7"/>
                                        </p:tgtEl>
                                      </p:cBhvr>
                                    </p:animEffect>
                                    <p:anim calcmode="lin" valueType="num">
                                      <p:cBhvr additive="base">
                                        <p:cTn id="4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Key Concepts — Managing Team Conflicts in the Workplace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Leaders set conditions for productive disagreement through clear roles, decision rights, behavioural norms, open channels and timely intervention.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Task conflict can improve decisions when psychological safety and shared goals are strong; relationship conflict and personal attacks usually erode collaboration.</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fair process gives each person notice, equal opportunity to speak, neutral fact-finding, confidentiality on a need-to-know basis and a documented outcome.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Organisational policies determine reporting, investigation, support, mediation, discipline, appeal, record-keeping and escalation responsibilities.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Conflict coaching helps team members notice patterns, reframe assumptions, choose a conversation strategy, practise language and commit to observable behaviour.</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Managers must avoid retaliation, favoritism, forced reconciliation, premature promises of secrecy and informal handling of matters that require specialist or formal action.</a:t>
            </a:r>
          </a:p>
        </p:txBody>
      </p:sp>
      <p:sp>
        <p:nvSpPr>
          <p:cNvPr id="36" name="TextBox 3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7" name="TextBox 3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8" name="TextBox 3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LEADERSHIP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Leaders shape the conditions around conflict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leader is accountable for both the conversation and the work system.</a:t>
            </a:r>
          </a:p>
        </p:txBody>
      </p:sp>
      <p:sp>
        <p:nvSpPr>
          <p:cNvPr id="7" name="Rectangle 6"/>
          <p:cNvSpPr/>
          <p:nvPr/>
        </p:nvSpPr>
        <p:spPr>
          <a:xfrm>
            <a:off x="777240"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9156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Model</a:t>
            </a:r>
          </a:p>
        </p:txBody>
      </p:sp>
      <p:sp>
        <p:nvSpPr>
          <p:cNvPr id="10" name="TextBox 9"/>
          <p:cNvSpPr txBox="1"/>
          <p:nvPr/>
        </p:nvSpPr>
        <p:spPr>
          <a:xfrm>
            <a:off x="1051560"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Regulate emotion, use neutral language, invite dissent and avoid public blame.</a:t>
            </a:r>
          </a:p>
        </p:txBody>
      </p:sp>
      <p:sp>
        <p:nvSpPr>
          <p:cNvPr id="11" name="Rectangle 10"/>
          <p:cNvSpPr/>
          <p:nvPr/>
        </p:nvSpPr>
        <p:spPr>
          <a:xfrm>
            <a:off x="6231636"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9156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Clarify</a:t>
            </a:r>
          </a:p>
        </p:txBody>
      </p:sp>
      <p:sp>
        <p:nvSpPr>
          <p:cNvPr id="14" name="TextBox 13"/>
          <p:cNvSpPr txBox="1"/>
          <p:nvPr/>
        </p:nvSpPr>
        <p:spPr>
          <a:xfrm>
            <a:off x="6505956"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Set goals, roles, decision rights, handoffs and behavioural expectations.</a:t>
            </a:r>
          </a:p>
        </p:txBody>
      </p:sp>
      <p:sp>
        <p:nvSpPr>
          <p:cNvPr id="15" name="Rectangle 14"/>
          <p:cNvSpPr/>
          <p:nvPr/>
        </p:nvSpPr>
        <p:spPr>
          <a:xfrm>
            <a:off x="777240"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10812"/>
            <a:ext cx="91440" cy="19156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375404"/>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Intervene</a:t>
            </a:r>
          </a:p>
        </p:txBody>
      </p:sp>
      <p:sp>
        <p:nvSpPr>
          <p:cNvPr id="18" name="TextBox 17"/>
          <p:cNvSpPr txBox="1"/>
          <p:nvPr/>
        </p:nvSpPr>
        <p:spPr>
          <a:xfrm>
            <a:off x="1051560"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Respond early, protect voice and choose coaching, facilitation or formal escalation appropriately.</a:t>
            </a:r>
          </a:p>
        </p:txBody>
      </p:sp>
      <p:sp>
        <p:nvSpPr>
          <p:cNvPr id="19" name="Rectangle 18"/>
          <p:cNvSpPr/>
          <p:nvPr/>
        </p:nvSpPr>
        <p:spPr>
          <a:xfrm>
            <a:off x="6231636"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4210812"/>
            <a:ext cx="91440" cy="19156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4375404"/>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Learn</a:t>
            </a:r>
          </a:p>
        </p:txBody>
      </p:sp>
      <p:sp>
        <p:nvSpPr>
          <p:cNvPr id="22" name="TextBox 21"/>
          <p:cNvSpPr txBox="1"/>
          <p:nvPr/>
        </p:nvSpPr>
        <p:spPr>
          <a:xfrm>
            <a:off x="6505956"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Review outcomes, remove structural causes and track recurrence risk.</a:t>
            </a:r>
          </a:p>
        </p:txBody>
      </p:sp>
      <p:sp>
        <p:nvSpPr>
          <p:cNvPr id="23" name="TextBox 2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4" name="TextBox 2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5" name="TextBox 2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COACHING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COACH: a fair accountability conversation</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Specificity plus listening creates accountability without humiliation.</a:t>
            </a: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Contract</a:t>
            </a:r>
          </a:p>
        </p:txBody>
      </p:sp>
      <p:sp>
        <p:nvSpPr>
          <p:cNvPr id="12" name="TextBox 11"/>
          <p:cNvSpPr txBox="1"/>
          <p:nvPr/>
        </p:nvSpPr>
        <p:spPr>
          <a:xfrm>
            <a:off x="905256"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Purpose, time, scope and respectful participation.</a:t>
            </a:r>
          </a:p>
        </p:txBody>
      </p:sp>
      <p:sp>
        <p:nvSpPr>
          <p:cNvPr id="13" name="Chevron 12"/>
          <p:cNvSpPr/>
          <p:nvPr/>
        </p:nvSpPr>
        <p:spPr>
          <a:xfrm>
            <a:off x="2702966"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83533"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87014"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Observe</a:t>
            </a:r>
          </a:p>
        </p:txBody>
      </p:sp>
      <p:sp>
        <p:nvSpPr>
          <p:cNvPr id="19" name="TextBox 18"/>
          <p:cNvSpPr txBox="1"/>
          <p:nvPr/>
        </p:nvSpPr>
        <p:spPr>
          <a:xfrm>
            <a:off x="3087014"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Specific behaviour, context and impact.</a:t>
            </a:r>
          </a:p>
        </p:txBody>
      </p:sp>
      <p:sp>
        <p:nvSpPr>
          <p:cNvPr id="20" name="Chevron 19"/>
          <p:cNvSpPr/>
          <p:nvPr/>
        </p:nvSpPr>
        <p:spPr>
          <a:xfrm>
            <a:off x="4884724"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65291"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68772"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Ask</a:t>
            </a:r>
          </a:p>
        </p:txBody>
      </p:sp>
      <p:sp>
        <p:nvSpPr>
          <p:cNvPr id="26" name="TextBox 25"/>
          <p:cNvSpPr txBox="1"/>
          <p:nvPr/>
        </p:nvSpPr>
        <p:spPr>
          <a:xfrm>
            <a:off x="5268772"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Perspective, needs, barriers and system factors.</a:t>
            </a:r>
          </a:p>
        </p:txBody>
      </p:sp>
      <p:sp>
        <p:nvSpPr>
          <p:cNvPr id="27" name="Chevron 26"/>
          <p:cNvSpPr/>
          <p:nvPr/>
        </p:nvSpPr>
        <p:spPr>
          <a:xfrm>
            <a:off x="7066482"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7049"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50530"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Create</a:t>
            </a:r>
          </a:p>
        </p:txBody>
      </p:sp>
      <p:sp>
        <p:nvSpPr>
          <p:cNvPr id="33" name="TextBox 32"/>
          <p:cNvSpPr txBox="1"/>
          <p:nvPr/>
        </p:nvSpPr>
        <p:spPr>
          <a:xfrm>
            <a:off x="7450530"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Employee options, leader support and repair actions.</a:t>
            </a:r>
          </a:p>
        </p:txBody>
      </p:sp>
      <p:sp>
        <p:nvSpPr>
          <p:cNvPr id="34" name="Chevron 33"/>
          <p:cNvSpPr/>
          <p:nvPr/>
        </p:nvSpPr>
        <p:spPr>
          <a:xfrm>
            <a:off x="9248240" y="344728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28807" y="255117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32288"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Hold</a:t>
            </a:r>
          </a:p>
        </p:txBody>
      </p:sp>
      <p:sp>
        <p:nvSpPr>
          <p:cNvPr id="40" name="TextBox 39"/>
          <p:cNvSpPr txBox="1"/>
          <p:nvPr/>
        </p:nvSpPr>
        <p:spPr>
          <a:xfrm>
            <a:off x="9632288"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Commitment, evidence, review and escalation boundary.</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Coaching must not replace a required grievance, safety or formal performance process.</a:t>
            </a:r>
          </a:p>
        </p:txBody>
      </p:sp>
      <p:sp>
        <p:nvSpPr>
          <p:cNvPr id="44" name="TextBox 43"/>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5" name="TextBox 44"/>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6" name="TextBox 45"/>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 SHARED RESPONSIBILITY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Team conflict has more than one owner</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Durable repair links individual behaviour, team norms and organisational systems.</a:t>
            </a:r>
          </a:p>
        </p:txBody>
      </p:sp>
      <p:sp>
        <p:nvSpPr>
          <p:cNvPr id="7" name="Rectangle 6"/>
          <p:cNvSpPr/>
          <p:nvPr/>
        </p:nvSpPr>
        <p:spPr>
          <a:xfrm>
            <a:off x="777240" y="2194560"/>
            <a:ext cx="1874519"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2194560"/>
            <a:ext cx="1618487" cy="981456"/>
          </a:xfrm>
          <a:prstGeom prst="rect">
            <a:avLst/>
          </a:prstGeom>
          <a:noFill/>
        </p:spPr>
        <p:txBody>
          <a:bodyPr wrap="square" anchor="ctr">
            <a:spAutoFit/>
          </a:bodyPr>
          <a:lstStyle/>
          <a:p>
            <a:pPr algn="l">
              <a:spcAft>
                <a:spcPts val="400"/>
              </a:spcAft>
            </a:pPr>
            <a:r>
              <a:rPr sz="1200" b="1">
                <a:solidFill>
                  <a:srgbClr val="FFFFFF"/>
                </a:solidFill>
                <a:latin typeface="Arial"/>
              </a:rPr>
              <a:t>Leader</a:t>
            </a:r>
          </a:p>
        </p:txBody>
      </p:sp>
      <p:sp>
        <p:nvSpPr>
          <p:cNvPr id="9" name="Rectangle 8"/>
          <p:cNvSpPr/>
          <p:nvPr/>
        </p:nvSpPr>
        <p:spPr>
          <a:xfrm>
            <a:off x="2834639" y="2194560"/>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34639" y="2194560"/>
            <a:ext cx="64008"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1" y="2194560"/>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Name standard</a:t>
            </a:r>
          </a:p>
        </p:txBody>
      </p:sp>
      <p:sp>
        <p:nvSpPr>
          <p:cNvPr id="12" name="Rectangle 11"/>
          <p:cNvSpPr/>
          <p:nvPr/>
        </p:nvSpPr>
        <p:spPr>
          <a:xfrm>
            <a:off x="5070347" y="2194560"/>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70347" y="2194560"/>
            <a:ext cx="64008"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4939" y="2194560"/>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Invite accounts</a:t>
            </a:r>
          </a:p>
        </p:txBody>
      </p:sp>
      <p:sp>
        <p:nvSpPr>
          <p:cNvPr id="15" name="Rectangle 14"/>
          <p:cNvSpPr/>
          <p:nvPr/>
        </p:nvSpPr>
        <p:spPr>
          <a:xfrm>
            <a:off x="7306055" y="2194560"/>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06055" y="2194560"/>
            <a:ext cx="64008"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0647" y="2194560"/>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Provide support</a:t>
            </a:r>
          </a:p>
        </p:txBody>
      </p:sp>
      <p:sp>
        <p:nvSpPr>
          <p:cNvPr id="18" name="Rectangle 17"/>
          <p:cNvSpPr/>
          <p:nvPr/>
        </p:nvSpPr>
        <p:spPr>
          <a:xfrm>
            <a:off x="9541763" y="2194560"/>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541763" y="2194560"/>
            <a:ext cx="64008" cy="9814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06355" y="2194560"/>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Review progress</a:t>
            </a:r>
          </a:p>
        </p:txBody>
      </p:sp>
      <p:sp>
        <p:nvSpPr>
          <p:cNvPr id="21" name="Rectangle 20"/>
          <p:cNvSpPr/>
          <p:nvPr/>
        </p:nvSpPr>
        <p:spPr>
          <a:xfrm>
            <a:off x="777240" y="3304032"/>
            <a:ext cx="1874519" cy="9814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 y="3304032"/>
            <a:ext cx="1618487" cy="981456"/>
          </a:xfrm>
          <a:prstGeom prst="rect">
            <a:avLst/>
          </a:prstGeom>
          <a:noFill/>
        </p:spPr>
        <p:txBody>
          <a:bodyPr wrap="square" anchor="ctr">
            <a:spAutoFit/>
          </a:bodyPr>
          <a:lstStyle/>
          <a:p>
            <a:pPr algn="l">
              <a:spcAft>
                <a:spcPts val="400"/>
              </a:spcAft>
            </a:pPr>
            <a:r>
              <a:rPr sz="1200" b="1">
                <a:solidFill>
                  <a:srgbClr val="FFFFFF"/>
                </a:solidFill>
                <a:latin typeface="Arial"/>
              </a:rPr>
              <a:t>Team</a:t>
            </a:r>
          </a:p>
        </p:txBody>
      </p:sp>
      <p:sp>
        <p:nvSpPr>
          <p:cNvPr id="23" name="Rectangle 22"/>
          <p:cNvSpPr/>
          <p:nvPr/>
        </p:nvSpPr>
        <p:spPr>
          <a:xfrm>
            <a:off x="2834639" y="3304032"/>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834639" y="3304032"/>
            <a:ext cx="64008" cy="9814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99231" y="3304032"/>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Agree norms</a:t>
            </a:r>
          </a:p>
        </p:txBody>
      </p:sp>
      <p:sp>
        <p:nvSpPr>
          <p:cNvPr id="26" name="Rectangle 25"/>
          <p:cNvSpPr/>
          <p:nvPr/>
        </p:nvSpPr>
        <p:spPr>
          <a:xfrm>
            <a:off x="5070347" y="3304032"/>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70347" y="3304032"/>
            <a:ext cx="64008" cy="9814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34939" y="3304032"/>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Repair handoffs</a:t>
            </a:r>
          </a:p>
        </p:txBody>
      </p:sp>
      <p:sp>
        <p:nvSpPr>
          <p:cNvPr id="29" name="Rectangle 28"/>
          <p:cNvSpPr/>
          <p:nvPr/>
        </p:nvSpPr>
        <p:spPr>
          <a:xfrm>
            <a:off x="7306055" y="3304032"/>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06055" y="3304032"/>
            <a:ext cx="64008" cy="9814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70647" y="3304032"/>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Raise concerns early</a:t>
            </a:r>
          </a:p>
        </p:txBody>
      </p:sp>
      <p:sp>
        <p:nvSpPr>
          <p:cNvPr id="32" name="Rectangle 31"/>
          <p:cNvSpPr/>
          <p:nvPr/>
        </p:nvSpPr>
        <p:spPr>
          <a:xfrm>
            <a:off x="9541763" y="3304032"/>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41763" y="3304032"/>
            <a:ext cx="64008" cy="9814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06355" y="3304032"/>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Use feedback data</a:t>
            </a:r>
          </a:p>
        </p:txBody>
      </p:sp>
      <p:sp>
        <p:nvSpPr>
          <p:cNvPr id="35" name="Rectangle 34"/>
          <p:cNvSpPr/>
          <p:nvPr/>
        </p:nvSpPr>
        <p:spPr>
          <a:xfrm>
            <a:off x="777240" y="4413504"/>
            <a:ext cx="1874519"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4413504"/>
            <a:ext cx="1618487" cy="981456"/>
          </a:xfrm>
          <a:prstGeom prst="rect">
            <a:avLst/>
          </a:prstGeom>
          <a:noFill/>
        </p:spPr>
        <p:txBody>
          <a:bodyPr wrap="square" anchor="ctr">
            <a:spAutoFit/>
          </a:bodyPr>
          <a:lstStyle/>
          <a:p>
            <a:pPr algn="l">
              <a:spcAft>
                <a:spcPts val="400"/>
              </a:spcAft>
            </a:pPr>
            <a:r>
              <a:rPr sz="1200" b="1">
                <a:solidFill>
                  <a:srgbClr val="FFFFFF"/>
                </a:solidFill>
                <a:latin typeface="Arial"/>
              </a:rPr>
              <a:t>Organisation</a:t>
            </a:r>
          </a:p>
        </p:txBody>
      </p:sp>
      <p:sp>
        <p:nvSpPr>
          <p:cNvPr id="37" name="Rectangle 36"/>
          <p:cNvSpPr/>
          <p:nvPr/>
        </p:nvSpPr>
        <p:spPr>
          <a:xfrm>
            <a:off x="2834639" y="4413504"/>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834639" y="4413504"/>
            <a:ext cx="64008"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99231" y="4413504"/>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Provide channels</a:t>
            </a:r>
          </a:p>
        </p:txBody>
      </p:sp>
      <p:sp>
        <p:nvSpPr>
          <p:cNvPr id="40" name="Rectangle 39"/>
          <p:cNvSpPr/>
          <p:nvPr/>
        </p:nvSpPr>
        <p:spPr>
          <a:xfrm>
            <a:off x="5070347" y="4413504"/>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70347" y="4413504"/>
            <a:ext cx="64008"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34939" y="4413504"/>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Ensure impartial process</a:t>
            </a:r>
          </a:p>
        </p:txBody>
      </p:sp>
      <p:sp>
        <p:nvSpPr>
          <p:cNvPr id="43" name="Rectangle 42"/>
          <p:cNvSpPr/>
          <p:nvPr/>
        </p:nvSpPr>
        <p:spPr>
          <a:xfrm>
            <a:off x="7306055" y="4413504"/>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06055" y="4413504"/>
            <a:ext cx="64008"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70647" y="4413504"/>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Correct incentives</a:t>
            </a:r>
          </a:p>
        </p:txBody>
      </p:sp>
      <p:sp>
        <p:nvSpPr>
          <p:cNvPr id="46" name="Rectangle 45"/>
          <p:cNvSpPr/>
          <p:nvPr/>
        </p:nvSpPr>
        <p:spPr>
          <a:xfrm>
            <a:off x="9541763" y="4413504"/>
            <a:ext cx="2052828" cy="98145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541763" y="4413504"/>
            <a:ext cx="64008" cy="9814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06355" y="4413504"/>
            <a:ext cx="1778508" cy="981456"/>
          </a:xfrm>
          <a:prstGeom prst="rect">
            <a:avLst/>
          </a:prstGeom>
          <a:noFill/>
        </p:spPr>
        <p:txBody>
          <a:bodyPr wrap="square" anchor="ctr">
            <a:spAutoFit/>
          </a:bodyPr>
          <a:lstStyle/>
          <a:p>
            <a:pPr algn="l">
              <a:spcAft>
                <a:spcPts val="400"/>
              </a:spcAft>
            </a:pPr>
            <a:r>
              <a:rPr sz="1050" b="0">
                <a:solidFill>
                  <a:srgbClr val="161B26"/>
                </a:solidFill>
                <a:latin typeface="Arial"/>
              </a:rPr>
              <a:t>Audit recurrence</a:t>
            </a:r>
          </a:p>
        </p:txBody>
      </p:sp>
      <p:sp>
        <p:nvSpPr>
          <p:cNvPr id="49" name="Chevron 48"/>
          <p:cNvSpPr/>
          <p:nvPr/>
        </p:nvSpPr>
        <p:spPr>
          <a:xfrm>
            <a:off x="4924043" y="4812792"/>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hevron 49"/>
          <p:cNvSpPr/>
          <p:nvPr/>
        </p:nvSpPr>
        <p:spPr>
          <a:xfrm>
            <a:off x="7159751" y="4812792"/>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hevron 50"/>
          <p:cNvSpPr/>
          <p:nvPr/>
        </p:nvSpPr>
        <p:spPr>
          <a:xfrm>
            <a:off x="9395459" y="4812792"/>
            <a:ext cx="109728" cy="182880"/>
          </a:xfrm>
          <a:prstGeom prst="chevron">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8978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Psychological safety means people can raise work concerns without interpersonal punishment—not that every disagreement disappears.</a:t>
            </a:r>
          </a:p>
        </p:txBody>
      </p:sp>
      <p:sp>
        <p:nvSpPr>
          <p:cNvPr id="55" name="TextBox 54"/>
          <p:cNvSpPr txBox="1"/>
          <p:nvPr/>
        </p:nvSpPr>
        <p:spPr>
          <a:xfrm>
            <a:off x="777240" y="5532120"/>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Course synthesis from the supplied leadership and workplace sources</a:t>
            </a:r>
          </a:p>
        </p:txBody>
      </p:sp>
      <p:sp>
        <p:nvSpPr>
          <p:cNvPr id="56" name="TextBox 5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57" name="TextBox 5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58" name="TextBox 5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LEADERSHIP</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Coach the person. Repair the system.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Accountability becomes durable when leaders change the conditions that keep producing the conflict.</a:t>
            </a:r>
          </a:p>
        </p:txBody>
      </p:sp>
      <p:sp>
        <p:nvSpPr>
          <p:cNvPr id="7" name="TextBox 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8" name="TextBox 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9" name="TextBox 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anim calcmode="lin" valueType="num">
                                      <p:cBhvr additive="base">
                                        <p:cTn id="1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350"/>
                                        <p:tgtEl>
                                          <p:spTgt spid="6"/>
                                        </p:tgtEl>
                                      </p:cBhvr>
                                    </p:animEffect>
                                    <p:anim calcmode="lin" valueType="num">
                                      <p:cBhvr additive="base">
                                        <p:cTn id="2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LO3 · Topic 3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conflict-coaching conversation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Topic 3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conflict-coaching conversation?</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Coach, don't rescue</a:t>
            </a:r>
          </a:p>
          <a:p>
            <a:pPr algn="l">
              <a:spcAft>
                <a:spcPts val="300"/>
              </a:spcAft>
            </a:pPr>
            <a:r>
              <a:rPr sz="1200" b="0">
                <a:solidFill>
                  <a:srgbClr val="5B6372"/>
                </a:solidFill>
                <a:latin typeface="Arial"/>
              </a:rPr>
              <a:t>Build the team member's judgement rather than taking over the conflict.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Reframe</a:t>
            </a:r>
          </a:p>
          <a:p>
            <a:pPr algn="l">
              <a:spcAft>
                <a:spcPts val="300"/>
              </a:spcAft>
            </a:pPr>
            <a:r>
              <a:rPr sz="1200" b="0">
                <a:solidFill>
                  <a:srgbClr val="5B6372"/>
                </a:solidFill>
                <a:latin typeface="Arial"/>
              </a:rPr>
              <a:t>Test assumptions and translate labels into observable behaviour and impact.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Rehearse</a:t>
            </a:r>
          </a:p>
          <a:p>
            <a:pPr algn="l">
              <a:spcAft>
                <a:spcPts val="300"/>
              </a:spcAft>
            </a:pPr>
            <a:r>
              <a:rPr sz="1200" b="0">
                <a:solidFill>
                  <a:srgbClr val="5B6372"/>
                </a:solidFill>
                <a:latin typeface="Arial"/>
              </a:rPr>
              <a:t>Practise opening, listening, requests and responses to likely emotion.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Support</a:t>
            </a:r>
          </a:p>
          <a:p>
            <a:pPr algn="l">
              <a:spcAft>
                <a:spcPts val="300"/>
              </a:spcAft>
            </a:pPr>
            <a:r>
              <a:rPr sz="1200" b="0">
                <a:solidFill>
                  <a:srgbClr val="5B6372"/>
                </a:solidFill>
                <a:latin typeface="Arial"/>
              </a:rPr>
              <a:t>Agree boundaries, resources, escalation triggers and follow-up.</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Training Industry; SNHU; supplied leadership sources</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Topic 3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COACH Conversation</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Context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What happened, what matters and what is within your control?</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Outcome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What constructive change do you want?</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Alternatives</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What approaches, words and timing could work?</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Conversation rehearsal</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Practise and receive feedback.</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Hold follow-up</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Commit, support, review and escalate if needed.</a:t>
            </a:r>
          </a:p>
        </p:txBody>
      </p:sp>
      <p:sp>
        <p:nvSpPr>
          <p:cNvPr id="40" name="TextBox 39"/>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1" name="TextBox 40"/>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2" name="TextBox 41"/>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Topic 3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Manager Rescue vs Capability Building</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Rescue / direct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Coach / enable</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I'll tell them to stop.</a:t>
            </a:r>
          </a:p>
          <a:p>
            <a:pPr>
              <a:spcAft>
                <a:spcPts val="1000"/>
              </a:spcAft>
            </a:pPr>
            <a:r>
              <a:rPr sz="1600" b="0">
                <a:solidFill>
                  <a:srgbClr val="161B26"/>
                </a:solidFill>
                <a:latin typeface="Arial"/>
              </a:rPr>
              <a:t>•  You're right; they are the problem.</a:t>
            </a:r>
          </a:p>
          <a:p>
            <a:pPr>
              <a:spcAft>
                <a:spcPts val="1000"/>
              </a:spcAft>
            </a:pPr>
            <a:r>
              <a:rPr sz="1600" b="0">
                <a:solidFill>
                  <a:srgbClr val="161B26"/>
                </a:solidFill>
                <a:latin typeface="Arial"/>
              </a:rPr>
              <a:t>•  Use this exact script.</a:t>
            </a:r>
          </a:p>
          <a:p>
            <a:pPr>
              <a:spcAft>
                <a:spcPts val="1000"/>
              </a:spcAft>
            </a:pPr>
            <a:r>
              <a:rPr sz="1600" b="0">
                <a:solidFill>
                  <a:srgbClr val="161B26"/>
                </a:solidFill>
                <a:latin typeface="Arial"/>
              </a:rPr>
              <a:t>•  Come back only if it fails.</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What outcome do you want and what evidence will you use?</a:t>
            </a:r>
          </a:p>
          <a:p>
            <a:pPr>
              <a:spcAft>
                <a:spcPts val="1000"/>
              </a:spcAft>
            </a:pPr>
            <a:r>
              <a:rPr sz="1600" b="0">
                <a:solidFill>
                  <a:srgbClr val="161B26"/>
                </a:solidFill>
                <a:latin typeface="Arial"/>
              </a:rPr>
              <a:t>•  What might the other person see differently?</a:t>
            </a:r>
          </a:p>
          <a:p>
            <a:pPr>
              <a:spcAft>
                <a:spcPts val="1000"/>
              </a:spcAft>
            </a:pPr>
            <a:r>
              <a:rPr sz="1600" b="0">
                <a:solidFill>
                  <a:srgbClr val="161B26"/>
                </a:solidFill>
                <a:latin typeface="Arial"/>
              </a:rPr>
              <a:t>•  Which opening sounds authentic and respectful to you?</a:t>
            </a:r>
          </a:p>
          <a:p>
            <a:pPr>
              <a:spcAft>
                <a:spcPts val="1000"/>
              </a:spcAft>
            </a:pPr>
            <a:r>
              <a:rPr sz="1600" b="0">
                <a:solidFill>
                  <a:srgbClr val="161B26"/>
                </a:solidFill>
                <a:latin typeface="Arial"/>
              </a:rPr>
              <a:t>•  What support and review point will help you follow through?</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course coaching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Topic 3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Coaching Boundaries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Coach</a:t>
            </a:r>
          </a:p>
          <a:p>
            <a:pPr algn="l">
              <a:spcAft>
                <a:spcPts val="300"/>
              </a:spcAft>
            </a:pPr>
            <a:r>
              <a:rPr sz="1200" b="0">
                <a:solidFill>
                  <a:srgbClr val="5B6372"/>
                </a:solidFill>
                <a:latin typeface="Arial"/>
              </a:rPr>
              <a:t>Skill gap, preparation, perspective and manageable interpersonal issue.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Facilitate</a:t>
            </a:r>
          </a:p>
          <a:p>
            <a:pPr algn="l">
              <a:spcAft>
                <a:spcPts val="300"/>
              </a:spcAft>
            </a:pPr>
            <a:r>
              <a:rPr sz="1200" b="0">
                <a:solidFill>
                  <a:srgbClr val="5B6372"/>
                </a:solidFill>
                <a:latin typeface="Arial"/>
              </a:rPr>
              <a:t>Parties want dialogue but need process support.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Escalate</a:t>
            </a:r>
          </a:p>
          <a:p>
            <a:pPr algn="l">
              <a:spcAft>
                <a:spcPts val="300"/>
              </a:spcAft>
            </a:pPr>
            <a:r>
              <a:rPr sz="1200" b="0">
                <a:solidFill>
                  <a:srgbClr val="5B6372"/>
                </a:solidFill>
                <a:latin typeface="Arial"/>
              </a:rPr>
              <a:t>Safety, harassment, discrimination, retaliation or authority limit.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Follow up</a:t>
            </a:r>
          </a:p>
          <a:p>
            <a:pPr algn="l">
              <a:spcAft>
                <a:spcPts val="300"/>
              </a:spcAft>
            </a:pPr>
            <a:r>
              <a:rPr sz="1200" b="0">
                <a:solidFill>
                  <a:srgbClr val="5B6372"/>
                </a:solidFill>
                <a:latin typeface="Arial"/>
              </a:rPr>
              <a:t>Behavioural commitment, work impact and recurrence indicators.</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worked example</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Topic 3 · T1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Leader Coaching Huddle at NovaTech Services</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At NovaTech Services, project lead Jordan feels that analyst Alex dismisses project decisions in meetings. Alex says Jordan closes discussion too quickly and uses seniority to override technical concerns.</a:t>
            </a:r>
          </a:p>
          <a:p>
            <a:pPr algn="l">
              <a:spcAft>
                <a:spcPts val="800"/>
              </a:spcAft>
            </a:pPr>
            <a:r>
              <a:rPr sz="1450" b="0">
                <a:solidFill>
                  <a:srgbClr val="161B26"/>
                </a:solidFill>
                <a:latin typeface="Arial"/>
              </a:rPr>
              <a:t>Department manager Taylor will coach Jordan first, not decide the dispute. Jordan must prepare a direct conversation that protects Alex's voice, clarifies decision rights and sets a follow-up checkpoint.</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completed COACH worksheet, rehearsal record and follow-up plan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60 minutes</a:t>
            </a:r>
          </a:p>
        </p:txBody>
      </p:sp>
      <p:sp>
        <p:nvSpPr>
          <p:cNvPr id="15" name="TextBox 1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6" name="TextBox 1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7" name="TextBox 1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Topic 3 · T1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Leader Coaching Huddle at NovaTech Services</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questions help Jordan separate facts, feelings, assumptions and needs?</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part of the conflict should Jordan own?</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How can Jordan invite technical challenge without reopening every decision?</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condition would require Taylor to move from coaching to formal action?</a:t>
            </a:r>
          </a:p>
        </p:txBody>
      </p:sp>
      <p:sp>
        <p:nvSpPr>
          <p:cNvPr id="27" name="TextBox 2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8" name="TextBox 2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9" name="TextBox 2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wipe dir="l"/>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Topic 3 · T1 · ACTIVITY 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Leader Coaching Huddle at NovaTech Services</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the coach avoid endorsing Jordan's story as fact?</a:t>
            </a:r>
          </a:p>
          <a:p>
            <a:pPr>
              <a:spcAft>
                <a:spcPts val="900"/>
              </a:spcAft>
            </a:pPr>
            <a:r>
              <a:rPr sz="1450" b="0">
                <a:solidFill>
                  <a:srgbClr val="161B26"/>
                </a:solidFill>
                <a:latin typeface="Arial"/>
              </a:rPr>
              <a:t>•  Did Jordan leave with chosen language, support and a review point?</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coaching plan keeps ownership with Jordan while defining safe boundaries, rehearsal feedback and follow-up.</a:t>
            </a:r>
          </a:p>
        </p:txBody>
      </p:sp>
      <p:sp>
        <p:nvSpPr>
          <p:cNvPr id="13" name="TextBox 1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4" name="TextBox 1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5" name="TextBox 1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Recap — Managing Team Conflicts in the Workplace</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9427464" cy="4187952"/>
          </a:xfrm>
          <a:prstGeom prst="rect">
            <a:avLst/>
          </a:prstGeom>
          <a:noFill/>
        </p:spPr>
        <p:txBody>
          <a:bodyPr wrap="square" anchor="ctr">
            <a:spAutoFit/>
          </a:bodyPr>
          <a:lstStyle/>
          <a:p>
            <a:pPr algn="l">
              <a:spcAft>
                <a:spcPts val="300"/>
              </a:spcAft>
            </a:pPr>
            <a:r>
              <a:rPr sz="1600" b="1">
                <a:solidFill>
                  <a:srgbClr val="161B26"/>
                </a:solidFill>
                <a:latin typeface="Arial"/>
              </a:rPr>
              <a:t>Leader Coaching Huddle at NovaTech Services</a:t>
            </a:r>
          </a:p>
          <a:p>
            <a:pPr algn="l">
              <a:spcAft>
                <a:spcPts val="300"/>
              </a:spcAft>
            </a:pPr>
            <a:r>
              <a:rPr sz="1200" b="0">
                <a:solidFill>
                  <a:srgbClr val="5B6372"/>
                </a:solidFill>
                <a:latin typeface="Arial"/>
              </a:rPr>
              <a:t>You can now: coach team members to prepare and own a constructive conflict conversation.</a:t>
            </a:r>
          </a:p>
        </p:txBody>
      </p:sp>
      <p:sp>
        <p:nvSpPr>
          <p:cNvPr id="11" name="TextBox 10"/>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2" name="TextBox 11"/>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3" name="TextBox 12"/>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3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leader owns the process, not every person's preferred outcome.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Fairness means a clear process, equal voice, evidence, boundaries and follow-through.</a:t>
            </a:r>
          </a:p>
        </p:txBody>
      </p:sp>
      <p:sp>
        <p:nvSpPr>
          <p:cNvPr id="7" name="TextBox 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8" name="TextBox 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9" name="TextBox 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zoom/>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Reviewing Effectiveness and Preventing Recurrence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Outcome measures · Follow-up · Recurrence controls · Learning reviews · Legal and ethical safeguards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Topic 4</a:t>
            </a:r>
          </a:p>
        </p:txBody>
      </p:sp>
      <p:sp>
        <p:nvSpPr>
          <p:cNvPr id="9" name="TextBox 8"/>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0" name="TextBox 9"/>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1" name="TextBox 10"/>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350"/>
                                        <p:tgtEl>
                                          <p:spTgt spid="7"/>
                                        </p:tgtEl>
                                      </p:cBhvr>
                                    </p:animEffect>
                                    <p:anim calcmode="lin" valueType="num">
                                      <p:cBhvr additive="base">
                                        <p:cTn id="45" dur="350" fill="hold"/>
                                        <p:tgtEl>
                                          <p:spTgt spid="7"/>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KEY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Key Concepts — Reviewing Effectiveness and Preventing Recurrence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Review effectiveness against agreed outcomes, behavioural commitments, work performance, relationship quality, stakeholder impact and signs of recurrence.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resolution can be accepted yet ineffective; use scheduled check-ins, observable indicators and confidential feedback to test whether change lasts.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Prevention actions may clarify roles, rebalance workload, redesign handoffs, strengthen meeting norms, train staff, improve reporting channels or revise policy.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Document only what is necessary, accurate, authorised and proportionate; restrict access and follow organisational retention and personal-data requirements.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Singapore guidance supports prompt grievance channels, open communication, fair treatment, trained neutral fact-finding and safeguards against retaliation.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Serious harassment, threats, discrimination, safety or criminal concerns must be escalated to the authorised function or external authority; this course is not legal advice.</a:t>
            </a:r>
          </a:p>
        </p:txBody>
      </p:sp>
      <p:sp>
        <p:nvSpPr>
          <p:cNvPr id="36" name="TextBox 3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7" name="TextBox 3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8" name="TextBox 3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REVIEW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 resolution is effective only if evidence changes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Do not confuse silence, avoidance or a signed agreement with durable resolution.</a:t>
            </a:r>
          </a:p>
        </p:txBody>
      </p:sp>
      <p:sp>
        <p:nvSpPr>
          <p:cNvPr id="7" name="Rectangle 6"/>
          <p:cNvSpPr/>
          <p:nvPr/>
        </p:nvSpPr>
        <p:spPr>
          <a:xfrm>
            <a:off x="777240" y="2212848"/>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12848"/>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87168"/>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BEHAV</a:t>
            </a:r>
          </a:p>
        </p:txBody>
      </p:sp>
      <p:sp>
        <p:nvSpPr>
          <p:cNvPr id="10" name="TextBox 9"/>
          <p:cNvSpPr txBox="1"/>
          <p:nvPr/>
        </p:nvSpPr>
        <p:spPr>
          <a:xfrm>
            <a:off x="923544"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Are agreed behaviours occurring?</a:t>
            </a:r>
          </a:p>
        </p:txBody>
      </p:sp>
      <p:sp>
        <p:nvSpPr>
          <p:cNvPr id="11" name="Rectangle 10"/>
          <p:cNvSpPr/>
          <p:nvPr/>
        </p:nvSpPr>
        <p:spPr>
          <a:xfrm>
            <a:off x="4407408" y="2212848"/>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7408" y="2212848"/>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07408" y="2487168"/>
            <a:ext cx="3374136" cy="914400"/>
          </a:xfrm>
          <a:prstGeom prst="rect">
            <a:avLst/>
          </a:prstGeom>
          <a:noFill/>
        </p:spPr>
        <p:txBody>
          <a:bodyPr wrap="square" anchor="t">
            <a:spAutoFit/>
          </a:bodyPr>
          <a:lstStyle/>
          <a:p>
            <a:pPr algn="ctr">
              <a:spcAft>
                <a:spcPts val="400"/>
              </a:spcAft>
            </a:pPr>
            <a:r>
              <a:rPr sz="3000" b="1">
                <a:solidFill>
                  <a:srgbClr val="10B981"/>
                </a:solidFill>
                <a:latin typeface="Arial"/>
              </a:rPr>
              <a:t>PROCESS</a:t>
            </a:r>
          </a:p>
        </p:txBody>
      </p:sp>
      <p:sp>
        <p:nvSpPr>
          <p:cNvPr id="14" name="TextBox 13"/>
          <p:cNvSpPr txBox="1"/>
          <p:nvPr/>
        </p:nvSpPr>
        <p:spPr>
          <a:xfrm>
            <a:off x="4553712"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Are handoffs and decision rights clearer?</a:t>
            </a:r>
          </a:p>
        </p:txBody>
      </p:sp>
      <p:sp>
        <p:nvSpPr>
          <p:cNvPr id="15" name="Rectangle 14"/>
          <p:cNvSpPr/>
          <p:nvPr/>
        </p:nvSpPr>
        <p:spPr>
          <a:xfrm>
            <a:off x="8037576" y="2212848"/>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37576" y="2212848"/>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37576" y="2487168"/>
            <a:ext cx="3374136" cy="914400"/>
          </a:xfrm>
          <a:prstGeom prst="rect">
            <a:avLst/>
          </a:prstGeom>
          <a:noFill/>
        </p:spPr>
        <p:txBody>
          <a:bodyPr wrap="square" anchor="t">
            <a:spAutoFit/>
          </a:bodyPr>
          <a:lstStyle/>
          <a:p>
            <a:pPr algn="ctr">
              <a:spcAft>
                <a:spcPts val="400"/>
              </a:spcAft>
            </a:pPr>
            <a:r>
              <a:rPr sz="3000" b="1">
                <a:solidFill>
                  <a:srgbClr val="7C3AED"/>
                </a:solidFill>
                <a:latin typeface="Arial"/>
              </a:rPr>
              <a:t>RESULT</a:t>
            </a:r>
          </a:p>
        </p:txBody>
      </p:sp>
      <p:sp>
        <p:nvSpPr>
          <p:cNvPr id="18" name="TextBox 17"/>
          <p:cNvSpPr txBox="1"/>
          <p:nvPr/>
        </p:nvSpPr>
        <p:spPr>
          <a:xfrm>
            <a:off x="8183880" y="3419856"/>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Did delay, error or customer impact improve?</a:t>
            </a:r>
          </a:p>
        </p:txBody>
      </p:sp>
      <p:sp>
        <p:nvSpPr>
          <p:cNvPr id="19" name="Rectangle 18"/>
          <p:cNvSpPr/>
          <p:nvPr/>
        </p:nvSpPr>
        <p:spPr>
          <a:xfrm>
            <a:off x="777240" y="3931920"/>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31920"/>
            <a:ext cx="3374136"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206240"/>
            <a:ext cx="3374136" cy="914400"/>
          </a:xfrm>
          <a:prstGeom prst="rect">
            <a:avLst/>
          </a:prstGeom>
          <a:noFill/>
        </p:spPr>
        <p:txBody>
          <a:bodyPr wrap="square" anchor="t">
            <a:spAutoFit/>
          </a:bodyPr>
          <a:lstStyle/>
          <a:p>
            <a:pPr algn="ctr">
              <a:spcAft>
                <a:spcPts val="400"/>
              </a:spcAft>
            </a:pPr>
            <a:r>
              <a:rPr sz="4000" b="1">
                <a:solidFill>
                  <a:srgbClr val="F59E0B"/>
                </a:solidFill>
                <a:latin typeface="Arial"/>
              </a:rPr>
              <a:t>VOICE</a:t>
            </a:r>
          </a:p>
        </p:txBody>
      </p:sp>
      <p:sp>
        <p:nvSpPr>
          <p:cNvPr id="22" name="TextBox 21"/>
          <p:cNvSpPr txBox="1"/>
          <p:nvPr/>
        </p:nvSpPr>
        <p:spPr>
          <a:xfrm>
            <a:off x="923544" y="513892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Do affected people report fairness and safety?</a:t>
            </a:r>
          </a:p>
        </p:txBody>
      </p:sp>
      <p:sp>
        <p:nvSpPr>
          <p:cNvPr id="23" name="Rectangle 22"/>
          <p:cNvSpPr/>
          <p:nvPr/>
        </p:nvSpPr>
        <p:spPr>
          <a:xfrm>
            <a:off x="4407408" y="3931920"/>
            <a:ext cx="3374136" cy="14813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07408" y="393192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8" y="4206240"/>
            <a:ext cx="3374136" cy="914400"/>
          </a:xfrm>
          <a:prstGeom prst="rect">
            <a:avLst/>
          </a:prstGeom>
          <a:noFill/>
        </p:spPr>
        <p:txBody>
          <a:bodyPr wrap="square" anchor="t">
            <a:spAutoFit/>
          </a:bodyPr>
          <a:lstStyle/>
          <a:p>
            <a:pPr algn="ctr">
              <a:spcAft>
                <a:spcPts val="400"/>
              </a:spcAft>
            </a:pPr>
            <a:r>
              <a:rPr sz="4000" b="1">
                <a:solidFill>
                  <a:srgbClr val="1F6FEB"/>
                </a:solidFill>
                <a:latin typeface="Arial"/>
              </a:rPr>
              <a:t>RISK</a:t>
            </a:r>
          </a:p>
        </p:txBody>
      </p:sp>
      <p:sp>
        <p:nvSpPr>
          <p:cNvPr id="26" name="TextBox 25"/>
          <p:cNvSpPr txBox="1"/>
          <p:nvPr/>
        </p:nvSpPr>
        <p:spPr>
          <a:xfrm>
            <a:off x="4553712" y="5138928"/>
            <a:ext cx="3081528" cy="713232"/>
          </a:xfrm>
          <a:prstGeom prst="rect">
            <a:avLst/>
          </a:prstGeom>
          <a:noFill/>
        </p:spPr>
        <p:txBody>
          <a:bodyPr wrap="square" anchor="t">
            <a:spAutoFit/>
          </a:bodyPr>
          <a:lstStyle/>
          <a:p>
            <a:pPr algn="ctr">
              <a:spcAft>
                <a:spcPts val="400"/>
              </a:spcAft>
            </a:pPr>
            <a:r>
              <a:rPr sz="1200" b="0">
                <a:solidFill>
                  <a:srgbClr val="161B26"/>
                </a:solidFill>
                <a:latin typeface="Arial"/>
              </a:rPr>
              <a:t>Any retaliation, recurrence or displacement?</a:t>
            </a:r>
          </a:p>
        </p:txBody>
      </p:sp>
      <p:sp>
        <p:nvSpPr>
          <p:cNvPr id="27" name="Rectangle 26"/>
          <p:cNvSpPr/>
          <p:nvPr/>
        </p:nvSpPr>
        <p:spPr>
          <a:xfrm>
            <a:off x="777240" y="58978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8978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897880"/>
            <a:ext cx="10058400" cy="530352"/>
          </a:xfrm>
          <a:prstGeom prst="rect">
            <a:avLst/>
          </a:prstGeom>
          <a:noFill/>
        </p:spPr>
        <p:txBody>
          <a:bodyPr wrap="square" anchor="ctr">
            <a:spAutoFit/>
          </a:bodyPr>
          <a:lstStyle/>
          <a:p>
            <a:pPr algn="l">
              <a:spcAft>
                <a:spcPts val="400"/>
              </a:spcAft>
            </a:pPr>
            <a:r>
              <a:rPr sz="1200" b="1">
                <a:solidFill>
                  <a:srgbClr val="161B26"/>
                </a:solidFill>
                <a:latin typeface="Arial"/>
              </a:rPr>
              <a:t>Use leading and lagging indicators; record baselines, targets, sources and owners.</a:t>
            </a:r>
          </a:p>
        </p:txBody>
      </p:sp>
      <p:sp>
        <p:nvSpPr>
          <p:cNvPr id="30" name="TextBox 29"/>
          <p:cNvSpPr txBox="1"/>
          <p:nvPr/>
        </p:nvSpPr>
        <p:spPr>
          <a:xfrm>
            <a:off x="777240" y="5541264"/>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Course synthesis from supplied conflict-resolution and workplace-guidance sources</a:t>
            </a:r>
          </a:p>
        </p:txBody>
      </p:sp>
      <p:sp>
        <p:nvSpPr>
          <p:cNvPr id="31" name="TextBox 30"/>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2" name="TextBox 31"/>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3" name="TextBox 32"/>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IMPROVEMENT CYCLE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Review, learn, adjust, prevent</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Follow-up closes the loop between an agreement and organisational learning.</a:t>
            </a: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1775"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1775"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Review</a:t>
            </a:r>
          </a:p>
        </p:txBody>
      </p:sp>
      <p:sp>
        <p:nvSpPr>
          <p:cNvPr id="12" name="TextBox 11"/>
          <p:cNvSpPr txBox="1"/>
          <p:nvPr/>
        </p:nvSpPr>
        <p:spPr>
          <a:xfrm>
            <a:off x="905256"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Compare outcomes with commitments and measures.</a:t>
            </a:r>
          </a:p>
        </p:txBody>
      </p:sp>
      <p:sp>
        <p:nvSpPr>
          <p:cNvPr id="13" name="Chevron 12"/>
          <p:cNvSpPr/>
          <p:nvPr/>
        </p:nvSpPr>
        <p:spPr>
          <a:xfrm>
            <a:off x="2702966"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83533"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83533"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087014"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Learn</a:t>
            </a:r>
          </a:p>
        </p:txBody>
      </p:sp>
      <p:sp>
        <p:nvSpPr>
          <p:cNvPr id="19" name="TextBox 18"/>
          <p:cNvSpPr txBox="1"/>
          <p:nvPr/>
        </p:nvSpPr>
        <p:spPr>
          <a:xfrm>
            <a:off x="3087014"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Identify what helped, failed or was assumed.</a:t>
            </a:r>
          </a:p>
        </p:txBody>
      </p:sp>
      <p:sp>
        <p:nvSpPr>
          <p:cNvPr id="20" name="Chevron 19"/>
          <p:cNvSpPr/>
          <p:nvPr/>
        </p:nvSpPr>
        <p:spPr>
          <a:xfrm>
            <a:off x="4884724"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765291"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5291"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268772"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Adjust</a:t>
            </a:r>
          </a:p>
        </p:txBody>
      </p:sp>
      <p:sp>
        <p:nvSpPr>
          <p:cNvPr id="26" name="TextBox 25"/>
          <p:cNvSpPr txBox="1"/>
          <p:nvPr/>
        </p:nvSpPr>
        <p:spPr>
          <a:xfrm>
            <a:off x="5268772"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Change actions, support or the resolution route.</a:t>
            </a:r>
          </a:p>
        </p:txBody>
      </p:sp>
      <p:sp>
        <p:nvSpPr>
          <p:cNvPr id="27" name="Chevron 26"/>
          <p:cNvSpPr/>
          <p:nvPr/>
        </p:nvSpPr>
        <p:spPr>
          <a:xfrm>
            <a:off x="7066482"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47049"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47049"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450530"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Prevent</a:t>
            </a:r>
          </a:p>
        </p:txBody>
      </p:sp>
      <p:sp>
        <p:nvSpPr>
          <p:cNvPr id="33" name="TextBox 32"/>
          <p:cNvSpPr txBox="1"/>
          <p:nvPr/>
        </p:nvSpPr>
        <p:spPr>
          <a:xfrm>
            <a:off x="7450530"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Improve roles, handoffs, incentives, channels and policy.</a:t>
            </a:r>
          </a:p>
        </p:txBody>
      </p:sp>
      <p:sp>
        <p:nvSpPr>
          <p:cNvPr id="34" name="Chevron 33"/>
          <p:cNvSpPr/>
          <p:nvPr/>
        </p:nvSpPr>
        <p:spPr>
          <a:xfrm>
            <a:off x="9248240" y="344728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28807" y="25511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28807" y="255117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632288" y="333756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Monitor</a:t>
            </a:r>
          </a:p>
        </p:txBody>
      </p:sp>
      <p:sp>
        <p:nvSpPr>
          <p:cNvPr id="40" name="TextBox 39"/>
          <p:cNvSpPr txBox="1"/>
          <p:nvPr/>
        </p:nvSpPr>
        <p:spPr>
          <a:xfrm>
            <a:off x="9632288" y="3721608"/>
            <a:ext cx="1651406" cy="1143000"/>
          </a:xfrm>
          <a:prstGeom prst="rect">
            <a:avLst/>
          </a:prstGeom>
          <a:noFill/>
        </p:spPr>
        <p:txBody>
          <a:bodyPr wrap="square" anchor="t">
            <a:spAutoFit/>
          </a:bodyPr>
          <a:lstStyle/>
          <a:p>
            <a:pPr algn="ctr">
              <a:spcAft>
                <a:spcPts val="400"/>
              </a:spcAft>
            </a:pPr>
            <a:r>
              <a:rPr sz="1050" b="0">
                <a:solidFill>
                  <a:srgbClr val="5B6372"/>
                </a:solidFill>
                <a:latin typeface="Arial"/>
              </a:rPr>
              <a:t>Set owners, dates and recurrence triggers.</a:t>
            </a:r>
          </a:p>
        </p:txBody>
      </p:sp>
      <p:sp>
        <p:nvSpPr>
          <p:cNvPr id="41" name="Rectangle 4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partially effective outcome is useful evidence—not a reason to declare success prematurely.</a:t>
            </a:r>
          </a:p>
        </p:txBody>
      </p:sp>
      <p:sp>
        <p:nvSpPr>
          <p:cNvPr id="44" name="TextBox 43"/>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5" name="TextBox 44"/>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6" name="TextBox 45"/>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ETHICAL BOUNDARIES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Informal resolution vs formal process</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Choose the route by safety, policy, power and alleged conduct—not convenience.</a:t>
            </a:r>
          </a:p>
        </p:txBody>
      </p:sp>
      <p:sp>
        <p:nvSpPr>
          <p:cNvPr id="7" name="Rectangle 6"/>
          <p:cNvSpPr/>
          <p:nvPr/>
        </p:nvSpPr>
        <p:spPr>
          <a:xfrm>
            <a:off x="2926080" y="2103120"/>
            <a:ext cx="4242816"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Informal may fit</a:t>
            </a:r>
          </a:p>
        </p:txBody>
      </p:sp>
      <p:sp>
        <p:nvSpPr>
          <p:cNvPr id="9" name="Rectangle 8"/>
          <p:cNvSpPr/>
          <p:nvPr/>
        </p:nvSpPr>
        <p:spPr>
          <a:xfrm>
            <a:off x="7168896" y="2103120"/>
            <a:ext cx="4242816"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68896" y="2103120"/>
            <a:ext cx="4242816" cy="457200"/>
          </a:xfrm>
          <a:prstGeom prst="rect">
            <a:avLst/>
          </a:prstGeom>
          <a:noFill/>
        </p:spPr>
        <p:txBody>
          <a:bodyPr wrap="square" anchor="ctr">
            <a:spAutoFit/>
          </a:bodyPr>
          <a:lstStyle/>
          <a:p>
            <a:pPr algn="ctr">
              <a:spcAft>
                <a:spcPts val="400"/>
              </a:spcAft>
            </a:pPr>
            <a:r>
              <a:rPr sz="1500" b="1">
                <a:solidFill>
                  <a:srgbClr val="FFFFFF"/>
                </a:solidFill>
                <a:latin typeface="Arial"/>
              </a:rPr>
              <a:t>Formal route may be required</a:t>
            </a:r>
          </a:p>
        </p:txBody>
      </p:sp>
      <p:sp>
        <p:nvSpPr>
          <p:cNvPr id="11" name="Rectangle 10"/>
          <p:cNvSpPr/>
          <p:nvPr/>
        </p:nvSpPr>
        <p:spPr>
          <a:xfrm>
            <a:off x="777240" y="256032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6032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Voice</a:t>
            </a:r>
          </a:p>
        </p:txBody>
      </p:sp>
      <p:sp>
        <p:nvSpPr>
          <p:cNvPr id="13" name="Rectangle 12"/>
          <p:cNvSpPr/>
          <p:nvPr/>
        </p:nvSpPr>
        <p:spPr>
          <a:xfrm>
            <a:off x="2926080"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Parties can participate freely</a:t>
            </a:r>
          </a:p>
        </p:txBody>
      </p:sp>
      <p:sp>
        <p:nvSpPr>
          <p:cNvPr id="15" name="Rectangle 14"/>
          <p:cNvSpPr/>
          <p:nvPr/>
        </p:nvSpPr>
        <p:spPr>
          <a:xfrm>
            <a:off x="7168896" y="256032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33488" y="256032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Threat, coercion, retaliation or serious power imbalance</a:t>
            </a:r>
          </a:p>
        </p:txBody>
      </p:sp>
      <p:sp>
        <p:nvSpPr>
          <p:cNvPr id="17" name="Rectangle 16"/>
          <p:cNvSpPr/>
          <p:nvPr/>
        </p:nvSpPr>
        <p:spPr>
          <a:xfrm>
            <a:off x="777240" y="345186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45186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Conduct</a:t>
            </a:r>
          </a:p>
        </p:txBody>
      </p:sp>
      <p:sp>
        <p:nvSpPr>
          <p:cNvPr id="19" name="Rectangle 18"/>
          <p:cNvSpPr/>
          <p:nvPr/>
        </p:nvSpPr>
        <p:spPr>
          <a:xfrm>
            <a:off x="2926080"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0672"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Issue concerns workable behaviour or coordination</a:t>
            </a:r>
          </a:p>
        </p:txBody>
      </p:sp>
      <p:sp>
        <p:nvSpPr>
          <p:cNvPr id="21" name="Rectangle 20"/>
          <p:cNvSpPr/>
          <p:nvPr/>
        </p:nvSpPr>
        <p:spPr>
          <a:xfrm>
            <a:off x="7168896" y="345186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33488" y="345186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Harassment, discrimination, violence or serious misconduct allegation</a:t>
            </a:r>
          </a:p>
        </p:txBody>
      </p:sp>
      <p:sp>
        <p:nvSpPr>
          <p:cNvPr id="23" name="Rectangle 22"/>
          <p:cNvSpPr/>
          <p:nvPr/>
        </p:nvSpPr>
        <p:spPr>
          <a:xfrm>
            <a:off x="777240" y="4343400"/>
            <a:ext cx="2148840"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34340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Urgency</a:t>
            </a:r>
          </a:p>
        </p:txBody>
      </p:sp>
      <p:sp>
        <p:nvSpPr>
          <p:cNvPr id="25" name="Rectangle 24"/>
          <p:cNvSpPr/>
          <p:nvPr/>
        </p:nvSpPr>
        <p:spPr>
          <a:xfrm>
            <a:off x="2926080"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0672"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No urgent protection or evidence risk</a:t>
            </a:r>
          </a:p>
        </p:txBody>
      </p:sp>
      <p:sp>
        <p:nvSpPr>
          <p:cNvPr id="27" name="Rectangle 26"/>
          <p:cNvSpPr/>
          <p:nvPr/>
        </p:nvSpPr>
        <p:spPr>
          <a:xfrm>
            <a:off x="7168896" y="4343400"/>
            <a:ext cx="4242816" cy="89154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33488" y="434340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Immediate protection or evidence preservation is needed</a:t>
            </a:r>
          </a:p>
        </p:txBody>
      </p:sp>
      <p:sp>
        <p:nvSpPr>
          <p:cNvPr id="29" name="Rectangle 28"/>
          <p:cNvSpPr/>
          <p:nvPr/>
        </p:nvSpPr>
        <p:spPr>
          <a:xfrm>
            <a:off x="777240" y="5234940"/>
            <a:ext cx="2148840"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234940"/>
            <a:ext cx="1874520" cy="891540"/>
          </a:xfrm>
          <a:prstGeom prst="rect">
            <a:avLst/>
          </a:prstGeom>
          <a:noFill/>
        </p:spPr>
        <p:txBody>
          <a:bodyPr wrap="square" anchor="ctr">
            <a:spAutoFit/>
          </a:bodyPr>
          <a:lstStyle/>
          <a:p>
            <a:pPr algn="l">
              <a:spcAft>
                <a:spcPts val="400"/>
              </a:spcAft>
            </a:pPr>
            <a:r>
              <a:rPr sz="1400" b="1">
                <a:solidFill>
                  <a:srgbClr val="161B26"/>
                </a:solidFill>
                <a:latin typeface="Arial"/>
              </a:rPr>
              <a:t>Authority</a:t>
            </a:r>
          </a:p>
        </p:txBody>
      </p:sp>
      <p:sp>
        <p:nvSpPr>
          <p:cNvPr id="31" name="Rectangle 30"/>
          <p:cNvSpPr/>
          <p:nvPr/>
        </p:nvSpPr>
        <p:spPr>
          <a:xfrm>
            <a:off x="2926080"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0672"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Agreement can remain within authority and policy</a:t>
            </a:r>
          </a:p>
        </p:txBody>
      </p:sp>
      <p:sp>
        <p:nvSpPr>
          <p:cNvPr id="33" name="Rectangle 32"/>
          <p:cNvSpPr/>
          <p:nvPr/>
        </p:nvSpPr>
        <p:spPr>
          <a:xfrm>
            <a:off x="7168896" y="5234940"/>
            <a:ext cx="4242816" cy="8915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33488" y="5234940"/>
            <a:ext cx="3913632" cy="891540"/>
          </a:xfrm>
          <a:prstGeom prst="rect">
            <a:avLst/>
          </a:prstGeom>
          <a:noFill/>
        </p:spPr>
        <p:txBody>
          <a:bodyPr wrap="square" anchor="ctr">
            <a:spAutoFit/>
          </a:bodyPr>
          <a:lstStyle/>
          <a:p>
            <a:pPr algn="l">
              <a:spcAft>
                <a:spcPts val="400"/>
              </a:spcAft>
            </a:pPr>
            <a:r>
              <a:rPr sz="1300" b="0">
                <a:solidFill>
                  <a:srgbClr val="161B26"/>
                </a:solidFill>
                <a:latin typeface="Arial"/>
              </a:rPr>
              <a:t>Finding, sanction, statutory duty or independent investigation is required</a:t>
            </a:r>
          </a:p>
        </p:txBody>
      </p:sp>
      <p:sp>
        <p:nvSpPr>
          <p:cNvPr id="35" name="TextBox 3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6" name="TextBox 3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7" name="TextBox 3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 SINGAPORE WORKPLACE CONTEXT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Policy-aligned handling protects everyone</a:t>
            </a:r>
          </a:p>
        </p:txBody>
      </p:sp>
      <p:sp>
        <p:nvSpPr>
          <p:cNvPr id="6" name="TextBox 5"/>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This course provides management guidance, not legal advice; use current policy and professional advice for real cases.</a:t>
            </a:r>
          </a:p>
        </p:txBody>
      </p:sp>
      <p:sp>
        <p:nvSpPr>
          <p:cNvPr id="7" name="Rectangle 6"/>
          <p:cNvSpPr/>
          <p:nvPr/>
        </p:nvSpPr>
        <p:spPr>
          <a:xfrm>
            <a:off x="777240"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57400"/>
            <a:ext cx="91440" cy="19156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221992"/>
            <a:ext cx="4677156" cy="365760"/>
          </a:xfrm>
          <a:prstGeom prst="rect">
            <a:avLst/>
          </a:prstGeom>
          <a:noFill/>
        </p:spPr>
        <p:txBody>
          <a:bodyPr wrap="square" anchor="t">
            <a:spAutoFit/>
          </a:bodyPr>
          <a:lstStyle/>
          <a:p>
            <a:pPr algn="l">
              <a:spcAft>
                <a:spcPts val="400"/>
              </a:spcAft>
            </a:pPr>
            <a:r>
              <a:rPr sz="1600" b="1">
                <a:solidFill>
                  <a:srgbClr val="1F6FEB"/>
                </a:solidFill>
                <a:latin typeface="Arial"/>
              </a:rPr>
              <a:t>Access</a:t>
            </a:r>
          </a:p>
        </p:txBody>
      </p:sp>
      <p:sp>
        <p:nvSpPr>
          <p:cNvPr id="10" name="TextBox 9"/>
          <p:cNvSpPr txBox="1"/>
          <p:nvPr/>
        </p:nvSpPr>
        <p:spPr>
          <a:xfrm>
            <a:off x="1051560"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Provide clear reporting channels and an alternative where the direct manager is involved.</a:t>
            </a:r>
          </a:p>
        </p:txBody>
      </p:sp>
      <p:sp>
        <p:nvSpPr>
          <p:cNvPr id="11" name="Rectangle 10"/>
          <p:cNvSpPr/>
          <p:nvPr/>
        </p:nvSpPr>
        <p:spPr>
          <a:xfrm>
            <a:off x="6231636" y="2057400"/>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2057400"/>
            <a:ext cx="91440" cy="19156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5956" y="2221992"/>
            <a:ext cx="4677156" cy="365760"/>
          </a:xfrm>
          <a:prstGeom prst="rect">
            <a:avLst/>
          </a:prstGeom>
          <a:noFill/>
        </p:spPr>
        <p:txBody>
          <a:bodyPr wrap="square" anchor="t">
            <a:spAutoFit/>
          </a:bodyPr>
          <a:lstStyle/>
          <a:p>
            <a:pPr algn="l">
              <a:spcAft>
                <a:spcPts val="400"/>
              </a:spcAft>
            </a:pPr>
            <a:r>
              <a:rPr sz="1600" b="1">
                <a:solidFill>
                  <a:srgbClr val="10B981"/>
                </a:solidFill>
                <a:latin typeface="Arial"/>
              </a:rPr>
              <a:t>Fairness</a:t>
            </a:r>
          </a:p>
        </p:txBody>
      </p:sp>
      <p:sp>
        <p:nvSpPr>
          <p:cNvPr id="14" name="TextBox 13"/>
          <p:cNvSpPr txBox="1"/>
          <p:nvPr/>
        </p:nvSpPr>
        <p:spPr>
          <a:xfrm>
            <a:off x="6505956" y="2624328"/>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Use impartial fact-finding, an opportunity to respond and proportional interim measures.</a:t>
            </a:r>
          </a:p>
        </p:txBody>
      </p:sp>
      <p:sp>
        <p:nvSpPr>
          <p:cNvPr id="15" name="Rectangle 14"/>
          <p:cNvSpPr/>
          <p:nvPr/>
        </p:nvSpPr>
        <p:spPr>
          <a:xfrm>
            <a:off x="777240"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210812"/>
            <a:ext cx="91440" cy="191566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375404"/>
            <a:ext cx="4677156" cy="365760"/>
          </a:xfrm>
          <a:prstGeom prst="rect">
            <a:avLst/>
          </a:prstGeom>
          <a:noFill/>
        </p:spPr>
        <p:txBody>
          <a:bodyPr wrap="square" anchor="t">
            <a:spAutoFit/>
          </a:bodyPr>
          <a:lstStyle/>
          <a:p>
            <a:pPr algn="l">
              <a:spcAft>
                <a:spcPts val="400"/>
              </a:spcAft>
            </a:pPr>
            <a:r>
              <a:rPr sz="1600" b="1">
                <a:solidFill>
                  <a:srgbClr val="7C3AED"/>
                </a:solidFill>
                <a:latin typeface="Arial"/>
              </a:rPr>
              <a:t>Privacy</a:t>
            </a:r>
          </a:p>
        </p:txBody>
      </p:sp>
      <p:sp>
        <p:nvSpPr>
          <p:cNvPr id="18" name="TextBox 17"/>
          <p:cNvSpPr txBox="1"/>
          <p:nvPr/>
        </p:nvSpPr>
        <p:spPr>
          <a:xfrm>
            <a:off x="1051560"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Limit personal data to a stated purpose, need-to-know access and secure handling.</a:t>
            </a:r>
          </a:p>
        </p:txBody>
      </p:sp>
      <p:sp>
        <p:nvSpPr>
          <p:cNvPr id="19" name="Rectangle 18"/>
          <p:cNvSpPr/>
          <p:nvPr/>
        </p:nvSpPr>
        <p:spPr>
          <a:xfrm>
            <a:off x="6231636" y="4210812"/>
            <a:ext cx="5180076" cy="19156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4210812"/>
            <a:ext cx="91440" cy="19156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956" y="4375404"/>
            <a:ext cx="4677156" cy="365760"/>
          </a:xfrm>
          <a:prstGeom prst="rect">
            <a:avLst/>
          </a:prstGeom>
          <a:noFill/>
        </p:spPr>
        <p:txBody>
          <a:bodyPr wrap="square" anchor="t">
            <a:spAutoFit/>
          </a:bodyPr>
          <a:lstStyle/>
          <a:p>
            <a:pPr algn="l">
              <a:spcAft>
                <a:spcPts val="400"/>
              </a:spcAft>
            </a:pPr>
            <a:r>
              <a:rPr sz="1600" b="1">
                <a:solidFill>
                  <a:srgbClr val="F59E0B"/>
                </a:solidFill>
                <a:latin typeface="Arial"/>
              </a:rPr>
              <a:t>Protection</a:t>
            </a:r>
          </a:p>
        </p:txBody>
      </p:sp>
      <p:sp>
        <p:nvSpPr>
          <p:cNvPr id="22" name="TextBox 21"/>
          <p:cNvSpPr txBox="1"/>
          <p:nvPr/>
        </p:nvSpPr>
        <p:spPr>
          <a:xfrm>
            <a:off x="6505956" y="4777740"/>
            <a:ext cx="4677156" cy="1229868"/>
          </a:xfrm>
          <a:prstGeom prst="rect">
            <a:avLst/>
          </a:prstGeom>
          <a:noFill/>
        </p:spPr>
        <p:txBody>
          <a:bodyPr wrap="square" anchor="t">
            <a:spAutoFit/>
          </a:bodyPr>
          <a:lstStyle/>
          <a:p>
            <a:pPr algn="l">
              <a:spcAft>
                <a:spcPts val="400"/>
              </a:spcAft>
            </a:pPr>
            <a:r>
              <a:rPr sz="1200" b="0">
                <a:solidFill>
                  <a:srgbClr val="161B26"/>
                </a:solidFill>
                <a:latin typeface="Arial"/>
              </a:rPr>
              <a:t>Address safety, support needs and retaliation risk while the process is ongoing.</a:t>
            </a:r>
          </a:p>
        </p:txBody>
      </p:sp>
      <p:sp>
        <p:nvSpPr>
          <p:cNvPr id="23" name="TextBox 2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4" name="TextBox 2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5" name="TextBox 2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REVIEW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Agreement is a hypothesis.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Follow-up evidence tells you whether the resolution worked and what must change next.</a:t>
            </a:r>
          </a:p>
        </p:txBody>
      </p:sp>
      <p:sp>
        <p:nvSpPr>
          <p:cNvPr id="7" name="TextBox 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8" name="TextBox 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9" name="TextBox 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350"/>
                                        <p:tgtEl>
                                          <p:spTgt spid="5"/>
                                        </p:tgtEl>
                                      </p:cBhvr>
                                    </p:animEffect>
                                    <p:anim calcmode="lin" valueType="num">
                                      <p:cBhvr additive="base">
                                        <p:cTn id="1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350"/>
                                        <p:tgtEl>
                                          <p:spTgt spid="6"/>
                                        </p:tgtEl>
                                      </p:cBhvr>
                                    </p:animEffect>
                                    <p:anim calcmode="lin" valueType="num">
                                      <p:cBhvr additive="base">
                                        <p:cTn id="2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Topic 4 · T1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policy-led escalation decision</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T1</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Topic 4 · T1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policy-led escalation decision?</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Fair process</a:t>
            </a:r>
          </a:p>
          <a:p>
            <a:pPr algn="l">
              <a:spcAft>
                <a:spcPts val="300"/>
              </a:spcAft>
            </a:pPr>
            <a:r>
              <a:rPr sz="1200" b="0">
                <a:solidFill>
                  <a:srgbClr val="5B6372"/>
                </a:solidFill>
                <a:latin typeface="Arial"/>
              </a:rPr>
              <a:t>Notice, neutral inquiry, equal voice, evidence, reasoned outcome and appeal route.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Confidentiality</a:t>
            </a:r>
          </a:p>
          <a:p>
            <a:pPr algn="l">
              <a:spcAft>
                <a:spcPts val="300"/>
              </a:spcAft>
            </a:pPr>
            <a:r>
              <a:rPr sz="1200" b="0">
                <a:solidFill>
                  <a:srgbClr val="5B6372"/>
                </a:solidFill>
                <a:latin typeface="Arial"/>
              </a:rPr>
              <a:t>Share on a need-to-know basis; never promise secrecy that policy or safety cannot support.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Non-retaliation</a:t>
            </a:r>
          </a:p>
          <a:p>
            <a:pPr algn="l">
              <a:spcAft>
                <a:spcPts val="300"/>
              </a:spcAft>
            </a:pPr>
            <a:r>
              <a:rPr sz="1200" b="0">
                <a:solidFill>
                  <a:srgbClr val="5B6372"/>
                </a:solidFill>
                <a:latin typeface="Arial"/>
              </a:rPr>
              <a:t>Protect genuine reporters and participants from detrimental treatment.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Proportionate action</a:t>
            </a:r>
          </a:p>
          <a:p>
            <a:pPr algn="l">
              <a:spcAft>
                <a:spcPts val="300"/>
              </a:spcAft>
            </a:pPr>
            <a:r>
              <a:rPr sz="1200" b="0">
                <a:solidFill>
                  <a:srgbClr val="5B6372"/>
                </a:solidFill>
                <a:latin typeface="Arial"/>
              </a:rPr>
              <a:t>Match support, interim controls, investigation and consequences to risk and evidence.</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Singapore MOM/TAFEP harassment advisory; PDPC; Ministry of Law</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4 · T1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Policy-Led Response Gate</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Protect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Address urgent safety, wellbeing and evidence-preservation needs.</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Receive</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Listen without blame; explain process and confidentiality limits.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Route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Use the authorised reporting/investigation channel.</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Support</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Provide practical support and prevent retaliation.</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Follow through</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Communicate process updates and monitor recurrence.</a:t>
            </a:r>
          </a:p>
        </p:txBody>
      </p:sp>
      <p:sp>
        <p:nvSpPr>
          <p:cNvPr id="40" name="TextBox 39"/>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1" name="TextBox 40"/>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2" name="TextBox 41"/>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Topic 4 · T1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Informal Resolution vs Formal Handling</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Informal may fit</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Formal handling required / safer</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Different work preferences with free participation.</a:t>
            </a:r>
          </a:p>
          <a:p>
            <a:pPr>
              <a:spcAft>
                <a:spcPts val="1000"/>
              </a:spcAft>
            </a:pPr>
            <a:r>
              <a:rPr sz="1600" b="0">
                <a:solidFill>
                  <a:srgbClr val="161B26"/>
                </a:solidFill>
                <a:latin typeface="Arial"/>
              </a:rPr>
              <a:t>•  Specific low-risk misunderstanding.</a:t>
            </a:r>
          </a:p>
          <a:p>
            <a:pPr>
              <a:spcAft>
                <a:spcPts val="1000"/>
              </a:spcAft>
            </a:pPr>
            <a:r>
              <a:rPr sz="1600" b="0">
                <a:solidFill>
                  <a:srgbClr val="161B26"/>
                </a:solidFill>
                <a:latin typeface="Arial"/>
              </a:rPr>
              <a:t>•  Both parties want a facilitated dialogue.</a:t>
            </a:r>
          </a:p>
          <a:p>
            <a:pPr>
              <a:spcAft>
                <a:spcPts val="1000"/>
              </a:spcAft>
            </a:pPr>
            <a:r>
              <a:rPr sz="1600" b="0">
                <a:solidFill>
                  <a:srgbClr val="161B26"/>
                </a:solidFill>
                <a:latin typeface="Arial"/>
              </a:rPr>
              <a:t>•  No safety, harassment or retaliation concern is present.</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Threat, harm, harassment or discriminatory conduct.</a:t>
            </a:r>
          </a:p>
          <a:p>
            <a:pPr>
              <a:spcAft>
                <a:spcPts val="1000"/>
              </a:spcAft>
            </a:pPr>
            <a:r>
              <a:rPr sz="1600" b="0">
                <a:solidFill>
                  <a:srgbClr val="161B26"/>
                </a:solidFill>
                <a:latin typeface="Arial"/>
              </a:rPr>
              <a:t>•  Retaliation, coercion or significant power imbalance.</a:t>
            </a:r>
          </a:p>
          <a:p>
            <a:pPr>
              <a:spcAft>
                <a:spcPts val="1000"/>
              </a:spcAft>
            </a:pPr>
            <a:r>
              <a:rPr sz="1600" b="0">
                <a:solidFill>
                  <a:srgbClr val="161B26"/>
                </a:solidFill>
                <a:latin typeface="Arial"/>
              </a:rPr>
              <a:t>•  Repeated conduct after prior intervention.</a:t>
            </a:r>
          </a:p>
          <a:p>
            <a:pPr>
              <a:spcAft>
                <a:spcPts val="1000"/>
              </a:spcAft>
            </a:pPr>
            <a:r>
              <a:rPr sz="1600" b="0">
                <a:solidFill>
                  <a:srgbClr val="161B26"/>
                </a:solidFill>
                <a:latin typeface="Arial"/>
              </a:rPr>
              <a:t>•  Policy, law or evidence-preservation duty requires investigation.</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MOM workplace harassment advisory; MOM workplace grievances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Topic 4 · T1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Ethical Case-Handling Controls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Need-to-know</a:t>
            </a:r>
          </a:p>
          <a:p>
            <a:pPr algn="l">
              <a:spcAft>
                <a:spcPts val="300"/>
              </a:spcAft>
            </a:pPr>
            <a:r>
              <a:rPr sz="1200" b="0">
                <a:solidFill>
                  <a:srgbClr val="5B6372"/>
                </a:solidFill>
                <a:latin typeface="Arial"/>
              </a:rPr>
              <a:t>Restrict case data and avoid gossip or unnecessary circulation.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Neutrality</a:t>
            </a:r>
          </a:p>
          <a:p>
            <a:pPr algn="l">
              <a:spcAft>
                <a:spcPts val="300"/>
              </a:spcAft>
            </a:pPr>
            <a:r>
              <a:rPr sz="1200" b="0">
                <a:solidFill>
                  <a:srgbClr val="5B6372"/>
                </a:solidFill>
                <a:latin typeface="Arial"/>
              </a:rPr>
              <a:t>Use trained, conflict-free decision makers and comparable questioning.</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Accuracy</a:t>
            </a:r>
          </a:p>
          <a:p>
            <a:pPr algn="l">
              <a:spcAft>
                <a:spcPts val="300"/>
              </a:spcAft>
            </a:pPr>
            <a:r>
              <a:rPr sz="1200" b="0">
                <a:solidFill>
                  <a:srgbClr val="5B6372"/>
                </a:solidFill>
                <a:latin typeface="Arial"/>
              </a:rPr>
              <a:t>Record dates, sources, uncertainty, corrections and decisions.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Support</a:t>
            </a:r>
          </a:p>
          <a:p>
            <a:pPr algn="l">
              <a:spcAft>
                <a:spcPts val="300"/>
              </a:spcAft>
            </a:pPr>
            <a:r>
              <a:rPr sz="1200" b="0">
                <a:solidFill>
                  <a:srgbClr val="5B6372"/>
                </a:solidFill>
                <a:latin typeface="Arial"/>
              </a:rPr>
              <a:t>Offer safe channels, interim options and protection from retaliation.</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worked example</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4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Policy, Ethics and Escalation at Meridian Hospitality</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At Meridian Hospitality, employee Farah reports that colleague Leon has repeatedly made jokes about her religion in a team chat. She fears that complaining will affect shift allocation because Leon is close to the duty manager.</a:t>
            </a:r>
          </a:p>
          <a:p>
            <a:pPr algn="l">
              <a:spcAft>
                <a:spcPts val="800"/>
              </a:spcAft>
            </a:pPr>
            <a:r>
              <a:rPr sz="1450" b="0">
                <a:solidFill>
                  <a:srgbClr val="161B26"/>
                </a:solidFill>
                <a:latin typeface="Arial"/>
              </a:rPr>
              <a:t>A supervisor suggests putting both employees in a room to 'clear the air'. Learners must decide the immediate response, authorised channel, confidentiality boundary, interim support and documentation required under organisational policy. This activity is educational and not legal advice.</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An escalation decision record, case-handling checklist and stakeholder communication plan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55 minutes</a:t>
            </a:r>
          </a:p>
        </p:txBody>
      </p:sp>
      <p:sp>
        <p:nvSpPr>
          <p:cNvPr id="15" name="TextBox 1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6" name="TextBox 1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7" name="TextBox 1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4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Policy, Ethics and Escalation at Meridian Hospitality</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Why is immediate informal mediation inappropriate as the default response?</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can Ravi promise—and what must he not promise—about confidentiality?</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records and personal data are necessary, accurate and restricted?</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interim support and anti-retaliation monitoring should be arranged?</a:t>
            </a:r>
          </a:p>
        </p:txBody>
      </p:sp>
      <p:sp>
        <p:nvSpPr>
          <p:cNvPr id="27" name="TextBox 2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8" name="TextBox 2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9" name="TextBox 2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wipe dir="l"/>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4 · T1 · ACTIVITY 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Policy, Ethics and Escalation at Meridian Hospitality</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your response protect the reporter without prejudging the allegation?</a:t>
            </a:r>
          </a:p>
          <a:p>
            <a:pPr>
              <a:spcAft>
                <a:spcPts val="900"/>
              </a:spcAft>
            </a:pPr>
            <a:r>
              <a:rPr sz="1450" b="0">
                <a:solidFill>
                  <a:srgbClr val="161B26"/>
                </a:solidFill>
                <a:latin typeface="Arial"/>
              </a:rPr>
              <a:t>•  Did you distinguish organisational process from legal advice and external recourse?</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response activates the correct policy channel, protects safety and fairness, limits data access and defines non-retaliation follow-up.</a:t>
            </a:r>
          </a:p>
        </p:txBody>
      </p:sp>
      <p:sp>
        <p:nvSpPr>
          <p:cNvPr id="13" name="TextBox 1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4" name="TextBox 1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5" name="TextBox 1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600" b="1">
                <a:solidFill>
                  <a:srgbClr val="10B981"/>
                </a:solidFill>
                <a:latin typeface="Arial"/>
              </a:rPr>
              <a:t>LO4 · Topic 4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3400" b="1">
                <a:solidFill>
                  <a:srgbClr val="161B26"/>
                </a:solidFill>
                <a:latin typeface="Arial"/>
              </a:rPr>
              <a:t>a measurable resolution review</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T2</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push dir="u"/>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Topic 4 · T2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is a measurable resolution review?</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Outcome</a:t>
            </a:r>
          </a:p>
          <a:p>
            <a:pPr algn="l">
              <a:spcAft>
                <a:spcPts val="300"/>
              </a:spcAft>
            </a:pPr>
            <a:r>
              <a:rPr sz="1200" b="0">
                <a:solidFill>
                  <a:srgbClr val="5B6372"/>
                </a:solidFill>
                <a:latin typeface="Arial"/>
              </a:rPr>
              <a:t>Was the agreement implemented and the original work impact reduced?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Behaviour</a:t>
            </a:r>
          </a:p>
          <a:p>
            <a:pPr algn="l">
              <a:spcAft>
                <a:spcPts val="300"/>
              </a:spcAft>
            </a:pPr>
            <a:r>
              <a:rPr sz="1200" b="0">
                <a:solidFill>
                  <a:srgbClr val="5B6372"/>
                </a:solidFill>
                <a:latin typeface="Arial"/>
              </a:rPr>
              <a:t>Are observable commitments occurring consistently?</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Relationship</a:t>
            </a:r>
          </a:p>
          <a:p>
            <a:pPr algn="l">
              <a:spcAft>
                <a:spcPts val="300"/>
              </a:spcAft>
            </a:pPr>
            <a:r>
              <a:rPr sz="1200" b="0">
                <a:solidFill>
                  <a:srgbClr val="5B6372"/>
                </a:solidFill>
                <a:latin typeface="Arial"/>
              </a:rPr>
              <a:t>Can parties raise concerns and cooperate without avoidance or retaliation?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System</a:t>
            </a:r>
          </a:p>
          <a:p>
            <a:pPr algn="l">
              <a:spcAft>
                <a:spcPts val="300"/>
              </a:spcAft>
            </a:pPr>
            <a:r>
              <a:rPr sz="1200" b="0">
                <a:solidFill>
                  <a:srgbClr val="5B6372"/>
                </a:solidFill>
                <a:latin typeface="Arial"/>
              </a:rPr>
              <a:t>Were role, workload, process or policy conditions corrected?</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Sources: Atlassian; Indeed; Training Industry; MOM grievance guidance</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4 · T2 · HOW IT 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Review-and-Prevent Cycle</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05256"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Revisit agreement</a:t>
            </a:r>
          </a:p>
        </p:txBody>
      </p:sp>
      <p:sp>
        <p:nvSpPr>
          <p:cNvPr id="11" name="TextBox 10"/>
          <p:cNvSpPr txBox="1"/>
          <p:nvPr/>
        </p:nvSpPr>
        <p:spPr>
          <a:xfrm>
            <a:off x="905256"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Check each commitment, owner, date and evidence.</a:t>
            </a:r>
          </a:p>
        </p:txBody>
      </p:sp>
      <p:sp>
        <p:nvSpPr>
          <p:cNvPr id="12" name="Chevron 11"/>
          <p:cNvSpPr/>
          <p:nvPr/>
        </p:nvSpPr>
        <p:spPr>
          <a:xfrm>
            <a:off x="2702966"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83533"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7" name="TextBox 16"/>
          <p:cNvSpPr txBox="1"/>
          <p:nvPr/>
        </p:nvSpPr>
        <p:spPr>
          <a:xfrm>
            <a:off x="3087014"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Collect signals</a:t>
            </a:r>
          </a:p>
        </p:txBody>
      </p:sp>
      <p:sp>
        <p:nvSpPr>
          <p:cNvPr id="18" name="TextBox 17"/>
          <p:cNvSpPr txBox="1"/>
          <p:nvPr/>
        </p:nvSpPr>
        <p:spPr>
          <a:xfrm>
            <a:off x="3087014"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Use work data, confidential check-ins and recurrence indicators.</a:t>
            </a:r>
          </a:p>
        </p:txBody>
      </p:sp>
      <p:sp>
        <p:nvSpPr>
          <p:cNvPr id="19" name="Chevron 18"/>
          <p:cNvSpPr/>
          <p:nvPr/>
        </p:nvSpPr>
        <p:spPr>
          <a:xfrm>
            <a:off x="4884724"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65291"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4" name="TextBox 23"/>
          <p:cNvSpPr txBox="1"/>
          <p:nvPr/>
        </p:nvSpPr>
        <p:spPr>
          <a:xfrm>
            <a:off x="5268772"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Evaluate</a:t>
            </a:r>
          </a:p>
        </p:txBody>
      </p:sp>
      <p:sp>
        <p:nvSpPr>
          <p:cNvPr id="25" name="TextBox 24"/>
          <p:cNvSpPr txBox="1"/>
          <p:nvPr/>
        </p:nvSpPr>
        <p:spPr>
          <a:xfrm>
            <a:off x="5268772"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Separate implementation, relationship and system results.</a:t>
            </a:r>
          </a:p>
        </p:txBody>
      </p:sp>
      <p:sp>
        <p:nvSpPr>
          <p:cNvPr id="26" name="Chevron 25"/>
          <p:cNvSpPr/>
          <p:nvPr/>
        </p:nvSpPr>
        <p:spPr>
          <a:xfrm>
            <a:off x="7066482"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22514"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47049"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1" name="TextBox 30"/>
          <p:cNvSpPr txBox="1"/>
          <p:nvPr/>
        </p:nvSpPr>
        <p:spPr>
          <a:xfrm>
            <a:off x="7450530"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Correct</a:t>
            </a:r>
          </a:p>
        </p:txBody>
      </p:sp>
      <p:sp>
        <p:nvSpPr>
          <p:cNvPr id="32" name="TextBox 31"/>
          <p:cNvSpPr txBox="1"/>
          <p:nvPr/>
        </p:nvSpPr>
        <p:spPr>
          <a:xfrm>
            <a:off x="7450530"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Address gaps, escalate breaches and adjust controls.</a:t>
            </a:r>
          </a:p>
        </p:txBody>
      </p:sp>
      <p:sp>
        <p:nvSpPr>
          <p:cNvPr id="33" name="Chevron 32"/>
          <p:cNvSpPr/>
          <p:nvPr/>
        </p:nvSpPr>
        <p:spPr>
          <a:xfrm>
            <a:off x="9248240" y="3607308"/>
            <a:ext cx="237744" cy="329184"/>
          </a:xfrm>
          <a:prstGeom prst="chevron">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33172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28807" y="2642616"/>
            <a:ext cx="658368" cy="6583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8" name="TextBox 37"/>
          <p:cNvSpPr txBox="1"/>
          <p:nvPr/>
        </p:nvSpPr>
        <p:spPr>
          <a:xfrm>
            <a:off x="9632288" y="3429000"/>
            <a:ext cx="1651406" cy="365760"/>
          </a:xfrm>
          <a:prstGeom prst="rect">
            <a:avLst/>
          </a:prstGeom>
          <a:noFill/>
        </p:spPr>
        <p:txBody>
          <a:bodyPr wrap="square" anchor="t">
            <a:spAutoFit/>
          </a:bodyPr>
          <a:lstStyle/>
          <a:p>
            <a:pPr algn="ctr">
              <a:spcAft>
                <a:spcPts val="400"/>
              </a:spcAft>
            </a:pPr>
            <a:r>
              <a:rPr sz="1250" b="1">
                <a:solidFill>
                  <a:srgbClr val="161B26"/>
                </a:solidFill>
                <a:latin typeface="Arial"/>
              </a:rPr>
              <a:t>Learn</a:t>
            </a:r>
          </a:p>
        </p:txBody>
      </p:sp>
      <p:sp>
        <p:nvSpPr>
          <p:cNvPr id="39" name="TextBox 38"/>
          <p:cNvSpPr txBox="1"/>
          <p:nvPr/>
        </p:nvSpPr>
        <p:spPr>
          <a:xfrm>
            <a:off x="9632288" y="3813048"/>
            <a:ext cx="1651406" cy="1280160"/>
          </a:xfrm>
          <a:prstGeom prst="rect">
            <a:avLst/>
          </a:prstGeom>
          <a:noFill/>
        </p:spPr>
        <p:txBody>
          <a:bodyPr wrap="square" anchor="t">
            <a:spAutoFit/>
          </a:bodyPr>
          <a:lstStyle/>
          <a:p>
            <a:pPr algn="ctr">
              <a:spcAft>
                <a:spcPts val="400"/>
              </a:spcAft>
            </a:pPr>
            <a:r>
              <a:rPr sz="1050" b="0">
                <a:solidFill>
                  <a:srgbClr val="5B6372"/>
                </a:solidFill>
                <a:latin typeface="Arial"/>
              </a:rPr>
              <a:t>Record lessons, standardise improvements and schedule the next review.</a:t>
            </a:r>
          </a:p>
        </p:txBody>
      </p:sp>
      <p:sp>
        <p:nvSpPr>
          <p:cNvPr id="40" name="TextBox 39"/>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41" name="TextBox 40"/>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42" name="TextBox 41"/>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Topic 4 · T2 · COMPARE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Weak Follow-Up vs Effective Review</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Weak follow-up</a:t>
            </a:r>
          </a:p>
        </p:txBody>
      </p:sp>
      <p:sp>
        <p:nvSpPr>
          <p:cNvPr id="9" name="TextBox 8"/>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Effective review</a:t>
            </a:r>
          </a:p>
        </p:txBody>
      </p:sp>
      <p:sp>
        <p:nvSpPr>
          <p:cNvPr id="10" name="TextBox 9"/>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Ask whether everyone is okay.</a:t>
            </a:r>
          </a:p>
          <a:p>
            <a:pPr>
              <a:spcAft>
                <a:spcPts val="1000"/>
              </a:spcAft>
            </a:pPr>
            <a:r>
              <a:rPr sz="1600" b="0">
                <a:solidFill>
                  <a:srgbClr val="161B26"/>
                </a:solidFill>
                <a:latin typeface="Arial"/>
              </a:rPr>
              <a:t>•  Assume silence means success.</a:t>
            </a:r>
          </a:p>
          <a:p>
            <a:pPr>
              <a:spcAft>
                <a:spcPts val="1000"/>
              </a:spcAft>
            </a:pPr>
            <a:r>
              <a:rPr sz="1600" b="0">
                <a:solidFill>
                  <a:srgbClr val="161B26"/>
                </a:solidFill>
                <a:latin typeface="Arial"/>
              </a:rPr>
              <a:t>•  Review only the two individuals.</a:t>
            </a:r>
          </a:p>
          <a:p>
            <a:pPr>
              <a:spcAft>
                <a:spcPts val="1000"/>
              </a:spcAft>
            </a:pPr>
            <a:r>
              <a:rPr sz="1600" b="0">
                <a:solidFill>
                  <a:srgbClr val="161B26"/>
                </a:solidFill>
                <a:latin typeface="Arial"/>
              </a:rPr>
              <a:t>•  Close the file after an apology.</a:t>
            </a:r>
          </a:p>
        </p:txBody>
      </p:sp>
      <p:sp>
        <p:nvSpPr>
          <p:cNvPr id="11" name="TextBox 10"/>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Check named behaviours and work outcomes against baseline.</a:t>
            </a:r>
          </a:p>
          <a:p>
            <a:pPr>
              <a:spcAft>
                <a:spcPts val="1000"/>
              </a:spcAft>
            </a:pPr>
            <a:r>
              <a:rPr sz="1600" b="0">
                <a:solidFill>
                  <a:srgbClr val="161B26"/>
                </a:solidFill>
                <a:latin typeface="Arial"/>
              </a:rPr>
              <a:t>•  Use multiple indicators and safe private feedback.</a:t>
            </a:r>
          </a:p>
          <a:p>
            <a:pPr>
              <a:spcAft>
                <a:spcPts val="1000"/>
              </a:spcAft>
            </a:pPr>
            <a:r>
              <a:rPr sz="1600" b="0">
                <a:solidFill>
                  <a:srgbClr val="161B26"/>
                </a:solidFill>
                <a:latin typeface="Arial"/>
              </a:rPr>
              <a:t>•  Review workload, handoffs, norms and manager action.</a:t>
            </a:r>
          </a:p>
          <a:p>
            <a:pPr>
              <a:spcAft>
                <a:spcPts val="1000"/>
              </a:spcAft>
            </a:pPr>
            <a:r>
              <a:rPr sz="1600" b="0">
                <a:solidFill>
                  <a:srgbClr val="161B26"/>
                </a:solidFill>
                <a:latin typeface="Arial"/>
              </a:rPr>
              <a:t>•  Assign controls, owners, dates and escalation triggers.</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
        <p:nvSpPr>
          <p:cNvPr id="15" name="TextBox 14"/>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continuous-improvement synthesis</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350"/>
                                        <p:tgtEl>
                                          <p:spTgt spid="10"/>
                                        </p:tgtEl>
                                      </p:cBhvr>
                                    </p:animEffect>
                                    <p:anim calcmode="lin" valueType="num">
                                      <p:cBhvr additive="base">
                                        <p:cTn id="1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350"/>
                                        <p:tgtEl>
                                          <p:spTgt spid="11"/>
                                        </p:tgtEl>
                                      </p:cBhvr>
                                    </p:animEffect>
                                    <p:anim calcmode="lin" valueType="num">
                                      <p:cBhvr additive="base">
                                        <p:cTn id="2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Topic 4 · T2 · SUPPORTING DATA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Balanced Review Scorecard</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Work</a:t>
            </a:r>
          </a:p>
          <a:p>
            <a:pPr algn="l">
              <a:spcAft>
                <a:spcPts val="300"/>
              </a:spcAft>
            </a:pPr>
            <a:r>
              <a:rPr sz="1200" b="0">
                <a:solidFill>
                  <a:srgbClr val="5B6372"/>
                </a:solidFill>
                <a:latin typeface="Arial"/>
              </a:rPr>
              <a:t>Rework, delay, service quality and handoff reliability.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People</a:t>
            </a:r>
          </a:p>
          <a:p>
            <a:pPr algn="l">
              <a:spcAft>
                <a:spcPts val="300"/>
              </a:spcAft>
            </a:pPr>
            <a:r>
              <a:rPr sz="1200" b="0">
                <a:solidFill>
                  <a:srgbClr val="5B6372"/>
                </a:solidFill>
                <a:latin typeface="Arial"/>
              </a:rPr>
              <a:t>Participation, stress signals, trust and psychological safety.</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Agreement</a:t>
            </a:r>
          </a:p>
          <a:p>
            <a:pPr algn="l">
              <a:spcAft>
                <a:spcPts val="300"/>
              </a:spcAft>
            </a:pPr>
            <a:r>
              <a:rPr sz="1200" b="0">
                <a:solidFill>
                  <a:srgbClr val="5B6372"/>
                </a:solidFill>
                <a:latin typeface="Arial"/>
              </a:rPr>
              <a:t>Completion of actions and adherence to behavioural commitments.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Recurrence</a:t>
            </a:r>
          </a:p>
          <a:p>
            <a:pPr algn="l">
              <a:spcAft>
                <a:spcPts val="300"/>
              </a:spcAft>
            </a:pPr>
            <a:r>
              <a:rPr sz="1200" b="0">
                <a:solidFill>
                  <a:srgbClr val="5B6372"/>
                </a:solidFill>
                <a:latin typeface="Arial"/>
              </a:rPr>
              <a:t>Repeat triggers, complaints, workarounds and policy breaches.</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
        <p:nvSpPr>
          <p:cNvPr id="29" name="TextBox 28"/>
          <p:cNvSpPr txBox="1"/>
          <p:nvPr/>
        </p:nvSpPr>
        <p:spPr>
          <a:xfrm>
            <a:off x="777240" y="6163056"/>
            <a:ext cx="10607040" cy="201168"/>
          </a:xfrm>
          <a:prstGeom prst="rect">
            <a:avLst/>
          </a:prstGeom>
          <a:noFill/>
        </p:spPr>
        <p:txBody>
          <a:bodyPr wrap="square" anchor="t">
            <a:spAutoFit/>
          </a:bodyPr>
          <a:lstStyle/>
          <a:p>
            <a:pPr algn="l">
              <a:spcAft>
                <a:spcPts val="400"/>
              </a:spcAft>
            </a:pPr>
            <a:r>
              <a:rPr sz="850" b="0">
                <a:solidFill>
                  <a:srgbClr val="5B6372"/>
                </a:solidFill>
                <a:latin typeface="Arial"/>
              </a:rPr>
              <a:t>Source: illustrative worked example</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Topic 4 · T2 · REAL-WORLD EXAMPLE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apology worked; the handoff still failed</a:t>
            </a:r>
          </a:p>
        </p:txBody>
      </p:sp>
      <p:sp>
        <p:nvSpPr>
          <p:cNvPr id="6" name="Rectangle 5"/>
          <p:cNvSpPr/>
          <p:nvPr/>
        </p:nvSpPr>
        <p:spPr>
          <a:xfrm>
            <a:off x="777240" y="1783080"/>
            <a:ext cx="1063447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28016" cy="42062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 y="2103120"/>
            <a:ext cx="28346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03120"/>
            <a:ext cx="2834640" cy="502920"/>
          </a:xfrm>
          <a:prstGeom prst="rect">
            <a:avLst/>
          </a:prstGeom>
          <a:noFill/>
        </p:spPr>
        <p:txBody>
          <a:bodyPr wrap="square" anchor="ctr">
            <a:spAutoFit/>
          </a:bodyPr>
          <a:lstStyle/>
          <a:p>
            <a:pPr algn="ctr">
              <a:spcAft>
                <a:spcPts val="400"/>
              </a:spcAft>
            </a:pPr>
            <a:r>
              <a:rPr sz="1300" b="1">
                <a:solidFill>
                  <a:srgbClr val="FFFFFF"/>
                </a:solidFill>
                <a:latin typeface="Arial"/>
              </a:rPr>
              <a:t>REAL-WORLD EXAMPLE</a:t>
            </a:r>
          </a:p>
        </p:txBody>
      </p:sp>
      <p:sp>
        <p:nvSpPr>
          <p:cNvPr id="10" name="TextBox 9"/>
          <p:cNvSpPr txBox="1"/>
          <p:nvPr/>
        </p:nvSpPr>
        <p:spPr>
          <a:xfrm>
            <a:off x="1097280" y="2880360"/>
            <a:ext cx="9966960" cy="640080"/>
          </a:xfrm>
          <a:prstGeom prst="rect">
            <a:avLst/>
          </a:prstGeom>
          <a:noFill/>
        </p:spPr>
        <p:txBody>
          <a:bodyPr wrap="square" anchor="t">
            <a:spAutoFit/>
          </a:bodyPr>
          <a:lstStyle/>
          <a:p>
            <a:pPr algn="l">
              <a:spcAft>
                <a:spcPts val="400"/>
              </a:spcAft>
            </a:pPr>
            <a:r>
              <a:rPr sz="2600" b="1">
                <a:solidFill>
                  <a:srgbClr val="161B26"/>
                </a:solidFill>
                <a:latin typeface="Arial"/>
              </a:rPr>
              <a:t>GreenGrid Engineering</a:t>
            </a:r>
          </a:p>
        </p:txBody>
      </p:sp>
      <p:sp>
        <p:nvSpPr>
          <p:cNvPr id="11" name="TextBox 10"/>
          <p:cNvSpPr txBox="1"/>
          <p:nvPr/>
        </p:nvSpPr>
        <p:spPr>
          <a:xfrm>
            <a:off x="1097280" y="3611880"/>
            <a:ext cx="9966960" cy="2194560"/>
          </a:xfrm>
          <a:prstGeom prst="rect">
            <a:avLst/>
          </a:prstGeom>
          <a:noFill/>
        </p:spPr>
        <p:txBody>
          <a:bodyPr wrap="square" anchor="t">
            <a:spAutoFit/>
          </a:bodyPr>
          <a:lstStyle/>
          <a:p>
            <a:pPr algn="l">
              <a:spcAft>
                <a:spcPts val="400"/>
              </a:spcAft>
            </a:pPr>
            <a:r>
              <a:rPr sz="1600" b="0">
                <a:solidFill>
                  <a:srgbClr val="5B6372"/>
                </a:solidFill>
                <a:latin typeface="Arial"/>
              </a:rPr>
              <a:t>Two engineers report less interpersonal tension after mediation, but late design changes continue because decision rights remain unclear. The 30-day review separates relationship repair from unresolved process risk.</a:t>
            </a:r>
          </a:p>
        </p:txBody>
      </p:sp>
      <p:sp>
        <p:nvSpPr>
          <p:cNvPr id="12" name="TextBox 11"/>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3" name="TextBox 12"/>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4" name="TextBox 13"/>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350"/>
                                        <p:tgtEl>
                                          <p:spTgt spid="10"/>
                                        </p:tgtEl>
                                      </p:cBhvr>
                                    </p:animEffect>
                                    <p:anim calcmode="lin" valueType="num">
                                      <p:cBhvr additive="base">
                                        <p:cTn id="3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350"/>
                                        <p:tgtEl>
                                          <p:spTgt spid="11"/>
                                        </p:tgtEl>
                                      </p:cBhvr>
                                    </p:animEffect>
                                    <p:anim calcmode="lin" valueType="num">
                                      <p:cBhvr additive="base">
                                        <p:cTn id="4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4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30-Day Resolution Review at GreenGrid Engineering</a:t>
            </a:r>
          </a:p>
        </p:txBody>
      </p:sp>
      <p:sp>
        <p:nvSpPr>
          <p:cNvPr id="6" name="Rectangle 5"/>
          <p:cNvSpPr/>
          <p:nvPr/>
        </p:nvSpPr>
        <p:spPr>
          <a:xfrm>
            <a:off x="777240" y="1691640"/>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28216"/>
            <a:ext cx="1691640" cy="365760"/>
          </a:xfrm>
          <a:prstGeom prst="rect">
            <a:avLst/>
          </a:prstGeom>
          <a:noFill/>
        </p:spPr>
        <p:txBody>
          <a:bodyPr wrap="square" anchor="t">
            <a:spAutoFit/>
          </a:bodyPr>
          <a:lstStyle/>
          <a:p>
            <a:pPr algn="ctr">
              <a:spcAft>
                <a:spcPts val="400"/>
              </a:spcAft>
            </a:pPr>
            <a:r>
              <a:rPr sz="1300" b="1">
                <a:solidFill>
                  <a:srgbClr val="FFFFFF"/>
                </a:solidFill>
                <a:latin typeface="Arial"/>
              </a:rPr>
              <a:t>CASE STUDY</a:t>
            </a:r>
          </a:p>
        </p:txBody>
      </p:sp>
      <p:sp>
        <p:nvSpPr>
          <p:cNvPr id="8" name="Rectangle 7"/>
          <p:cNvSpPr/>
          <p:nvPr/>
        </p:nvSpPr>
        <p:spPr>
          <a:xfrm>
            <a:off x="777240" y="2286000"/>
            <a:ext cx="1063447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86000"/>
            <a:ext cx="91440" cy="28803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87168"/>
            <a:ext cx="9966960" cy="320040"/>
          </a:xfrm>
          <a:prstGeom prst="rect">
            <a:avLst/>
          </a:prstGeom>
          <a:noFill/>
        </p:spPr>
        <p:txBody>
          <a:bodyPr wrap="square" anchor="t">
            <a:spAutoFit/>
          </a:bodyPr>
          <a:lstStyle/>
          <a:p>
            <a:pPr algn="l">
              <a:spcAft>
                <a:spcPts val="400"/>
              </a:spcAft>
            </a:pPr>
            <a:r>
              <a:rPr sz="1200" b="1">
                <a:solidFill>
                  <a:srgbClr val="10B981"/>
                </a:solidFill>
                <a:latin typeface="Arial"/>
              </a:rPr>
              <a:t>THE SITUATION</a:t>
            </a:r>
          </a:p>
        </p:txBody>
      </p:sp>
      <p:sp>
        <p:nvSpPr>
          <p:cNvPr id="11" name="TextBox 10"/>
          <p:cNvSpPr txBox="1"/>
          <p:nvPr/>
        </p:nvSpPr>
        <p:spPr>
          <a:xfrm>
            <a:off x="1097280" y="2834640"/>
            <a:ext cx="10058400" cy="2240280"/>
          </a:xfrm>
          <a:prstGeom prst="rect">
            <a:avLst/>
          </a:prstGeom>
          <a:noFill/>
        </p:spPr>
        <p:txBody>
          <a:bodyPr wrap="square" anchor="t">
            <a:spAutoFit/>
          </a:bodyPr>
          <a:lstStyle/>
          <a:p>
            <a:pPr algn="l">
              <a:spcAft>
                <a:spcPts val="800"/>
              </a:spcAft>
            </a:pPr>
            <a:r>
              <a:rPr sz="1450" b="0">
                <a:solidFill>
                  <a:srgbClr val="161B26"/>
                </a:solidFill>
                <a:latin typeface="Arial"/>
              </a:rPr>
              <a:t>GreenGrid Engineering mediated a conflict between design lead Noor and site lead Ethan after repeated late drawing changes caused rework. They agreed on respectful language, a 3:00pm change cut-off and a weekly coordination meeting.</a:t>
            </a:r>
          </a:p>
          <a:p>
            <a:pPr algn="l">
              <a:spcAft>
                <a:spcPts val="800"/>
              </a:spcAft>
            </a:pPr>
            <a:r>
              <a:rPr sz="1450" b="0">
                <a:solidFill>
                  <a:srgbClr val="161B26"/>
                </a:solidFill>
                <a:latin typeface="Arial"/>
              </a:rPr>
              <a:t>Thirty days later, meeting tone has improved and both report less stress, but three changes still arrived after the cut-off. Two were safety-related; one resulted from unclear approval authority. Learners evaluate effectiveness and design recurrence controls.</a:t>
            </a:r>
          </a:p>
        </p:txBody>
      </p:sp>
      <p:sp>
        <p:nvSpPr>
          <p:cNvPr id="12" name="Rectangle 11"/>
          <p:cNvSpPr/>
          <p:nvPr/>
        </p:nvSpPr>
        <p:spPr>
          <a:xfrm>
            <a:off x="777240" y="5349240"/>
            <a:ext cx="10634472" cy="685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7315200" cy="685800"/>
          </a:xfrm>
          <a:prstGeom prst="rect">
            <a:avLst/>
          </a:prstGeom>
          <a:noFill/>
        </p:spPr>
        <p:txBody>
          <a:bodyPr wrap="square" anchor="ctr">
            <a:spAutoFit/>
          </a:bodyPr>
          <a:lstStyle/>
          <a:p>
            <a:pPr algn="l">
              <a:spcAft>
                <a:spcPts val="400"/>
              </a:spcAft>
            </a:pPr>
            <a:r>
              <a:rPr sz="1300" b="1">
                <a:solidFill>
                  <a:srgbClr val="1F6FEB"/>
                </a:solidFill>
                <a:latin typeface="Arial"/>
              </a:rPr>
              <a:t>You'll produce:  </a:t>
            </a:r>
            <a:r>
              <a:rPr sz="1300" b="0">
                <a:solidFill>
                  <a:srgbClr val="161B26"/>
                </a:solidFill>
                <a:latin typeface="Arial"/>
              </a:rPr>
              <a:t>A 30-day effectiveness scorecard, learning review and recurrence-prevention action plan</a:t>
            </a:r>
          </a:p>
        </p:txBody>
      </p:sp>
      <p:sp>
        <p:nvSpPr>
          <p:cNvPr id="14" name="TextBox 13"/>
          <p:cNvSpPr txBox="1"/>
          <p:nvPr/>
        </p:nvSpPr>
        <p:spPr>
          <a:xfrm>
            <a:off x="8778240" y="5349240"/>
            <a:ext cx="2606040" cy="685800"/>
          </a:xfrm>
          <a:prstGeom prst="rect">
            <a:avLst/>
          </a:prstGeom>
          <a:noFill/>
        </p:spPr>
        <p:txBody>
          <a:bodyPr wrap="square" anchor="ctr">
            <a:spAutoFit/>
          </a:bodyPr>
          <a:lstStyle/>
          <a:p>
            <a:pPr algn="r">
              <a:spcAft>
                <a:spcPts val="400"/>
              </a:spcAft>
            </a:pPr>
            <a:r>
              <a:rPr sz="1300" b="1">
                <a:solidFill>
                  <a:srgbClr val="5B6372"/>
                </a:solidFill>
                <a:latin typeface="Arial"/>
              </a:rPr>
              <a:t>Duration: </a:t>
            </a:r>
            <a:r>
              <a:rPr sz="1300" b="0">
                <a:solidFill>
                  <a:srgbClr val="5B6372"/>
                </a:solidFill>
                <a:latin typeface="Arial"/>
              </a:rPr>
              <a:t>55 minutes</a:t>
            </a:r>
          </a:p>
        </p:txBody>
      </p:sp>
      <p:sp>
        <p:nvSpPr>
          <p:cNvPr id="15" name="TextBox 1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6" name="TextBox 1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7" name="TextBox 1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350"/>
                                        <p:tgtEl>
                                          <p:spTgt spid="11"/>
                                        </p:tgtEl>
                                      </p:cBhvr>
                                    </p:animEffect>
                                    <p:anim calcmode="lin" valueType="num">
                                      <p:cBhvr additive="base">
                                        <p:cTn id="35" dur="350" fill="hold"/>
                                        <p:tgtEl>
                                          <p:spTgt spid="11"/>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50"/>
                                        <p:tgtEl>
                                          <p:spTgt spid="12"/>
                                        </p:tgtEl>
                                      </p:cBhvr>
                                    </p:animEffect>
                                    <p:anim calcmode="lin" valueType="num">
                                      <p:cBhvr additive="base">
                                        <p:cTn id="4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par>
                    <p:cTn id="50" fill="hold">
                      <p:stCondLst>
                        <p:cond delay="0"/>
                      </p:stCondLst>
                      <p:childTnLst>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350"/>
                                        <p:tgtEl>
                                          <p:spTgt spid="13"/>
                                        </p:tgtEl>
                                      </p:cBhvr>
                                    </p:animEffect>
                                    <p:anim calcmode="lin" valueType="num">
                                      <p:cBhvr additive="base">
                                        <p:cTn id="5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60" fill="hold">
                      <p:stCondLst>
                        <p:cond delay="0"/>
                      </p:stCondLst>
                      <p:childTnLst>
                        <p:par>
                          <p:cTn id="61" fill="hold">
                            <p:stCondLst>
                              <p:cond delay="0"/>
                            </p:stCondLst>
                            <p:childTnLst>
                              <p:par>
                                <p:cTn id="62" presetID="10" presetClass="entr" presetSubtype="0" fill="hold" grpId="0" nodeType="after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350"/>
                                        <p:tgtEl>
                                          <p:spTgt spid="14"/>
                                        </p:tgtEl>
                                      </p:cBhvr>
                                    </p:animEffect>
                                    <p:anim calcmode="lin" valueType="num">
                                      <p:cBhvr additive="base">
                                        <p:cTn id="6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4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30-Day Resolution Review at GreenGrid Engineering</a:t>
            </a:r>
          </a:p>
        </p:txBody>
      </p:sp>
      <p:sp>
        <p:nvSpPr>
          <p:cNvPr id="6" name="TextBox 5"/>
          <p:cNvSpPr txBox="1"/>
          <p:nvPr/>
        </p:nvSpPr>
        <p:spPr>
          <a:xfrm>
            <a:off x="777240" y="1719072"/>
            <a:ext cx="8229600" cy="365760"/>
          </a:xfrm>
          <a:prstGeom prst="rect">
            <a:avLst/>
          </a:prstGeom>
          <a:noFill/>
        </p:spPr>
        <p:txBody>
          <a:bodyPr wrap="square" anchor="t">
            <a:spAutoFit/>
          </a:bodyPr>
          <a:lstStyle/>
          <a:p>
            <a:pPr algn="l">
              <a:spcAft>
                <a:spcPts val="400"/>
              </a:spcAft>
            </a:pPr>
            <a:r>
              <a:rPr sz="1300" b="1">
                <a:solidFill>
                  <a:srgbClr val="5B6372"/>
                </a:solidFill>
                <a:latin typeface="Arial"/>
              </a:rPr>
              <a:t>DISCUSSION &amp; DECISION PROMPTS</a:t>
            </a:r>
          </a:p>
        </p:txBody>
      </p:sp>
      <p:sp>
        <p:nvSpPr>
          <p:cNvPr id="7" name="Rectangle 6"/>
          <p:cNvSpPr/>
          <p:nvPr/>
        </p:nvSpPr>
        <p:spPr>
          <a:xfrm>
            <a:off x="777240" y="2148840"/>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78408" y="2334006"/>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334006"/>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11" name="TextBox 10"/>
          <p:cNvSpPr txBox="1"/>
          <p:nvPr/>
        </p:nvSpPr>
        <p:spPr>
          <a:xfrm>
            <a:off x="1737360" y="2148840"/>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parts of the original resolution were effective, partly effective or ineffective?</a:t>
            </a:r>
          </a:p>
        </p:txBody>
      </p:sp>
      <p:sp>
        <p:nvSpPr>
          <p:cNvPr id="12" name="Rectangle 11"/>
          <p:cNvSpPr/>
          <p:nvPr/>
        </p:nvSpPr>
        <p:spPr>
          <a:xfrm>
            <a:off x="777240" y="3168396"/>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8396"/>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78408" y="3353562"/>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8408" y="3353562"/>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16" name="TextBox 15"/>
          <p:cNvSpPr txBox="1"/>
          <p:nvPr/>
        </p:nvSpPr>
        <p:spPr>
          <a:xfrm>
            <a:off x="1737360" y="3168396"/>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evidence is needed beyond self-report?</a:t>
            </a:r>
          </a:p>
        </p:txBody>
      </p:sp>
      <p:sp>
        <p:nvSpPr>
          <p:cNvPr id="17" name="Rectangle 16"/>
          <p:cNvSpPr/>
          <p:nvPr/>
        </p:nvSpPr>
        <p:spPr>
          <a:xfrm>
            <a:off x="777240" y="4187952"/>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187952"/>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78408" y="4373118"/>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4373118"/>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21" name="TextBox 20"/>
          <p:cNvSpPr txBox="1"/>
          <p:nvPr/>
        </p:nvSpPr>
        <p:spPr>
          <a:xfrm>
            <a:off x="1737360" y="4187952"/>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Which recurrence cause is behavioural, and which is structural?</a:t>
            </a:r>
          </a:p>
        </p:txBody>
      </p:sp>
      <p:sp>
        <p:nvSpPr>
          <p:cNvPr id="22" name="Rectangle 21"/>
          <p:cNvSpPr/>
          <p:nvPr/>
        </p:nvSpPr>
        <p:spPr>
          <a:xfrm>
            <a:off x="777240" y="5207508"/>
            <a:ext cx="10634472" cy="8732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07508"/>
            <a:ext cx="73152" cy="8732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8408" y="5392674"/>
            <a:ext cx="502920" cy="5029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 y="5392674"/>
            <a:ext cx="502920" cy="502920"/>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26" name="TextBox 25"/>
          <p:cNvSpPr txBox="1"/>
          <p:nvPr/>
        </p:nvSpPr>
        <p:spPr>
          <a:xfrm>
            <a:off x="1737360" y="5207508"/>
            <a:ext cx="9308592" cy="873252"/>
          </a:xfrm>
          <a:prstGeom prst="rect">
            <a:avLst/>
          </a:prstGeom>
          <a:noFill/>
        </p:spPr>
        <p:txBody>
          <a:bodyPr wrap="square" anchor="ctr">
            <a:spAutoFit/>
          </a:bodyPr>
          <a:lstStyle/>
          <a:p>
            <a:pPr algn="l">
              <a:spcAft>
                <a:spcPts val="400"/>
              </a:spcAft>
            </a:pPr>
            <a:r>
              <a:rPr sz="1450" b="0">
                <a:solidFill>
                  <a:srgbClr val="161B26"/>
                </a:solidFill>
                <a:latin typeface="Arial"/>
              </a:rPr>
              <a:t>What preventive control, owner, date and trigger should be added?</a:t>
            </a:r>
          </a:p>
        </p:txBody>
      </p:sp>
      <p:sp>
        <p:nvSpPr>
          <p:cNvPr id="27" name="TextBox 2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8" name="TextBox 2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9" name="TextBox 2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wipe dir="l"/>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Topic 4 · T2 ·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30-Day Resolution Review at GreenGrid Engineering</a:t>
            </a:r>
          </a:p>
        </p:txBody>
      </p:sp>
      <p:sp>
        <p:nvSpPr>
          <p:cNvPr id="6" name="Rectangle 5"/>
          <p:cNvSpPr/>
          <p:nvPr/>
        </p:nvSpPr>
        <p:spPr>
          <a:xfrm>
            <a:off x="777240" y="1783080"/>
            <a:ext cx="10634472" cy="2651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651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965960"/>
            <a:ext cx="10058400" cy="365760"/>
          </a:xfrm>
          <a:prstGeom prst="rect">
            <a:avLst/>
          </a:prstGeom>
          <a:noFill/>
        </p:spPr>
        <p:txBody>
          <a:bodyPr wrap="square" anchor="t">
            <a:spAutoFit/>
          </a:bodyPr>
          <a:lstStyle/>
          <a:p>
            <a:pPr algn="l">
              <a:spcAft>
                <a:spcPts val="400"/>
              </a:spcAft>
            </a:pPr>
            <a:r>
              <a:rPr sz="1300" b="1">
                <a:solidFill>
                  <a:srgbClr val="7C3AED"/>
                </a:solidFill>
                <a:latin typeface="Arial"/>
              </a:rPr>
              <a:t>REFLECT &amp; DISCUSS</a:t>
            </a:r>
          </a:p>
        </p:txBody>
      </p:sp>
      <p:sp>
        <p:nvSpPr>
          <p:cNvPr id="9" name="TextBox 8"/>
          <p:cNvSpPr txBox="1"/>
          <p:nvPr/>
        </p:nvSpPr>
        <p:spPr>
          <a:xfrm>
            <a:off x="1051560" y="2377440"/>
            <a:ext cx="10058400" cy="1920240"/>
          </a:xfrm>
          <a:prstGeom prst="rect">
            <a:avLst/>
          </a:prstGeom>
          <a:noFill/>
        </p:spPr>
        <p:txBody>
          <a:bodyPr wrap="square">
            <a:spAutoFit/>
          </a:bodyPr>
          <a:lstStyle/>
          <a:p>
            <a:pPr>
              <a:spcAft>
                <a:spcPts val="900"/>
              </a:spcAft>
            </a:pPr>
            <a:r>
              <a:rPr sz="1450" b="0">
                <a:solidFill>
                  <a:srgbClr val="161B26"/>
                </a:solidFill>
                <a:latin typeface="Arial"/>
              </a:rPr>
              <a:t>•  Did you avoid treating all exceptions as breaches?</a:t>
            </a:r>
          </a:p>
          <a:p>
            <a:pPr>
              <a:spcAft>
                <a:spcPts val="900"/>
              </a:spcAft>
            </a:pPr>
            <a:r>
              <a:rPr sz="1450" b="0">
                <a:solidFill>
                  <a:srgbClr val="161B26"/>
                </a:solidFill>
                <a:latin typeface="Arial"/>
              </a:rPr>
              <a:t>•  Does the prevention plan change the system as well as individual behaviour?</a:t>
            </a:r>
          </a:p>
        </p:txBody>
      </p:sp>
      <p:sp>
        <p:nvSpPr>
          <p:cNvPr id="10" name="Rectangle 9"/>
          <p:cNvSpPr/>
          <p:nvPr/>
        </p:nvSpPr>
        <p:spPr>
          <a:xfrm>
            <a:off x="777240" y="4663440"/>
            <a:ext cx="10634472" cy="1371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864608"/>
            <a:ext cx="10058400" cy="365760"/>
          </a:xfrm>
          <a:prstGeom prst="rect">
            <a:avLst/>
          </a:prstGeom>
          <a:noFill/>
        </p:spPr>
        <p:txBody>
          <a:bodyPr wrap="square" anchor="t">
            <a:spAutoFit/>
          </a:bodyPr>
          <a:lstStyle/>
          <a:p>
            <a:pPr algn="l">
              <a:spcAft>
                <a:spcPts val="400"/>
              </a:spcAft>
            </a:pPr>
            <a:r>
              <a:rPr sz="1500" b="1">
                <a:solidFill>
                  <a:srgbClr val="127A3E"/>
                </a:solidFill>
                <a:latin typeface="Arial"/>
              </a:rPr>
              <a:t>✓  Facilitator debrief check</a:t>
            </a:r>
          </a:p>
        </p:txBody>
      </p:sp>
      <p:sp>
        <p:nvSpPr>
          <p:cNvPr id="12" name="TextBox 11"/>
          <p:cNvSpPr txBox="1"/>
          <p:nvPr/>
        </p:nvSpPr>
        <p:spPr>
          <a:xfrm>
            <a:off x="1051560" y="5257800"/>
            <a:ext cx="10058400" cy="731520"/>
          </a:xfrm>
          <a:prstGeom prst="rect">
            <a:avLst/>
          </a:prstGeom>
          <a:noFill/>
        </p:spPr>
        <p:txBody>
          <a:bodyPr wrap="square" anchor="t">
            <a:spAutoFit/>
          </a:bodyPr>
          <a:lstStyle/>
          <a:p>
            <a:pPr algn="l">
              <a:spcAft>
                <a:spcPts val="400"/>
              </a:spcAft>
            </a:pPr>
            <a:r>
              <a:rPr sz="1300" b="0">
                <a:solidFill>
                  <a:srgbClr val="161B26"/>
                </a:solidFill>
                <a:latin typeface="Arial"/>
              </a:rPr>
              <a:t>The review reaches an evidence-based verdict and adds preventive controls with ownership, timing and measurable follow-up.</a:t>
            </a:r>
          </a:p>
        </p:txBody>
      </p:sp>
      <p:sp>
        <p:nvSpPr>
          <p:cNvPr id="13" name="TextBox 12"/>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4" name="TextBox 13"/>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5" name="TextBox 14"/>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wipe dir="l"/>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350"/>
                                        <p:tgtEl>
                                          <p:spTgt spid="9"/>
                                        </p:tgtEl>
                                      </p:cBhvr>
                                    </p:animEffect>
                                    <p:anim calcmode="lin" valueType="num">
                                      <p:cBhvr additive="base">
                                        <p:cTn id="1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50"/>
                                        <p:tgtEl>
                                          <p:spTgt spid="10"/>
                                        </p:tgtEl>
                                      </p:cBhvr>
                                    </p:animEffect>
                                    <p:anim calcmode="lin" valueType="num">
                                      <p:cBhvr additive="base">
                                        <p:cTn id="25" dur="350" fill="hold"/>
                                        <p:tgtEl>
                                          <p:spTgt spid="10"/>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350"/>
                                        <p:tgtEl>
                                          <p:spTgt spid="12"/>
                                        </p:tgtEl>
                                      </p:cBhvr>
                                    </p:animEffect>
                                    <p:anim calcmode="lin" valueType="num">
                                      <p:cBhvr additive="base">
                                        <p:cTn id="35" dur="350" fill="hold"/>
                                        <p:tgtEl>
                                          <p:spTgt spid="12"/>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4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100" b="1">
                <a:solidFill>
                  <a:srgbClr val="161B26"/>
                </a:solidFill>
                <a:latin typeface="Arial"/>
              </a:rPr>
              <a:t>Recap — Reviewing Effectiveness and Preventing Recurrence</a:t>
            </a: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Policy, Ethics and Escalation at Meridian Hospitality</a:t>
            </a:r>
          </a:p>
          <a:p>
            <a:pPr algn="l">
              <a:spcAft>
                <a:spcPts val="300"/>
              </a:spcAft>
            </a:pPr>
            <a:r>
              <a:rPr sz="1200" b="0">
                <a:solidFill>
                  <a:srgbClr val="5B6372"/>
                </a:solidFill>
                <a:latin typeface="Arial"/>
              </a:rPr>
              <a:t>You can now: distinguish resolvable disagreement from conduct requiring formal, confidential escalation.</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4187952"/>
          </a:xfrm>
          <a:prstGeom prst="rect">
            <a:avLst/>
          </a:prstGeom>
          <a:noFill/>
        </p:spPr>
        <p:txBody>
          <a:bodyPr wrap="square" anchor="ctr">
            <a:spAutoFit/>
          </a:bodyPr>
          <a:lstStyle/>
          <a:p>
            <a:pPr algn="l">
              <a:spcAft>
                <a:spcPts val="300"/>
              </a:spcAft>
            </a:pPr>
            <a:r>
              <a:rPr sz="1600" b="1">
                <a:solidFill>
                  <a:srgbClr val="161B26"/>
                </a:solidFill>
                <a:latin typeface="Arial"/>
              </a:rPr>
              <a:t>30-Day Resolution Review at GreenGrid Engineering</a:t>
            </a:r>
          </a:p>
          <a:p>
            <a:pPr algn="l">
              <a:spcAft>
                <a:spcPts val="300"/>
              </a:spcAft>
            </a:pPr>
            <a:r>
              <a:rPr sz="1200" b="0">
                <a:solidFill>
                  <a:srgbClr val="5B6372"/>
                </a:solidFill>
                <a:latin typeface="Arial"/>
              </a:rPr>
              <a:t>You can now: evaluate resolution effectiveness and design controls that prevent recurrence.</a:t>
            </a:r>
          </a:p>
        </p:txBody>
      </p:sp>
      <p:sp>
        <p:nvSpPr>
          <p:cNvPr id="16" name="TextBox 1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17" name="TextBox 1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8" name="TextBox 1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350"/>
                                        <p:tgtEl>
                                          <p:spTgt spid="8"/>
                                        </p:tgtEl>
                                      </p:cBhvr>
                                    </p:animEffect>
                                    <p:anim calcmode="lin" valueType="num">
                                      <p:cBhvr additive="base">
                                        <p:cTn id="15" dur="350" fill="hold"/>
                                        <p:tgtEl>
                                          <p:spTgt spid="8"/>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50"/>
                                        <p:tgtEl>
                                          <p:spTgt spid="9"/>
                                        </p:tgtEl>
                                      </p:cBhvr>
                                    </p:animEffect>
                                    <p:anim calcmode="lin" valueType="num">
                                      <p:cBhvr additive="base">
                                        <p:cTn id="25" dur="350" fill="hold"/>
                                        <p:tgtEl>
                                          <p:spTgt spid="9"/>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350"/>
                                        <p:tgtEl>
                                          <p:spTgt spid="13"/>
                                        </p:tgtEl>
                                      </p:cBhvr>
                                    </p:animEffect>
                                    <p:anim calcmode="lin" valueType="num">
                                      <p:cBhvr additive="base">
                                        <p:cTn id="35" dur="350" fill="hold"/>
                                        <p:tgtEl>
                                          <p:spTgt spid="13"/>
                                        </p:tgtEl>
                                        <p:attrNameLst>
                                          <p:attrName>ppt_y</p:attrName>
                                        </p:attrNameLst>
                                      </p:cBhvr>
                                      <p:tavLst>
                                        <p:tav tm="0">
                                          <p:val>
                                            <p:strVal val="#ppt_y+0.0350"/>
                                          </p:val>
                                        </p:tav>
                                        <p:tav tm="100000">
                                          <p:val>
                                            <p:strVal val="#ppt_y"/>
                                          </p:val>
                                        </p:tav>
                                      </p:tavLst>
                                    </p:anim>
                                  </p:childTnLst>
                                </p:cTn>
                              </p:par>
                            </p:childTnLst>
                          </p:cTn>
                        </p:par>
                      </p:childTnLst>
                    </p:cTn>
                  </p:par>
                  <p:par>
                    <p:cTn id="40" fill="hold">
                      <p:stCondLst>
                        <p:cond delay="0"/>
                      </p:stCondLst>
                      <p:childTnLst>
                        <p:par>
                          <p:cTn id="41" fill="hold">
                            <p:stCondLst>
                              <p:cond delay="0"/>
                            </p:stCondLst>
                            <p:childTnLst>
                              <p:par>
                                <p:cTn id="42" presetID="10" presetClass="entr" presetSubtype="0"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50"/>
                                        <p:tgtEl>
                                          <p:spTgt spid="14"/>
                                        </p:tgtEl>
                                      </p:cBhvr>
                                    </p:animEffect>
                                    <p:anim calcmode="lin" valueType="num">
                                      <p:cBhvr additive="base">
                                        <p:cTn id="45" dur="350" fill="hold"/>
                                        <p:tgtEl>
                                          <p:spTgt spid="14"/>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Topic 4 · WHY IT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Closure is an agreement; prevention is a changed system.</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Review both the relationship and the work, then remove the condition that fed the conflict.</a:t>
            </a:r>
          </a:p>
        </p:txBody>
      </p:sp>
      <p:sp>
        <p:nvSpPr>
          <p:cNvPr id="7" name="TextBox 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8" name="TextBox 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9" name="TextBox 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zoom/>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1</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Tertiary Courses: official course page</a:t>
            </a:r>
          </a:p>
          <a:p>
            <a:pPr algn="l">
              <a:spcAft>
                <a:spcPts val="300"/>
              </a:spcAft>
            </a:pPr>
            <a:r>
              <a:rPr sz="1000" b="0">
                <a:solidFill>
                  <a:srgbClr val="5B6372"/>
                </a:solidFill>
                <a:latin typeface="Arial"/>
              </a:rPr>
              <a:t>tertiarycourses.com.sg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Atlassian: conflict resolution skills</a:t>
            </a:r>
          </a:p>
          <a:p>
            <a:pPr algn="l">
              <a:spcAft>
                <a:spcPts val="300"/>
              </a:spcAft>
            </a:pPr>
            <a:r>
              <a:rPr sz="1000" b="0">
                <a:solidFill>
                  <a:srgbClr val="5B6372"/>
                </a:solidFill>
                <a:latin typeface="Arial"/>
              </a:rPr>
              <a:t>atlassian.com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Coursera: conflict resolution skills</a:t>
            </a:r>
          </a:p>
          <a:p>
            <a:pPr algn="l">
              <a:spcAft>
                <a:spcPts val="300"/>
              </a:spcAft>
            </a:pPr>
            <a:r>
              <a:rPr sz="1000" b="0">
                <a:solidFill>
                  <a:srgbClr val="5B6372"/>
                </a:solidFill>
                <a:latin typeface="Arial"/>
              </a:rPr>
              <a:t>coursera.org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Study.com: conflict resolution overview and examples</a:t>
            </a:r>
          </a:p>
          <a:p>
            <a:pPr algn="l">
              <a:spcAft>
                <a:spcPts val="300"/>
              </a:spcAft>
            </a:pPr>
            <a:r>
              <a:rPr sz="1000" b="0">
                <a:solidFill>
                  <a:srgbClr val="5B6372"/>
                </a:solidFill>
                <a:latin typeface="Arial"/>
              </a:rPr>
              <a:t>study.com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SNHU: conflict resolution in the workplace</a:t>
            </a:r>
          </a:p>
          <a:p>
            <a:pPr algn="l">
              <a:spcAft>
                <a:spcPts val="300"/>
              </a:spcAft>
            </a:pPr>
            <a:r>
              <a:rPr sz="1000" b="0">
                <a:solidFill>
                  <a:srgbClr val="5B6372"/>
                </a:solidFill>
                <a:latin typeface="Arial"/>
              </a:rPr>
              <a:t>snhu.edu</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Situational Leadership: leader conflict resolution skills</a:t>
            </a:r>
          </a:p>
          <a:p>
            <a:pPr algn="l">
              <a:spcAft>
                <a:spcPts val="300"/>
              </a:spcAft>
            </a:pPr>
            <a:r>
              <a:rPr sz="1000" b="0">
                <a:solidFill>
                  <a:srgbClr val="5B6372"/>
                </a:solidFill>
                <a:latin typeface="Arial"/>
              </a:rPr>
              <a:t>situational.com</a:t>
            </a:r>
          </a:p>
        </p:txBody>
      </p:sp>
      <p:sp>
        <p:nvSpPr>
          <p:cNvPr id="36" name="TextBox 3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7" name="TextBox 3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8" name="TextBox 3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2</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Worksafe UK: five essential conflict resolution skills</a:t>
            </a:r>
          </a:p>
          <a:p>
            <a:pPr algn="l">
              <a:spcAft>
                <a:spcPts val="300"/>
              </a:spcAft>
            </a:pPr>
            <a:r>
              <a:rPr sz="1000" b="0">
                <a:solidFill>
                  <a:srgbClr val="5B6372"/>
                </a:solidFill>
                <a:latin typeface="Arial"/>
              </a:rPr>
              <a:t>worksafe.uk.com</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mindbodygreen: conflict resolution skills and strategies</a:t>
            </a:r>
          </a:p>
          <a:p>
            <a:pPr algn="l">
              <a:spcAft>
                <a:spcPts val="300"/>
              </a:spcAft>
            </a:pPr>
            <a:r>
              <a:rPr sz="1000" b="0">
                <a:solidFill>
                  <a:srgbClr val="5B6372"/>
                </a:solidFill>
                <a:latin typeface="Arial"/>
              </a:rPr>
              <a:t>mindbodygreen.com</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Training Industry: conflict resolution skills for leaders</a:t>
            </a:r>
          </a:p>
          <a:p>
            <a:pPr algn="l">
              <a:spcAft>
                <a:spcPts val="300"/>
              </a:spcAft>
            </a:pPr>
            <a:r>
              <a:rPr sz="1000" b="0">
                <a:solidFill>
                  <a:srgbClr val="5B6372"/>
                </a:solidFill>
                <a:latin typeface="Arial"/>
              </a:rPr>
              <a:t>trainingindustry.com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Indeed: conflict resolution skills</a:t>
            </a:r>
          </a:p>
          <a:p>
            <a:pPr algn="l">
              <a:spcAft>
                <a:spcPts val="300"/>
              </a:spcAft>
            </a:pPr>
            <a:r>
              <a:rPr sz="1000" b="0">
                <a:solidFill>
                  <a:srgbClr val="5B6372"/>
                </a:solidFill>
                <a:latin typeface="Arial"/>
              </a:rPr>
              <a:t>indeed.com</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HelpGuide: conflict resolution skills</a:t>
            </a:r>
          </a:p>
          <a:p>
            <a:pPr algn="l">
              <a:spcAft>
                <a:spcPts val="300"/>
              </a:spcAft>
            </a:pPr>
            <a:r>
              <a:rPr sz="1000" b="0">
                <a:solidFill>
                  <a:srgbClr val="5B6372"/>
                </a:solidFill>
                <a:latin typeface="Arial"/>
              </a:rPr>
              <a:t>helpguide.org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Harvard Program on Negotiation: conflict resolution strategies</a:t>
            </a:r>
          </a:p>
          <a:p>
            <a:pPr algn="l">
              <a:spcAft>
                <a:spcPts val="300"/>
              </a:spcAft>
            </a:pPr>
            <a:r>
              <a:rPr sz="1000" b="0">
                <a:solidFill>
                  <a:srgbClr val="5B6372"/>
                </a:solidFill>
                <a:latin typeface="Arial"/>
              </a:rPr>
              <a:t>pon.harvard.edu</a:t>
            </a:r>
          </a:p>
        </p:txBody>
      </p:sp>
      <p:sp>
        <p:nvSpPr>
          <p:cNvPr id="36" name="TextBox 3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7" name="TextBox 3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8" name="TextBox 3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3</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Harvard Business School Online: workplace conflict resolution</a:t>
            </a:r>
          </a:p>
          <a:p>
            <a:pPr algn="l">
              <a:spcAft>
                <a:spcPts val="300"/>
              </a:spcAft>
            </a:pPr>
            <a:r>
              <a:rPr sz="1000" b="0">
                <a:solidFill>
                  <a:srgbClr val="5B6372"/>
                </a:solidFill>
                <a:latin typeface="Arial"/>
              </a:rPr>
              <a:t>online.hbs.edu</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Coursera: conflict management</a:t>
            </a:r>
          </a:p>
          <a:p>
            <a:pPr algn="l">
              <a:spcAft>
                <a:spcPts val="300"/>
              </a:spcAft>
            </a:pPr>
            <a:r>
              <a:rPr sz="1000" b="0">
                <a:solidFill>
                  <a:srgbClr val="5B6372"/>
                </a:solidFill>
                <a:latin typeface="Arial"/>
              </a:rPr>
              <a:t>coursera.org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Syracuse University: conflict management strategies</a:t>
            </a:r>
          </a:p>
          <a:p>
            <a:pPr algn="l">
              <a:spcAft>
                <a:spcPts val="300"/>
              </a:spcAft>
            </a:pPr>
            <a:r>
              <a:rPr sz="1000" b="0">
                <a:solidFill>
                  <a:srgbClr val="5B6372"/>
                </a:solidFill>
                <a:latin typeface="Arial"/>
              </a:rPr>
              <a:t>ischool.syracuse.edu</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UC Berkeley Ombuds: tips, tools and techniques</a:t>
            </a:r>
          </a:p>
          <a:p>
            <a:pPr algn="l">
              <a:spcAft>
                <a:spcPts val="300"/>
              </a:spcAft>
            </a:pPr>
            <a:r>
              <a:rPr sz="1000" b="0">
                <a:solidFill>
                  <a:srgbClr val="5B6372"/>
                </a:solidFill>
                <a:latin typeface="Arial"/>
              </a:rPr>
              <a:t>studentaffairs.berkeley.edu</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Indeed: conflict resolution strategies</a:t>
            </a:r>
          </a:p>
          <a:p>
            <a:pPr algn="l">
              <a:spcAft>
                <a:spcPts val="300"/>
              </a:spcAft>
            </a:pPr>
            <a:r>
              <a:rPr sz="1000" b="0">
                <a:solidFill>
                  <a:srgbClr val="5B6372"/>
                </a:solidFill>
                <a:latin typeface="Arial"/>
              </a:rPr>
              <a:t>indeed.com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National University: conflict resolution communication tips</a:t>
            </a:r>
          </a:p>
          <a:p>
            <a:pPr algn="l">
              <a:spcAft>
                <a:spcPts val="300"/>
              </a:spcAft>
            </a:pPr>
            <a:r>
              <a:rPr sz="1000" b="0">
                <a:solidFill>
                  <a:srgbClr val="5B6372"/>
                </a:solidFill>
                <a:latin typeface="Arial"/>
              </a:rPr>
              <a:t>nu.edu</a:t>
            </a:r>
          </a:p>
        </p:txBody>
      </p:sp>
      <p:sp>
        <p:nvSpPr>
          <p:cNvPr id="36" name="TextBox 3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7" name="TextBox 3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8" name="TextBox 3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SOURCE-ALIGNED COURSEWARE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Sources &amp; Further Reading — 4</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Academy of Business Research: conflict resolution strategies</a:t>
            </a:r>
          </a:p>
          <a:p>
            <a:pPr algn="l">
              <a:spcAft>
                <a:spcPts val="300"/>
              </a:spcAft>
            </a:pPr>
            <a:r>
              <a:rPr sz="1000" b="0">
                <a:solidFill>
                  <a:srgbClr val="5B6372"/>
                </a:solidFill>
                <a:latin typeface="Arial"/>
              </a:rPr>
              <a:t>abacademies.org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Singapore MOM: workplace grievances</a:t>
            </a:r>
          </a:p>
          <a:p>
            <a:pPr algn="l">
              <a:spcAft>
                <a:spcPts val="300"/>
              </a:spcAft>
            </a:pPr>
            <a:r>
              <a:rPr sz="1000" b="0">
                <a:solidFill>
                  <a:srgbClr val="5B6372"/>
                </a:solidFill>
                <a:latin typeface="Arial"/>
              </a:rPr>
              <a:t>mom.gov.sg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Singapore MOM: Tripartite Advisory on Managing Workplace Harassment</a:t>
            </a:r>
          </a:p>
          <a:p>
            <a:pPr algn="l">
              <a:spcAft>
                <a:spcPts val="300"/>
              </a:spcAft>
            </a:pPr>
            <a:r>
              <a:rPr sz="1000" b="0">
                <a:solidFill>
                  <a:srgbClr val="5B6372"/>
                </a:solidFill>
                <a:latin typeface="Arial"/>
              </a:rPr>
              <a:t>mom.gov.sg</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Singapore MOM: Workplace Fairness Act implementation update</a:t>
            </a:r>
          </a:p>
          <a:p>
            <a:pPr algn="l">
              <a:spcAft>
                <a:spcPts val="300"/>
              </a:spcAft>
            </a:pPr>
            <a:r>
              <a:rPr sz="1000" b="0">
                <a:solidFill>
                  <a:srgbClr val="5B6372"/>
                </a:solidFill>
                <a:latin typeface="Arial"/>
              </a:rPr>
              <a:t>mom.gov.sg</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Singapore Ministry of Law: Protection from Harassment Act</a:t>
            </a:r>
          </a:p>
          <a:p>
            <a:pPr algn="l">
              <a:spcAft>
                <a:spcPts val="300"/>
              </a:spcAft>
            </a:pPr>
            <a:r>
              <a:rPr sz="1000" b="0">
                <a:solidFill>
                  <a:srgbClr val="5B6372"/>
                </a:solidFill>
                <a:latin typeface="Arial"/>
              </a:rPr>
              <a:t>mlaw.gov.sg</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Singapore PDPC: personal data protection obligations</a:t>
            </a:r>
          </a:p>
          <a:p>
            <a:pPr algn="l">
              <a:spcAft>
                <a:spcPts val="300"/>
              </a:spcAft>
            </a:pPr>
            <a:r>
              <a:rPr sz="1000" b="0">
                <a:solidFill>
                  <a:srgbClr val="5B6372"/>
                </a:solidFill>
                <a:latin typeface="Arial"/>
              </a:rPr>
              <a:t>pdpc.gov.sg</a:t>
            </a:r>
          </a:p>
        </p:txBody>
      </p:sp>
      <p:sp>
        <p:nvSpPr>
          <p:cNvPr id="36" name="TextBox 3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7" name="TextBox 3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8" name="TextBox 3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The Resolve-and-Prevent Playbook</a:t>
            </a:r>
          </a:p>
        </p:txBody>
      </p:sp>
      <p:sp>
        <p:nvSpPr>
          <p:cNvPr id="6" name="TextBox 5"/>
          <p:cNvSpPr txBox="1"/>
          <p:nvPr/>
        </p:nvSpPr>
        <p:spPr>
          <a:xfrm>
            <a:off x="777240"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01</a:t>
            </a:r>
          </a:p>
        </p:txBody>
      </p:sp>
      <p:sp>
        <p:nvSpPr>
          <p:cNvPr id="7" name="TextBox 6"/>
          <p:cNvSpPr txBox="1"/>
          <p:nvPr/>
        </p:nvSpPr>
        <p:spPr>
          <a:xfrm>
            <a:off x="777240" y="2697480"/>
            <a:ext cx="2425446" cy="685800"/>
          </a:xfrm>
          <a:prstGeom prst="rect">
            <a:avLst/>
          </a:prstGeom>
          <a:noFill/>
        </p:spPr>
        <p:txBody>
          <a:bodyPr wrap="square" anchor="t">
            <a:spAutoFit/>
          </a:bodyPr>
          <a:lstStyle/>
          <a:p>
            <a:pPr algn="l">
              <a:spcAft>
                <a:spcPts val="400"/>
              </a:spcAft>
            </a:pPr>
            <a:r>
              <a:rPr sz="1600" b="1">
                <a:solidFill>
                  <a:srgbClr val="1F6FEB"/>
                </a:solidFill>
                <a:latin typeface="Arial"/>
              </a:rPr>
              <a:t>Recognise</a:t>
            </a:r>
          </a:p>
        </p:txBody>
      </p:sp>
      <p:sp>
        <p:nvSpPr>
          <p:cNvPr id="8" name="TextBox 7"/>
          <p:cNvSpPr txBox="1"/>
          <p:nvPr/>
        </p:nvSpPr>
        <p:spPr>
          <a:xfrm>
            <a:off x="777240"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Observe signals, assess impact and separate facts from assumptions before choosing a response.</a:t>
            </a:r>
          </a:p>
        </p:txBody>
      </p:sp>
      <p:sp>
        <p:nvSpPr>
          <p:cNvPr id="9" name="TextBox 8"/>
          <p:cNvSpPr txBox="1"/>
          <p:nvPr/>
        </p:nvSpPr>
        <p:spPr>
          <a:xfrm>
            <a:off x="3513582"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02</a:t>
            </a:r>
          </a:p>
        </p:txBody>
      </p:sp>
      <p:sp>
        <p:nvSpPr>
          <p:cNvPr id="10" name="TextBox 9"/>
          <p:cNvSpPr txBox="1"/>
          <p:nvPr/>
        </p:nvSpPr>
        <p:spPr>
          <a:xfrm>
            <a:off x="3513582" y="2697480"/>
            <a:ext cx="2425446" cy="685800"/>
          </a:xfrm>
          <a:prstGeom prst="rect">
            <a:avLst/>
          </a:prstGeom>
          <a:noFill/>
        </p:spPr>
        <p:txBody>
          <a:bodyPr wrap="square" anchor="t">
            <a:spAutoFit/>
          </a:bodyPr>
          <a:lstStyle/>
          <a:p>
            <a:pPr algn="l">
              <a:spcAft>
                <a:spcPts val="400"/>
              </a:spcAft>
            </a:pPr>
            <a:r>
              <a:rPr sz="1600" b="1">
                <a:solidFill>
                  <a:srgbClr val="10B981"/>
                </a:solidFill>
                <a:latin typeface="Arial"/>
              </a:rPr>
              <a:t>Regulate</a:t>
            </a:r>
          </a:p>
        </p:txBody>
      </p:sp>
      <p:sp>
        <p:nvSpPr>
          <p:cNvPr id="11" name="TextBox 10"/>
          <p:cNvSpPr txBox="1"/>
          <p:nvPr/>
        </p:nvSpPr>
        <p:spPr>
          <a:xfrm>
            <a:off x="3513582"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Check safety, manage triggers, select the right time and agree respectful ground rules.</a:t>
            </a:r>
          </a:p>
        </p:txBody>
      </p:sp>
      <p:sp>
        <p:nvSpPr>
          <p:cNvPr id="12" name="TextBox 11"/>
          <p:cNvSpPr txBox="1"/>
          <p:nvPr/>
        </p:nvSpPr>
        <p:spPr>
          <a:xfrm>
            <a:off x="6249924"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03</a:t>
            </a:r>
          </a:p>
        </p:txBody>
      </p:sp>
      <p:sp>
        <p:nvSpPr>
          <p:cNvPr id="13" name="TextBox 12"/>
          <p:cNvSpPr txBox="1"/>
          <p:nvPr/>
        </p:nvSpPr>
        <p:spPr>
          <a:xfrm>
            <a:off x="6249924" y="2697480"/>
            <a:ext cx="2425446" cy="685800"/>
          </a:xfrm>
          <a:prstGeom prst="rect">
            <a:avLst/>
          </a:prstGeom>
          <a:noFill/>
        </p:spPr>
        <p:txBody>
          <a:bodyPr wrap="square" anchor="t">
            <a:spAutoFit/>
          </a:bodyPr>
          <a:lstStyle/>
          <a:p>
            <a:pPr algn="l">
              <a:spcAft>
                <a:spcPts val="400"/>
              </a:spcAft>
            </a:pPr>
            <a:r>
              <a:rPr sz="1600" b="1">
                <a:solidFill>
                  <a:srgbClr val="7C3AED"/>
                </a:solidFill>
                <a:latin typeface="Arial"/>
              </a:rPr>
              <a:t>Resolve</a:t>
            </a:r>
          </a:p>
        </p:txBody>
      </p:sp>
      <p:sp>
        <p:nvSpPr>
          <p:cNvPr id="14" name="TextBox 13"/>
          <p:cNvSpPr txBox="1"/>
          <p:nvPr/>
        </p:nvSpPr>
        <p:spPr>
          <a:xfrm>
            <a:off x="6249924"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Listen for interests, choose a fit-for-purpose strategy, agree actions and document ownership.</a:t>
            </a:r>
          </a:p>
        </p:txBody>
      </p:sp>
      <p:sp>
        <p:nvSpPr>
          <p:cNvPr id="15" name="TextBox 14"/>
          <p:cNvSpPr txBox="1"/>
          <p:nvPr/>
        </p:nvSpPr>
        <p:spPr>
          <a:xfrm>
            <a:off x="8986266" y="1828800"/>
            <a:ext cx="2425446" cy="822960"/>
          </a:xfrm>
          <a:prstGeom prst="rect">
            <a:avLst/>
          </a:prstGeom>
          <a:noFill/>
        </p:spPr>
        <p:txBody>
          <a:bodyPr wrap="square" anchor="t">
            <a:spAutoFit/>
          </a:bodyPr>
          <a:lstStyle/>
          <a:p>
            <a:pPr algn="l">
              <a:spcAft>
                <a:spcPts val="400"/>
              </a:spcAft>
            </a:pPr>
            <a:r>
              <a:rPr sz="4400" b="1">
                <a:solidFill>
                  <a:srgbClr val="D7DFEA"/>
                </a:solidFill>
                <a:latin typeface="Arial"/>
              </a:rPr>
              <a:t>04</a:t>
            </a:r>
          </a:p>
        </p:txBody>
      </p:sp>
      <p:sp>
        <p:nvSpPr>
          <p:cNvPr id="16" name="TextBox 15"/>
          <p:cNvSpPr txBox="1"/>
          <p:nvPr/>
        </p:nvSpPr>
        <p:spPr>
          <a:xfrm>
            <a:off x="8986266" y="2697480"/>
            <a:ext cx="2425446" cy="685800"/>
          </a:xfrm>
          <a:prstGeom prst="rect">
            <a:avLst/>
          </a:prstGeom>
          <a:noFill/>
        </p:spPr>
        <p:txBody>
          <a:bodyPr wrap="square" anchor="t">
            <a:spAutoFit/>
          </a:bodyPr>
          <a:lstStyle/>
          <a:p>
            <a:pPr algn="l">
              <a:spcAft>
                <a:spcPts val="400"/>
              </a:spcAft>
            </a:pPr>
            <a:r>
              <a:rPr sz="1600" b="1">
                <a:solidFill>
                  <a:srgbClr val="F59E0B"/>
                </a:solidFill>
                <a:latin typeface="Arial"/>
              </a:rPr>
              <a:t>Review</a:t>
            </a:r>
          </a:p>
        </p:txBody>
      </p:sp>
      <p:sp>
        <p:nvSpPr>
          <p:cNvPr id="17" name="TextBox 16"/>
          <p:cNvSpPr txBox="1"/>
          <p:nvPr/>
        </p:nvSpPr>
        <p:spPr>
          <a:xfrm>
            <a:off x="8986266" y="3401568"/>
            <a:ext cx="2425446" cy="1737360"/>
          </a:xfrm>
          <a:prstGeom prst="rect">
            <a:avLst/>
          </a:prstGeom>
          <a:noFill/>
        </p:spPr>
        <p:txBody>
          <a:bodyPr wrap="square" anchor="t">
            <a:spAutoFit/>
          </a:bodyPr>
          <a:lstStyle/>
          <a:p>
            <a:pPr algn="l">
              <a:spcAft>
                <a:spcPts val="400"/>
              </a:spcAft>
            </a:pPr>
            <a:r>
              <a:rPr sz="1200" b="0">
                <a:solidFill>
                  <a:srgbClr val="161B26"/>
                </a:solidFill>
                <a:latin typeface="Arial"/>
              </a:rPr>
              <a:t>Measure the outcome, follow up, learn from recurrence indicators and improve the work system.</a:t>
            </a:r>
          </a:p>
        </p:txBody>
      </p:sp>
      <p:sp>
        <p:nvSpPr>
          <p:cNvPr id="18" name="Rectangle 17"/>
          <p:cNvSpPr/>
          <p:nvPr/>
        </p:nvSpPr>
        <p:spPr>
          <a:xfrm>
            <a:off x="777240" y="5440680"/>
            <a:ext cx="10634472" cy="7315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5440680"/>
            <a:ext cx="9144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5440680"/>
            <a:ext cx="10058400" cy="731520"/>
          </a:xfrm>
          <a:prstGeom prst="rect">
            <a:avLst/>
          </a:prstGeom>
          <a:noFill/>
        </p:spPr>
        <p:txBody>
          <a:bodyPr wrap="square" anchor="ctr">
            <a:spAutoFit/>
          </a:bodyPr>
          <a:lstStyle/>
          <a:p>
            <a:pPr algn="l">
              <a:spcAft>
                <a:spcPts val="400"/>
              </a:spcAft>
            </a:pPr>
            <a:r>
              <a:rPr sz="1600" b="1">
                <a:solidFill>
                  <a:srgbClr val="161B26"/>
                </a:solidFill>
                <a:latin typeface="Arial"/>
              </a:rPr>
              <a:t>Recognise early, regulate emotion, resolve fairly, then review the system that allowed the conflict to grow.</a:t>
            </a:r>
          </a:p>
        </p:txBody>
      </p:sp>
      <p:sp>
        <p:nvSpPr>
          <p:cNvPr id="21" name="TextBox 20"/>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2" name="TextBox 21"/>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3" name="TextBox 22"/>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9" name="TextBox 8"/>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10" name="TextBox 9"/>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50"/>
                                        <p:tgtEl>
                                          <p:spTgt spid="4"/>
                                        </p:tgtEl>
                                      </p:cBhvr>
                                    </p:animEffect>
                                    <p:anim calcmode="lin" valueType="num">
                                      <p:cBhvr additive="base">
                                        <p:cTn id="15" dur="350" fill="hold"/>
                                        <p:tgtEl>
                                          <p:spTgt spid="4"/>
                                        </p:tgtEl>
                                        <p:attrNameLst>
                                          <p:attrName>ppt_y</p:attrName>
                                        </p:attrNameLst>
                                      </p:cBhvr>
                                      <p:tavLst>
                                        <p:tav tm="0">
                                          <p:val>
                                            <p:strVal val="#ppt_y+0.0350"/>
                                          </p:val>
                                        </p:tav>
                                        <p:tav tm="100000">
                                          <p:val>
                                            <p:strVal val="#ppt_y"/>
                                          </p:val>
                                        </p:tav>
                                      </p:tavLst>
                                    </p:anim>
                                  </p:childTnLst>
                                </p:cTn>
                              </p:par>
                            </p:childTnLst>
                          </p:cTn>
                        </p:par>
                      </p:childTnLst>
                    </p:cTn>
                  </p:par>
                  <p:par>
                    <p:cTn id="20" fill="hold">
                      <p:stCondLst>
                        <p:cond delay="0"/>
                      </p:stCondLst>
                      <p:childTnLst>
                        <p:par>
                          <p:cTn id="21" fill="hold">
                            <p:stCondLst>
                              <p:cond delay="0"/>
                            </p:stCondLst>
                            <p:childTnLst>
                              <p:par>
                                <p:cTn id="22" presetID="10" presetClass="entr" presetSubtype="0"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350"/>
                                        <p:tgtEl>
                                          <p:spTgt spid="5"/>
                                        </p:tgtEl>
                                      </p:cBhvr>
                                    </p:animEffect>
                                    <p:anim calcmode="lin" valueType="num">
                                      <p:cBhvr additive="base">
                                        <p:cTn id="25" dur="350" fill="hold"/>
                                        <p:tgtEl>
                                          <p:spTgt spid="5"/>
                                        </p:tgtEl>
                                        <p:attrNameLst>
                                          <p:attrName>ppt_y</p:attrName>
                                        </p:attrNameLst>
                                      </p:cBhvr>
                                      <p:tavLst>
                                        <p:tav tm="0">
                                          <p:val>
                                            <p:strVal val="#ppt_y+0.0350"/>
                                          </p:val>
                                        </p:tav>
                                        <p:tav tm="100000">
                                          <p:val>
                                            <p:strVal val="#ppt_y"/>
                                          </p:val>
                                        </p:tav>
                                      </p:tavLst>
                                    </p:anim>
                                  </p:childTnLst>
                                </p:cTn>
                              </p:par>
                            </p:childTnLst>
                          </p:cTn>
                        </p:par>
                      </p:childTnLst>
                    </p:cTn>
                  </p:par>
                  <p:par>
                    <p:cTn id="30" fill="hold">
                      <p:stCondLst>
                        <p:cond delay="0"/>
                      </p:stCondLst>
                      <p:childTnLst>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350"/>
                                        <p:tgtEl>
                                          <p:spTgt spid="6"/>
                                        </p:tgtEl>
                                      </p:cBhvr>
                                    </p:animEffect>
                                    <p:anim calcmode="lin" valueType="num">
                                      <p:cBhvr additive="base">
                                        <p:cTn id="35" dur="350" fill="hold"/>
                                        <p:tgtEl>
                                          <p:spTgt spid="6"/>
                                        </p:tgtEl>
                                        <p:attrNameLst>
                                          <p:attrName>ppt_y</p:attrName>
                                        </p:attrNameLst>
                                      </p:cBhvr>
                                      <p:tavLst>
                                        <p:tav tm="0">
                                          <p:val>
                                            <p:strVal val="#ppt_y+0.0350"/>
                                          </p:val>
                                        </p:tav>
                                        <p:tav tm="100000">
                                          <p:val>
                                            <p:strVal val="#ppt_y"/>
                                          </p:val>
                                        </p:tav>
                                      </p:tavLst>
                                    </p:anim>
                                  </p:childTnLst>
                                </p:cTn>
                              </p:par>
                            </p:childTnLst>
                          </p:cTn>
                        </p:par>
                      </p:childTnLst>
                    </p:cTn>
                  </p:par>
                </p:childTnLst>
                <p:prevCondLst>
                  <p:cond evt="onPrev" delay="0">
                    <p:tgtEl>
                      <p:sldTgt/>
                    </p:tgtEl>
                  </p:cond>
                </p:prevCondLst>
                <p:nextCondLst>
                  <p:cond evt="onNext" delay="0">
                    <p:tgtEl>
                      <p:sldTgt/>
                    </p:tgtEl>
                  </p:cond>
                </p:nextCondLst>
              </p:cTn>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What You Achieved</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Identify Early</a:t>
            </a:r>
          </a:p>
          <a:p>
            <a:pPr algn="l">
              <a:spcAft>
                <a:spcPts val="300"/>
              </a:spcAft>
            </a:pPr>
            <a:r>
              <a:rPr sz="1300" b="0">
                <a:solidFill>
                  <a:srgbClr val="5B6372"/>
                </a:solidFill>
                <a:latin typeface="Arial"/>
              </a:rPr>
              <a:t>Recognised indicators and separated evidence from assumptions.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Resolve Sensitively</a:t>
            </a:r>
          </a:p>
          <a:p>
            <a:pPr algn="l">
              <a:spcAft>
                <a:spcPts val="300"/>
              </a:spcAft>
            </a:pPr>
            <a:r>
              <a:rPr sz="1300" b="0">
                <a:solidFill>
                  <a:srgbClr val="5B6372"/>
                </a:solidFill>
                <a:latin typeface="Arial"/>
              </a:rPr>
              <a:t>Selected styles and practised listening, mediation and negotiation.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Lead and Coach</a:t>
            </a:r>
          </a:p>
          <a:p>
            <a:pPr algn="l">
              <a:spcAft>
                <a:spcPts val="300"/>
              </a:spcAft>
            </a:pPr>
            <a:r>
              <a:rPr sz="1300" b="0">
                <a:solidFill>
                  <a:srgbClr val="5B6372"/>
                </a:solidFill>
                <a:latin typeface="Arial"/>
              </a:rPr>
              <a:t>Used fair leadership and coaching to repair team dynamics.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Review and Prevent</a:t>
            </a:r>
          </a:p>
          <a:p>
            <a:pPr algn="l">
              <a:spcAft>
                <a:spcPts val="300"/>
              </a:spcAft>
            </a:pPr>
            <a:r>
              <a:rPr sz="1300" b="0">
                <a:solidFill>
                  <a:srgbClr val="5B6372"/>
                </a:solidFill>
                <a:latin typeface="Arial"/>
              </a:rPr>
              <a:t>Measured outcomes and addressed recurrence in the work system.</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(WA-SAQ)</a:t>
            </a:r>
          </a:p>
          <a:p>
            <a:pPr algn="l">
              <a:spcAft>
                <a:spcPts val="300"/>
              </a:spcAft>
            </a:pPr>
            <a:r>
              <a:rPr sz="1200" b="0">
                <a:solidFill>
                  <a:srgbClr val="5B6372"/>
                </a:solidFill>
                <a:latin typeface="Arial"/>
              </a:rPr>
              <a:t>Six open-ended questions — 1 hour, open book.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Case Study (CS)</a:t>
            </a:r>
          </a:p>
          <a:p>
            <a:pPr algn="l">
              <a:spcAft>
                <a:spcPts val="300"/>
              </a:spcAft>
            </a:pPr>
            <a:r>
              <a:rPr sz="1200" b="0">
                <a:solidFill>
                  <a:srgbClr val="5B6372"/>
                </a:solidFill>
                <a:latin typeface="Arial"/>
              </a:rPr>
              <a:t>One scenario, four questions — 1 hour, open book.</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Slides, Learner Guide and approved materials only.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Submit</a:t>
            </a:r>
          </a:p>
          <a:p>
            <a:pPr algn="l">
              <a:spcAft>
                <a:spcPts val="300"/>
              </a:spcAft>
            </a:pPr>
            <a:r>
              <a:rPr sz="1200" b="0">
                <a:solidFill>
                  <a:srgbClr val="5B6372"/>
                </a:solidFill>
                <a:latin typeface="Arial"/>
              </a:rPr>
              <a:t>On the LMS — lms-tms.tertiaryinfotech.com</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Assessment Flow</a:t>
            </a:r>
          </a:p>
        </p:txBody>
      </p:sp>
      <p:sp>
        <p:nvSpPr>
          <p:cNvPr id="6" name="Rectangle 5"/>
          <p:cNvSpPr/>
          <p:nvPr/>
        </p:nvSpPr>
        <p:spPr>
          <a:xfrm>
            <a:off x="777240"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401775"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01775"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0" name="TextBox 9"/>
          <p:cNvSpPr txBox="1"/>
          <p:nvPr/>
        </p:nvSpPr>
        <p:spPr>
          <a:xfrm>
            <a:off x="923544"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TRAQOM digital attendance — scan the QR code on the LMS</a:t>
            </a:r>
          </a:p>
        </p:txBody>
      </p:sp>
      <p:sp>
        <p:nvSpPr>
          <p:cNvPr id="11" name="Chevron 10"/>
          <p:cNvSpPr/>
          <p:nvPr/>
        </p:nvSpPr>
        <p:spPr>
          <a:xfrm>
            <a:off x="2702966"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8998"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58998"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83533"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3533"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6" name="TextBox 15"/>
          <p:cNvSpPr txBox="1"/>
          <p:nvPr/>
        </p:nvSpPr>
        <p:spPr>
          <a:xfrm>
            <a:off x="3105302"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Chevron 16"/>
          <p:cNvSpPr/>
          <p:nvPr/>
        </p:nvSpPr>
        <p:spPr>
          <a:xfrm>
            <a:off x="4884724"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40756"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40756"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65291"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5291"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2" name="TextBox 21"/>
          <p:cNvSpPr txBox="1"/>
          <p:nvPr/>
        </p:nvSpPr>
        <p:spPr>
          <a:xfrm>
            <a:off x="5287060"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Sit the WA-SAQ then the Case Study — open book</a:t>
            </a:r>
          </a:p>
        </p:txBody>
      </p:sp>
      <p:sp>
        <p:nvSpPr>
          <p:cNvPr id="23" name="Chevron 22"/>
          <p:cNvSpPr/>
          <p:nvPr/>
        </p:nvSpPr>
        <p:spPr>
          <a:xfrm>
            <a:off x="7066482"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22514"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2514"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47049"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47049"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28" name="TextBox 27"/>
          <p:cNvSpPr txBox="1"/>
          <p:nvPr/>
        </p:nvSpPr>
        <p:spPr>
          <a:xfrm>
            <a:off x="7468818"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Chevron 28"/>
          <p:cNvSpPr/>
          <p:nvPr/>
        </p:nvSpPr>
        <p:spPr>
          <a:xfrm>
            <a:off x="9248240" y="3607308"/>
            <a:ext cx="237744" cy="329184"/>
          </a:xfrm>
          <a:prstGeom prst="chevron">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4272" y="2331720"/>
            <a:ext cx="1907438"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4272" y="233172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28807" y="264261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28807" y="2642616"/>
            <a:ext cx="658368" cy="65836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4" name="TextBox 33"/>
          <p:cNvSpPr txBox="1"/>
          <p:nvPr/>
        </p:nvSpPr>
        <p:spPr>
          <a:xfrm>
            <a:off x="9650576" y="3657600"/>
            <a:ext cx="1614830" cy="141732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6" name="TextBox 35"/>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7" name="TextBox 36"/>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Digital Attendance (Mandatory)</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It is mandatory to take the AM, PM and Assessment digital attendance for WSQ-funded courses.</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The trainer/administrator displays the digital attendance QR code from the SSG portal.</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Scan the QR code with your mobile phone camera and submit your attendance.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a:spAutoFit/>
          </a:bodyPr>
          <a:lstStyle/>
          <a:p>
            <a:pPr algn="l">
              <a:spcAft>
                <a:spcPts val="400"/>
              </a:spcAft>
            </a:pPr>
            <a:r>
              <a:rPr sz="1500" b="0">
                <a:solidFill>
                  <a:srgbClr val="161B26"/>
                </a:solidFill>
                <a:latin typeface="Arial"/>
              </a:rPr>
              <a:t>A minimum of 75% attendance is required to be eligible for assessment and funding.</a:t>
            </a:r>
          </a:p>
        </p:txBody>
      </p:sp>
      <p:sp>
        <p:nvSpPr>
          <p:cNvPr id="26" name="TextBox 25"/>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27" name="TextBox 26"/>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28" name="TextBox 27"/>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ONE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are now equipped to recognise conflict early, respond fairly and turn resolution into stronger team practice.</a:t>
            </a:r>
          </a:p>
        </p:txBody>
      </p:sp>
      <p:sp>
        <p:nvSpPr>
          <p:cNvPr id="7" name="TextBox 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8" name="TextBox 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9" name="TextBox 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zoom/>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700" b="1">
                <a:solidFill>
                  <a:srgbClr val="161B26"/>
                </a:solidFill>
                <a:latin typeface="Arial"/>
              </a:rPr>
              <a:t>Login to LMS and Download Course Material</a:t>
            </a:r>
          </a:p>
        </p:txBody>
      </p:sp>
      <p:sp>
        <p:nvSpPr>
          <p:cNvPr id="37" name="TextBox 36"/>
          <p:cNvSpPr txBox="1"/>
          <p:nvPr/>
        </p:nvSpPr>
        <p:spPr>
          <a:xfrm>
            <a:off x="365760" y="6446520"/>
            <a:ext cx="3840480" cy="256032"/>
          </a:xfrm>
          <a:prstGeom prst="rect">
            <a:avLst/>
          </a:prstGeom>
          <a:noFill/>
        </p:spPr>
        <p:txBody>
          <a:bodyPr wrap="square" anchor="t">
            <a:spAutoFit/>
          </a:bodyPr>
          <a:lstStyle/>
          <a:p>
            <a:pPr algn="l">
              <a:spcAft>
                <a:spcPts val="400"/>
              </a:spcAft>
            </a:pPr>
            <a:r>
              <a:rPr sz="800" b="0">
                <a:solidFill>
                  <a:srgbClr val="5B6372"/>
                </a:solidFill>
                <a:latin typeface="Arial"/>
              </a:rPr>
              <a:t>Conflict Resolution  ·  TGS-2023021752</a:t>
            </a:r>
          </a:p>
        </p:txBody>
      </p:sp>
      <p:sp>
        <p:nvSpPr>
          <p:cNvPr id="38" name="TextBox 37"/>
          <p:cNvSpPr txBox="1"/>
          <p:nvPr/>
        </p:nvSpPr>
        <p:spPr>
          <a:xfrm>
            <a:off x="4069080" y="6446520"/>
            <a:ext cx="4069080" cy="256032"/>
          </a:xfrm>
          <a:prstGeom prst="rect">
            <a:avLst/>
          </a:prstGeom>
          <a:noFill/>
        </p:spPr>
        <p:txBody>
          <a:bodyPr wrap="square" anchor="t">
            <a:spAutoFit/>
          </a:bodyPr>
          <a:lstStyle/>
          <a:p>
            <a:pPr algn="ctr">
              <a:spcAft>
                <a:spcPts val="400"/>
              </a:spcAft>
            </a:pPr>
            <a:r>
              <a:rPr sz="800" b="0">
                <a:solidFill>
                  <a:srgbClr val="5B6372"/>
                </a:solidFill>
                <a:latin typeface="Arial"/>
              </a:rPr>
              <a:t>© 2026 Tertiary Infotech Academy Pte Ltd</a:t>
            </a:r>
          </a:p>
        </p:txBody>
      </p:sp>
      <p:sp>
        <p:nvSpPr>
          <p:cNvPr id="39" name="TextBox 38"/>
          <p:cNvSpPr txBox="1"/>
          <p:nvPr/>
        </p:nvSpPr>
        <p:spPr>
          <a:xfrm>
            <a:off x="11109960" y="6446520"/>
            <a:ext cx="502920" cy="256032"/>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pic>
        <p:nvPicPr>
          <p:cNvPr id="40" name="Picture 39" descr="ref_login.png"/>
          <p:cNvPicPr>
            <a:picLocks noChangeAspect="1"/>
          </p:cNvPicPr>
          <p:nvPr/>
        </p:nvPicPr>
        <p:blipFill>
          <a:blip r:embed="rId3"/>
          <a:stretch>
            <a:fillRect/>
          </a:stretch>
        </p:blipFill>
        <p:spPr>
          <a:xfrm>
            <a:off x="2112004" y="1851660"/>
            <a:ext cx="7967686" cy="3963924"/>
          </a:xfrm>
          <a:prstGeom prst="rect">
            <a:avLst/>
          </a:prstGeom>
          <a:ln w="12700">
            <a:solidFill>
              <a:srgbClr val="E2E8F0"/>
            </a:solidFill>
          </a:ln>
        </p:spPr>
      </p:pic>
      <p:sp>
        <p:nvSpPr>
          <p:cNvPr id="41" name="TextBox 40"/>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