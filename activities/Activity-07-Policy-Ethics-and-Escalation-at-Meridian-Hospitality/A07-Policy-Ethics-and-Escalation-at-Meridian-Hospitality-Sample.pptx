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85800"/>
            <a:ext cx="10789920" cy="365760"/>
          </a:xfrm>
          <a:prstGeom prst="rect">
            <a:avLst/>
          </a:prstGeom>
          <a:noFill/>
        </p:spPr>
        <p:txBody>
          <a:bodyPr wrap="square" anchor="t">
            <a:spAutoFit/>
          </a:bodyPr>
          <a:lstStyle/>
          <a:p>
            <a:pPr algn="l"/>
            <a:r>
              <a:rPr sz="1400" b="1">
                <a:solidFill>
                  <a:srgbClr val="1F6FEB"/>
                </a:solidFill>
                <a:latin typeface="Aptos"/>
              </a:rPr>
              <a:t>ACTIVITY 07 · WORKED EXAMPLE</a:t>
            </a:r>
          </a:p>
        </p:txBody>
      </p:sp>
      <p:sp>
        <p:nvSpPr>
          <p:cNvPr id="6" name="TextBox 5"/>
          <p:cNvSpPr txBox="1"/>
          <p:nvPr/>
        </p:nvSpPr>
        <p:spPr>
          <a:xfrm>
            <a:off x="777240" y="1417320"/>
            <a:ext cx="10607040" cy="1280160"/>
          </a:xfrm>
          <a:prstGeom prst="rect">
            <a:avLst/>
          </a:prstGeom>
          <a:noFill/>
        </p:spPr>
        <p:txBody>
          <a:bodyPr wrap="square" anchor="t">
            <a:spAutoFit/>
          </a:bodyPr>
          <a:lstStyle/>
          <a:p>
            <a:pPr algn="l"/>
            <a:r>
              <a:rPr sz="3400" b="1">
                <a:solidFill>
                  <a:srgbClr val="161B26"/>
                </a:solidFill>
                <a:latin typeface="Aptos"/>
              </a:rPr>
              <a:t>Policy, Ethics and Escalation at Meridian Hospitality</a:t>
            </a:r>
          </a:p>
        </p:txBody>
      </p:sp>
      <p:sp>
        <p:nvSpPr>
          <p:cNvPr id="7" name="TextBox 6"/>
          <p:cNvSpPr txBox="1"/>
          <p:nvPr/>
        </p:nvSpPr>
        <p:spPr>
          <a:xfrm>
            <a:off x="777240" y="2971800"/>
            <a:ext cx="10424160" cy="640080"/>
          </a:xfrm>
          <a:prstGeom prst="rect">
            <a:avLst/>
          </a:prstGeom>
          <a:noFill/>
        </p:spPr>
        <p:txBody>
          <a:bodyPr wrap="square" anchor="t">
            <a:spAutoFit/>
          </a:bodyPr>
          <a:lstStyle/>
          <a:p>
            <a:pPr algn="l"/>
            <a:r>
              <a:rPr sz="2000" b="0">
                <a:solidFill>
                  <a:srgbClr val="5B6372"/>
                </a:solidFill>
                <a:latin typeface="Aptos"/>
              </a:rPr>
              <a:t>Real-workplace simulation · fictional organisation</a:t>
            </a:r>
          </a:p>
        </p:txBody>
      </p:sp>
      <p:sp>
        <p:nvSpPr>
          <p:cNvPr id="8" name="Rounded Rectangle 7"/>
          <p:cNvSpPr/>
          <p:nvPr/>
        </p:nvSpPr>
        <p:spPr>
          <a:xfrm>
            <a:off x="777240" y="3794760"/>
            <a:ext cx="10561320" cy="1234440"/>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4069080"/>
            <a:ext cx="9966960" cy="274320"/>
          </a:xfrm>
          <a:prstGeom prst="rect">
            <a:avLst/>
          </a:prstGeom>
          <a:noFill/>
        </p:spPr>
        <p:txBody>
          <a:bodyPr wrap="square" anchor="t">
            <a:spAutoFit/>
          </a:bodyPr>
          <a:lstStyle/>
          <a:p>
            <a:pPr algn="l"/>
            <a:r>
              <a:rPr sz="1000" b="1">
                <a:solidFill>
                  <a:srgbClr val="1F6FEB"/>
                </a:solidFill>
                <a:latin typeface="Aptos"/>
              </a:rPr>
              <a:t>LEARNER EVIDENCE PACK</a:t>
            </a:r>
          </a:p>
        </p:txBody>
      </p:sp>
      <p:sp>
        <p:nvSpPr>
          <p:cNvPr id="10" name="TextBox 9"/>
          <p:cNvSpPr txBox="1"/>
          <p:nvPr/>
        </p:nvSpPr>
        <p:spPr>
          <a:xfrm>
            <a:off x="1051560" y="4434840"/>
            <a:ext cx="9966960" cy="384048"/>
          </a:xfrm>
          <a:prstGeom prst="rect">
            <a:avLst/>
          </a:prstGeom>
          <a:noFill/>
        </p:spPr>
        <p:txBody>
          <a:bodyPr wrap="square" anchor="t">
            <a:spAutoFit/>
          </a:bodyPr>
          <a:lstStyle/>
          <a:p>
            <a:pPr algn="l"/>
            <a:r>
              <a:rPr sz="1800" b="1">
                <a:solidFill>
                  <a:srgbClr val="161B26"/>
                </a:solidFill>
                <a:latin typeface="Aptos"/>
              </a:rPr>
              <a:t>Policy-routing worksheet · evidence checklist</a:t>
            </a:r>
          </a:p>
        </p:txBody>
      </p:sp>
      <p:sp>
        <p:nvSpPr>
          <p:cNvPr id="11" name="TextBox 10"/>
          <p:cNvSpPr txBox="1"/>
          <p:nvPr/>
        </p:nvSpPr>
        <p:spPr>
          <a:xfrm>
            <a:off x="777240" y="5989320"/>
            <a:ext cx="10515600" cy="329184"/>
          </a:xfrm>
          <a:prstGeom prst="rect">
            <a:avLst/>
          </a:prstGeom>
          <a:noFill/>
        </p:spPr>
        <p:txBody>
          <a:bodyPr wrap="square" anchor="t">
            <a:spAutoFit/>
          </a:bodyPr>
          <a:lstStyle/>
          <a:p>
            <a:pPr algn="l"/>
            <a:r>
              <a:rPr sz="1100" b="0">
                <a:solidFill>
                  <a:srgbClr val="5B6372"/>
                </a:solidFill>
                <a:latin typeface="Aptos"/>
              </a:rPr>
              <a:t>Editable worked example · adapt the logic, verify the evidence, apply your approved brand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84048"/>
            <a:ext cx="10789920" cy="320040"/>
          </a:xfrm>
          <a:prstGeom prst="rect">
            <a:avLst/>
          </a:prstGeom>
          <a:noFill/>
        </p:spPr>
        <p:txBody>
          <a:bodyPr wrap="square" anchor="t">
            <a:spAutoFit/>
          </a:bodyPr>
          <a:lstStyle/>
          <a:p>
            <a:pPr algn="l"/>
            <a:r>
              <a:rPr sz="1100" b="1">
                <a:solidFill>
                  <a:srgbClr val="1F6FEB"/>
                </a:solidFill>
                <a:latin typeface="Aptos"/>
              </a:rPr>
              <a:t>ACTIVITY 07 · CONTEXT</a:t>
            </a:r>
          </a:p>
        </p:txBody>
      </p:sp>
      <p:sp>
        <p:nvSpPr>
          <p:cNvPr id="5" name="TextBox 4"/>
          <p:cNvSpPr txBox="1"/>
          <p:nvPr/>
        </p:nvSpPr>
        <p:spPr>
          <a:xfrm>
            <a:off x="658368" y="749808"/>
            <a:ext cx="10789920" cy="658368"/>
          </a:xfrm>
          <a:prstGeom prst="rect">
            <a:avLst/>
          </a:prstGeom>
          <a:noFill/>
        </p:spPr>
        <p:txBody>
          <a:bodyPr wrap="square" anchor="t">
            <a:spAutoFit/>
          </a:bodyPr>
          <a:lstStyle/>
          <a:p>
            <a:pPr algn="l"/>
            <a:r>
              <a:rPr sz="2700" b="1">
                <a:solidFill>
                  <a:srgbClr val="161B26"/>
                </a:solidFill>
                <a:latin typeface="Aptos"/>
              </a:rPr>
              <a:t>The Business Situation</a:t>
            </a:r>
          </a:p>
        </p:txBody>
      </p:sp>
      <p:sp>
        <p:nvSpPr>
          <p:cNvPr id="6" name="Rectangle 5"/>
          <p:cNvSpPr/>
          <p:nvPr/>
        </p:nvSpPr>
        <p:spPr>
          <a:xfrm>
            <a:off x="658368" y="1444752"/>
            <a:ext cx="1088136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73952"/>
            <a:ext cx="9875520" cy="201168"/>
          </a:xfrm>
          <a:prstGeom prst="rect">
            <a:avLst/>
          </a:prstGeom>
          <a:noFill/>
        </p:spPr>
        <p:txBody>
          <a:bodyPr wrap="square" anchor="t">
            <a:spAutoFit/>
          </a:bodyPr>
          <a:lstStyle/>
          <a:p>
            <a:pPr algn="l"/>
            <a:r>
              <a:rPr sz="800" b="0">
                <a:solidFill>
                  <a:srgbClr val="5B6372"/>
                </a:solidFill>
                <a:latin typeface="Aptos"/>
              </a:rPr>
              <a:t>TGS-2023021752 · ACTIVITY SAMPLE · Tertiary Infotech Academy Pte Ltd</a:t>
            </a:r>
          </a:p>
        </p:txBody>
      </p:sp>
      <p:sp>
        <p:nvSpPr>
          <p:cNvPr id="8" name="Rounded Rectangle 7"/>
          <p:cNvSpPr/>
          <p:nvPr/>
        </p:nvSpPr>
        <p:spPr>
          <a:xfrm>
            <a:off x="731520" y="1783080"/>
            <a:ext cx="10698480" cy="1691640"/>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783080"/>
            <a:ext cx="73152" cy="169164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932688" y="2002536"/>
            <a:ext cx="438912" cy="438912"/>
          </a:xfrm>
          <a:prstGeom prst="round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2688" y="2011680"/>
            <a:ext cx="438912" cy="420624"/>
          </a:xfrm>
          <a:prstGeom prst="rect">
            <a:avLst/>
          </a:prstGeom>
          <a:noFill/>
        </p:spPr>
        <p:txBody>
          <a:bodyPr wrap="square" anchor="ctr">
            <a:spAutoFit/>
          </a:bodyPr>
          <a:lstStyle/>
          <a:p>
            <a:pPr algn="ctr"/>
            <a:r>
              <a:rPr sz="1400" b="1">
                <a:solidFill>
                  <a:srgbClr val="FFFFFF"/>
                </a:solidFill>
                <a:latin typeface="Aptos"/>
              </a:rPr>
              <a:t>1</a:t>
            </a:r>
          </a:p>
        </p:txBody>
      </p:sp>
      <p:sp>
        <p:nvSpPr>
          <p:cNvPr id="12" name="TextBox 11"/>
          <p:cNvSpPr txBox="1"/>
          <p:nvPr/>
        </p:nvSpPr>
        <p:spPr>
          <a:xfrm>
            <a:off x="1536192" y="1965960"/>
            <a:ext cx="9710928" cy="329184"/>
          </a:xfrm>
          <a:prstGeom prst="rect">
            <a:avLst/>
          </a:prstGeom>
          <a:noFill/>
        </p:spPr>
        <p:txBody>
          <a:bodyPr wrap="square" anchor="t">
            <a:spAutoFit/>
          </a:bodyPr>
          <a:lstStyle/>
          <a:p>
            <a:pPr algn="l"/>
            <a:r>
              <a:rPr sz="1400" b="1">
                <a:solidFill>
                  <a:srgbClr val="1F6FEB"/>
                </a:solidFill>
                <a:latin typeface="Aptos"/>
              </a:rPr>
              <a:t>Context</a:t>
            </a:r>
          </a:p>
        </p:txBody>
      </p:sp>
      <p:sp>
        <p:nvSpPr>
          <p:cNvPr id="13" name="TextBox 12"/>
          <p:cNvSpPr txBox="1"/>
          <p:nvPr/>
        </p:nvSpPr>
        <p:spPr>
          <a:xfrm>
            <a:off x="1536192" y="2350008"/>
            <a:ext cx="9710928" cy="978408"/>
          </a:xfrm>
          <a:prstGeom prst="rect">
            <a:avLst/>
          </a:prstGeom>
          <a:noFill/>
        </p:spPr>
        <p:txBody>
          <a:bodyPr wrap="square" anchor="t">
            <a:spAutoFit/>
          </a:bodyPr>
          <a:lstStyle/>
          <a:p>
            <a:pPr algn="l"/>
            <a:r>
              <a:rPr sz="1150" b="0">
                <a:solidFill>
                  <a:srgbClr val="161B26"/>
                </a:solidFill>
                <a:latin typeface="Aptos"/>
              </a:rPr>
              <a:t>At Meridian Hospitality, employee Farah reports that colleague Leon has repeatedly made jokes about her religion in a team chat. She fears that complaining will affect shift allocation because Leon is close to the duty manager.</a:t>
            </a:r>
          </a:p>
        </p:txBody>
      </p:sp>
      <p:sp>
        <p:nvSpPr>
          <p:cNvPr id="14" name="Rounded Rectangle 13"/>
          <p:cNvSpPr/>
          <p:nvPr/>
        </p:nvSpPr>
        <p:spPr>
          <a:xfrm>
            <a:off x="731520" y="3776472"/>
            <a:ext cx="10698480" cy="1691640"/>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3776472"/>
            <a:ext cx="73152" cy="1691640"/>
          </a:xfrm>
          <a:prstGeom prst="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32688" y="3995928"/>
            <a:ext cx="438912" cy="438912"/>
          </a:xfrm>
          <a:prstGeom prst="round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2688" y="4005072"/>
            <a:ext cx="438912" cy="420624"/>
          </a:xfrm>
          <a:prstGeom prst="rect">
            <a:avLst/>
          </a:prstGeom>
          <a:noFill/>
        </p:spPr>
        <p:txBody>
          <a:bodyPr wrap="square" anchor="ctr">
            <a:spAutoFit/>
          </a:bodyPr>
          <a:lstStyle/>
          <a:p>
            <a:pPr algn="ctr"/>
            <a:r>
              <a:rPr sz="1400" b="1">
                <a:solidFill>
                  <a:srgbClr val="FFFFFF"/>
                </a:solidFill>
                <a:latin typeface="Aptos"/>
              </a:rPr>
              <a:t>2</a:t>
            </a:r>
          </a:p>
        </p:txBody>
      </p:sp>
      <p:sp>
        <p:nvSpPr>
          <p:cNvPr id="18" name="TextBox 17"/>
          <p:cNvSpPr txBox="1"/>
          <p:nvPr/>
        </p:nvSpPr>
        <p:spPr>
          <a:xfrm>
            <a:off x="1536192" y="3959352"/>
            <a:ext cx="9710928" cy="329184"/>
          </a:xfrm>
          <a:prstGeom prst="rect">
            <a:avLst/>
          </a:prstGeom>
          <a:noFill/>
        </p:spPr>
        <p:txBody>
          <a:bodyPr wrap="square" anchor="t">
            <a:spAutoFit/>
          </a:bodyPr>
          <a:lstStyle/>
          <a:p>
            <a:pPr algn="l"/>
            <a:r>
              <a:rPr sz="1400" b="1">
                <a:solidFill>
                  <a:srgbClr val="10B981"/>
                </a:solidFill>
                <a:latin typeface="Aptos"/>
              </a:rPr>
              <a:t>Decision pressure</a:t>
            </a:r>
          </a:p>
        </p:txBody>
      </p:sp>
      <p:sp>
        <p:nvSpPr>
          <p:cNvPr id="19" name="TextBox 18"/>
          <p:cNvSpPr txBox="1"/>
          <p:nvPr/>
        </p:nvSpPr>
        <p:spPr>
          <a:xfrm>
            <a:off x="1536192" y="4343400"/>
            <a:ext cx="9710928" cy="978408"/>
          </a:xfrm>
          <a:prstGeom prst="rect">
            <a:avLst/>
          </a:prstGeom>
          <a:noFill/>
        </p:spPr>
        <p:txBody>
          <a:bodyPr wrap="square" anchor="t">
            <a:spAutoFit/>
          </a:bodyPr>
          <a:lstStyle/>
          <a:p>
            <a:pPr algn="l"/>
            <a:r>
              <a:rPr sz="1150" b="0">
                <a:solidFill>
                  <a:srgbClr val="161B26"/>
                </a:solidFill>
                <a:latin typeface="Aptos"/>
              </a:rPr>
              <a:t>A supervisor suggests putting both employees in a room to 'clear the air'. Learners must decide the immediate response, authorised channel, confidentiality boundary, interim support and documentation required under organisational policy. This activity is educational and not legal advice.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84048"/>
            <a:ext cx="10789920" cy="320040"/>
          </a:xfrm>
          <a:prstGeom prst="rect">
            <a:avLst/>
          </a:prstGeom>
          <a:noFill/>
        </p:spPr>
        <p:txBody>
          <a:bodyPr wrap="square" anchor="t">
            <a:spAutoFit/>
          </a:bodyPr>
          <a:lstStyle/>
          <a:p>
            <a:pPr algn="l"/>
            <a:r>
              <a:rPr sz="1100" b="1">
                <a:solidFill>
                  <a:srgbClr val="10B981"/>
                </a:solidFill>
                <a:latin typeface="Aptos"/>
              </a:rPr>
              <a:t>ACTIVITY 07 · FRAMEWORK</a:t>
            </a:r>
          </a:p>
        </p:txBody>
      </p:sp>
      <p:sp>
        <p:nvSpPr>
          <p:cNvPr id="5" name="TextBox 4"/>
          <p:cNvSpPr txBox="1"/>
          <p:nvPr/>
        </p:nvSpPr>
        <p:spPr>
          <a:xfrm>
            <a:off x="658368" y="749808"/>
            <a:ext cx="10789920" cy="658368"/>
          </a:xfrm>
          <a:prstGeom prst="rect">
            <a:avLst/>
          </a:prstGeom>
          <a:noFill/>
        </p:spPr>
        <p:txBody>
          <a:bodyPr wrap="square" anchor="t">
            <a:spAutoFit/>
          </a:bodyPr>
          <a:lstStyle/>
          <a:p>
            <a:pPr algn="l"/>
            <a:r>
              <a:rPr sz="2700" b="1">
                <a:solidFill>
                  <a:srgbClr val="161B26"/>
                </a:solidFill>
                <a:latin typeface="Aptos"/>
              </a:rPr>
              <a:t>Policy-Led Response Gate</a:t>
            </a:r>
          </a:p>
        </p:txBody>
      </p:sp>
      <p:sp>
        <p:nvSpPr>
          <p:cNvPr id="6" name="Rectangle 5"/>
          <p:cNvSpPr/>
          <p:nvPr/>
        </p:nvSpPr>
        <p:spPr>
          <a:xfrm>
            <a:off x="658368" y="1444752"/>
            <a:ext cx="1088136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73952"/>
            <a:ext cx="9875520" cy="201168"/>
          </a:xfrm>
          <a:prstGeom prst="rect">
            <a:avLst/>
          </a:prstGeom>
          <a:noFill/>
        </p:spPr>
        <p:txBody>
          <a:bodyPr wrap="square" anchor="t">
            <a:spAutoFit/>
          </a:bodyPr>
          <a:lstStyle/>
          <a:p>
            <a:pPr algn="l"/>
            <a:r>
              <a:rPr sz="800" b="0">
                <a:solidFill>
                  <a:srgbClr val="5B6372"/>
                </a:solidFill>
                <a:latin typeface="Aptos"/>
              </a:rPr>
              <a:t>TGS-2023021752 · ACTIVITY SAMPLE · Tertiary Infotech Academy Pte Ltd</a:t>
            </a:r>
          </a:p>
        </p:txBody>
      </p:sp>
      <p:sp>
        <p:nvSpPr>
          <p:cNvPr id="8" name="Rounded Rectangle 7"/>
          <p:cNvSpPr/>
          <p:nvPr/>
        </p:nvSpPr>
        <p:spPr>
          <a:xfrm>
            <a:off x="685800" y="1920240"/>
            <a:ext cx="1997049" cy="3566160"/>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1920240"/>
            <a:ext cx="73152" cy="356616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86968" y="2139696"/>
            <a:ext cx="438912" cy="438912"/>
          </a:xfrm>
          <a:prstGeom prst="round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6968" y="2148840"/>
            <a:ext cx="438912" cy="420624"/>
          </a:xfrm>
          <a:prstGeom prst="rect">
            <a:avLst/>
          </a:prstGeom>
          <a:noFill/>
        </p:spPr>
        <p:txBody>
          <a:bodyPr wrap="square" anchor="ctr">
            <a:spAutoFit/>
          </a:bodyPr>
          <a:lstStyle/>
          <a:p>
            <a:pPr algn="ctr"/>
            <a:r>
              <a:rPr sz="1400" b="1">
                <a:solidFill>
                  <a:srgbClr val="FFFFFF"/>
                </a:solidFill>
                <a:latin typeface="Aptos"/>
              </a:rPr>
              <a:t>1</a:t>
            </a:r>
          </a:p>
        </p:txBody>
      </p:sp>
      <p:sp>
        <p:nvSpPr>
          <p:cNvPr id="12" name="TextBox 11"/>
          <p:cNvSpPr txBox="1"/>
          <p:nvPr/>
        </p:nvSpPr>
        <p:spPr>
          <a:xfrm>
            <a:off x="1490472" y="2103120"/>
            <a:ext cx="1009497" cy="329184"/>
          </a:xfrm>
          <a:prstGeom prst="rect">
            <a:avLst/>
          </a:prstGeom>
          <a:noFill/>
        </p:spPr>
        <p:txBody>
          <a:bodyPr wrap="square" anchor="t">
            <a:spAutoFit/>
          </a:bodyPr>
          <a:lstStyle/>
          <a:p>
            <a:pPr algn="l"/>
            <a:r>
              <a:rPr sz="1400" b="1">
                <a:solidFill>
                  <a:srgbClr val="1F6FEB"/>
                </a:solidFill>
                <a:latin typeface="Aptos"/>
              </a:rPr>
              <a:t>Protect</a:t>
            </a:r>
          </a:p>
        </p:txBody>
      </p:sp>
      <p:sp>
        <p:nvSpPr>
          <p:cNvPr id="13" name="TextBox 12"/>
          <p:cNvSpPr txBox="1"/>
          <p:nvPr/>
        </p:nvSpPr>
        <p:spPr>
          <a:xfrm>
            <a:off x="1490472" y="2487168"/>
            <a:ext cx="1009497" cy="2852928"/>
          </a:xfrm>
          <a:prstGeom prst="rect">
            <a:avLst/>
          </a:prstGeom>
          <a:noFill/>
        </p:spPr>
        <p:txBody>
          <a:bodyPr wrap="square" anchor="t">
            <a:spAutoFit/>
          </a:bodyPr>
          <a:lstStyle/>
          <a:p>
            <a:pPr algn="l"/>
            <a:r>
              <a:rPr sz="1150" b="0">
                <a:solidFill>
                  <a:srgbClr val="161B26"/>
                </a:solidFill>
                <a:latin typeface="Aptos"/>
              </a:rPr>
              <a:t>Address urgent safety, wellbeing and evidence-preservation needs.</a:t>
            </a:r>
          </a:p>
        </p:txBody>
      </p:sp>
      <p:sp>
        <p:nvSpPr>
          <p:cNvPr id="14" name="Rounded Rectangle 13"/>
          <p:cNvSpPr/>
          <p:nvPr/>
        </p:nvSpPr>
        <p:spPr>
          <a:xfrm>
            <a:off x="2884017" y="1920240"/>
            <a:ext cx="1997049" cy="3566160"/>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84017" y="1920240"/>
            <a:ext cx="73152" cy="3566160"/>
          </a:xfrm>
          <a:prstGeom prst="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3085185" y="2139696"/>
            <a:ext cx="438912" cy="438912"/>
          </a:xfrm>
          <a:prstGeom prst="round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085185" y="2148840"/>
            <a:ext cx="438912" cy="420624"/>
          </a:xfrm>
          <a:prstGeom prst="rect">
            <a:avLst/>
          </a:prstGeom>
          <a:noFill/>
        </p:spPr>
        <p:txBody>
          <a:bodyPr wrap="square" anchor="ctr">
            <a:spAutoFit/>
          </a:bodyPr>
          <a:lstStyle/>
          <a:p>
            <a:pPr algn="ctr"/>
            <a:r>
              <a:rPr sz="1400" b="1">
                <a:solidFill>
                  <a:srgbClr val="FFFFFF"/>
                </a:solidFill>
                <a:latin typeface="Aptos"/>
              </a:rPr>
              <a:t>2</a:t>
            </a:r>
          </a:p>
        </p:txBody>
      </p:sp>
      <p:sp>
        <p:nvSpPr>
          <p:cNvPr id="18" name="TextBox 17"/>
          <p:cNvSpPr txBox="1"/>
          <p:nvPr/>
        </p:nvSpPr>
        <p:spPr>
          <a:xfrm>
            <a:off x="3688689" y="2103120"/>
            <a:ext cx="1009497" cy="329184"/>
          </a:xfrm>
          <a:prstGeom prst="rect">
            <a:avLst/>
          </a:prstGeom>
          <a:noFill/>
        </p:spPr>
        <p:txBody>
          <a:bodyPr wrap="square" anchor="t">
            <a:spAutoFit/>
          </a:bodyPr>
          <a:lstStyle/>
          <a:p>
            <a:pPr algn="l"/>
            <a:r>
              <a:rPr sz="1400" b="1">
                <a:solidFill>
                  <a:srgbClr val="10B981"/>
                </a:solidFill>
                <a:latin typeface="Aptos"/>
              </a:rPr>
              <a:t>Receive</a:t>
            </a:r>
          </a:p>
        </p:txBody>
      </p:sp>
      <p:sp>
        <p:nvSpPr>
          <p:cNvPr id="19" name="TextBox 18"/>
          <p:cNvSpPr txBox="1"/>
          <p:nvPr/>
        </p:nvSpPr>
        <p:spPr>
          <a:xfrm>
            <a:off x="3688689" y="2487168"/>
            <a:ext cx="1009497" cy="2852928"/>
          </a:xfrm>
          <a:prstGeom prst="rect">
            <a:avLst/>
          </a:prstGeom>
          <a:noFill/>
        </p:spPr>
        <p:txBody>
          <a:bodyPr wrap="square" anchor="t">
            <a:spAutoFit/>
          </a:bodyPr>
          <a:lstStyle/>
          <a:p>
            <a:pPr algn="l"/>
            <a:r>
              <a:rPr sz="1150" b="0">
                <a:solidFill>
                  <a:srgbClr val="161B26"/>
                </a:solidFill>
                <a:latin typeface="Aptos"/>
              </a:rPr>
              <a:t>Listen without blame; explain process and confidentiality limits.</a:t>
            </a:r>
          </a:p>
        </p:txBody>
      </p:sp>
      <p:sp>
        <p:nvSpPr>
          <p:cNvPr id="20" name="Rounded Rectangle 19"/>
          <p:cNvSpPr/>
          <p:nvPr/>
        </p:nvSpPr>
        <p:spPr>
          <a:xfrm>
            <a:off x="5082235" y="1920240"/>
            <a:ext cx="1997049" cy="3566160"/>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82235" y="1920240"/>
            <a:ext cx="73152" cy="3566160"/>
          </a:xfrm>
          <a:prstGeom prst="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283403" y="2139696"/>
            <a:ext cx="438912" cy="438912"/>
          </a:xfrm>
          <a:prstGeom prst="round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83403" y="2148840"/>
            <a:ext cx="438912" cy="420624"/>
          </a:xfrm>
          <a:prstGeom prst="rect">
            <a:avLst/>
          </a:prstGeom>
          <a:noFill/>
        </p:spPr>
        <p:txBody>
          <a:bodyPr wrap="square" anchor="ctr">
            <a:spAutoFit/>
          </a:bodyPr>
          <a:lstStyle/>
          <a:p>
            <a:pPr algn="ctr"/>
            <a:r>
              <a:rPr sz="1400" b="1">
                <a:solidFill>
                  <a:srgbClr val="FFFFFF"/>
                </a:solidFill>
                <a:latin typeface="Aptos"/>
              </a:rPr>
              <a:t>3</a:t>
            </a:r>
          </a:p>
        </p:txBody>
      </p:sp>
      <p:sp>
        <p:nvSpPr>
          <p:cNvPr id="24" name="TextBox 23"/>
          <p:cNvSpPr txBox="1"/>
          <p:nvPr/>
        </p:nvSpPr>
        <p:spPr>
          <a:xfrm>
            <a:off x="5886907" y="2103120"/>
            <a:ext cx="1009497" cy="329184"/>
          </a:xfrm>
          <a:prstGeom prst="rect">
            <a:avLst/>
          </a:prstGeom>
          <a:noFill/>
        </p:spPr>
        <p:txBody>
          <a:bodyPr wrap="square" anchor="t">
            <a:spAutoFit/>
          </a:bodyPr>
          <a:lstStyle/>
          <a:p>
            <a:pPr algn="l"/>
            <a:r>
              <a:rPr sz="1400" b="1">
                <a:solidFill>
                  <a:srgbClr val="7C3AED"/>
                </a:solidFill>
                <a:latin typeface="Aptos"/>
              </a:rPr>
              <a:t>Route</a:t>
            </a:r>
          </a:p>
        </p:txBody>
      </p:sp>
      <p:sp>
        <p:nvSpPr>
          <p:cNvPr id="25" name="TextBox 24"/>
          <p:cNvSpPr txBox="1"/>
          <p:nvPr/>
        </p:nvSpPr>
        <p:spPr>
          <a:xfrm>
            <a:off x="5886907" y="2487168"/>
            <a:ext cx="1009497" cy="2852928"/>
          </a:xfrm>
          <a:prstGeom prst="rect">
            <a:avLst/>
          </a:prstGeom>
          <a:noFill/>
        </p:spPr>
        <p:txBody>
          <a:bodyPr wrap="square" anchor="t">
            <a:spAutoFit/>
          </a:bodyPr>
          <a:lstStyle/>
          <a:p>
            <a:pPr algn="l"/>
            <a:r>
              <a:rPr sz="1150" b="0">
                <a:solidFill>
                  <a:srgbClr val="161B26"/>
                </a:solidFill>
                <a:latin typeface="Aptos"/>
              </a:rPr>
              <a:t>Use the authorised reporting/investigation channel.</a:t>
            </a:r>
          </a:p>
        </p:txBody>
      </p:sp>
      <p:sp>
        <p:nvSpPr>
          <p:cNvPr id="26" name="Rounded Rectangle 25"/>
          <p:cNvSpPr/>
          <p:nvPr/>
        </p:nvSpPr>
        <p:spPr>
          <a:xfrm>
            <a:off x="7280452" y="1920240"/>
            <a:ext cx="1997049" cy="3566160"/>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280452" y="1920240"/>
            <a:ext cx="73152" cy="3566160"/>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7481620" y="2139696"/>
            <a:ext cx="438912" cy="438912"/>
          </a:xfrm>
          <a:prstGeom prst="round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81620" y="2148840"/>
            <a:ext cx="438912" cy="420624"/>
          </a:xfrm>
          <a:prstGeom prst="rect">
            <a:avLst/>
          </a:prstGeom>
          <a:noFill/>
        </p:spPr>
        <p:txBody>
          <a:bodyPr wrap="square" anchor="ctr">
            <a:spAutoFit/>
          </a:bodyPr>
          <a:lstStyle/>
          <a:p>
            <a:pPr algn="ctr"/>
            <a:r>
              <a:rPr sz="1400" b="1">
                <a:solidFill>
                  <a:srgbClr val="FFFFFF"/>
                </a:solidFill>
                <a:latin typeface="Aptos"/>
              </a:rPr>
              <a:t>4</a:t>
            </a:r>
          </a:p>
        </p:txBody>
      </p:sp>
      <p:sp>
        <p:nvSpPr>
          <p:cNvPr id="30" name="TextBox 29"/>
          <p:cNvSpPr txBox="1"/>
          <p:nvPr/>
        </p:nvSpPr>
        <p:spPr>
          <a:xfrm>
            <a:off x="8085124" y="2103120"/>
            <a:ext cx="1009497" cy="329184"/>
          </a:xfrm>
          <a:prstGeom prst="rect">
            <a:avLst/>
          </a:prstGeom>
          <a:noFill/>
        </p:spPr>
        <p:txBody>
          <a:bodyPr wrap="square" anchor="t">
            <a:spAutoFit/>
          </a:bodyPr>
          <a:lstStyle/>
          <a:p>
            <a:pPr algn="l"/>
            <a:r>
              <a:rPr sz="1400" b="1">
                <a:solidFill>
                  <a:srgbClr val="F59E0B"/>
                </a:solidFill>
                <a:latin typeface="Aptos"/>
              </a:rPr>
              <a:t>Support</a:t>
            </a:r>
          </a:p>
        </p:txBody>
      </p:sp>
      <p:sp>
        <p:nvSpPr>
          <p:cNvPr id="31" name="TextBox 30"/>
          <p:cNvSpPr txBox="1"/>
          <p:nvPr/>
        </p:nvSpPr>
        <p:spPr>
          <a:xfrm>
            <a:off x="8085124" y="2487168"/>
            <a:ext cx="1009497" cy="2852928"/>
          </a:xfrm>
          <a:prstGeom prst="rect">
            <a:avLst/>
          </a:prstGeom>
          <a:noFill/>
        </p:spPr>
        <p:txBody>
          <a:bodyPr wrap="square" anchor="t">
            <a:spAutoFit/>
          </a:bodyPr>
          <a:lstStyle/>
          <a:p>
            <a:pPr algn="l"/>
            <a:r>
              <a:rPr sz="1150" b="0">
                <a:solidFill>
                  <a:srgbClr val="161B26"/>
                </a:solidFill>
                <a:latin typeface="Aptos"/>
              </a:rPr>
              <a:t>Provide practical support and prevent retaliation.</a:t>
            </a:r>
          </a:p>
        </p:txBody>
      </p:sp>
      <p:sp>
        <p:nvSpPr>
          <p:cNvPr id="32" name="Rounded Rectangle 31"/>
          <p:cNvSpPr/>
          <p:nvPr/>
        </p:nvSpPr>
        <p:spPr>
          <a:xfrm>
            <a:off x="9478670" y="1920240"/>
            <a:ext cx="1997049" cy="3566160"/>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478670" y="1920240"/>
            <a:ext cx="73152" cy="356616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9679838" y="2139696"/>
            <a:ext cx="438912" cy="438912"/>
          </a:xfrm>
          <a:prstGeom prst="round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679838" y="2148840"/>
            <a:ext cx="438912" cy="420624"/>
          </a:xfrm>
          <a:prstGeom prst="rect">
            <a:avLst/>
          </a:prstGeom>
          <a:noFill/>
        </p:spPr>
        <p:txBody>
          <a:bodyPr wrap="square" anchor="ctr">
            <a:spAutoFit/>
          </a:bodyPr>
          <a:lstStyle/>
          <a:p>
            <a:pPr algn="ctr"/>
            <a:r>
              <a:rPr sz="1400" b="1">
                <a:solidFill>
                  <a:srgbClr val="FFFFFF"/>
                </a:solidFill>
                <a:latin typeface="Aptos"/>
              </a:rPr>
              <a:t>5</a:t>
            </a:r>
          </a:p>
        </p:txBody>
      </p:sp>
      <p:sp>
        <p:nvSpPr>
          <p:cNvPr id="36" name="TextBox 35"/>
          <p:cNvSpPr txBox="1"/>
          <p:nvPr/>
        </p:nvSpPr>
        <p:spPr>
          <a:xfrm>
            <a:off x="10283342" y="2103120"/>
            <a:ext cx="1009497" cy="329184"/>
          </a:xfrm>
          <a:prstGeom prst="rect">
            <a:avLst/>
          </a:prstGeom>
          <a:noFill/>
        </p:spPr>
        <p:txBody>
          <a:bodyPr wrap="square" anchor="t">
            <a:spAutoFit/>
          </a:bodyPr>
          <a:lstStyle/>
          <a:p>
            <a:pPr algn="l"/>
            <a:r>
              <a:rPr sz="1400" b="1">
                <a:solidFill>
                  <a:srgbClr val="1F6FEB"/>
                </a:solidFill>
                <a:latin typeface="Aptos"/>
              </a:rPr>
              <a:t>Follow through</a:t>
            </a:r>
          </a:p>
        </p:txBody>
      </p:sp>
      <p:sp>
        <p:nvSpPr>
          <p:cNvPr id="37" name="TextBox 36"/>
          <p:cNvSpPr txBox="1"/>
          <p:nvPr/>
        </p:nvSpPr>
        <p:spPr>
          <a:xfrm>
            <a:off x="10283342" y="2487168"/>
            <a:ext cx="1009497" cy="2852928"/>
          </a:xfrm>
          <a:prstGeom prst="rect">
            <a:avLst/>
          </a:prstGeom>
          <a:noFill/>
        </p:spPr>
        <p:txBody>
          <a:bodyPr wrap="square" anchor="t">
            <a:spAutoFit/>
          </a:bodyPr>
          <a:lstStyle/>
          <a:p>
            <a:pPr algn="l"/>
            <a:r>
              <a:rPr sz="1150" b="0">
                <a:solidFill>
                  <a:srgbClr val="161B26"/>
                </a:solidFill>
                <a:latin typeface="Aptos"/>
              </a:rPr>
              <a:t>Communicate process updates and monitor recurrence.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84048"/>
            <a:ext cx="10789920" cy="320040"/>
          </a:xfrm>
          <a:prstGeom prst="rect">
            <a:avLst/>
          </a:prstGeom>
          <a:noFill/>
        </p:spPr>
        <p:txBody>
          <a:bodyPr wrap="square" anchor="t">
            <a:spAutoFit/>
          </a:bodyPr>
          <a:lstStyle/>
          <a:p>
            <a:pPr algn="l"/>
            <a:r>
              <a:rPr sz="1100" b="1">
                <a:solidFill>
                  <a:srgbClr val="7C3AED"/>
                </a:solidFill>
                <a:latin typeface="Aptos"/>
              </a:rPr>
              <a:t>ACTIVITY 07 · EVIDENCE STRUCTURE</a:t>
            </a:r>
          </a:p>
        </p:txBody>
      </p:sp>
      <p:sp>
        <p:nvSpPr>
          <p:cNvPr id="5" name="TextBox 4"/>
          <p:cNvSpPr txBox="1"/>
          <p:nvPr/>
        </p:nvSpPr>
        <p:spPr>
          <a:xfrm>
            <a:off x="658368" y="749808"/>
            <a:ext cx="10789920" cy="658368"/>
          </a:xfrm>
          <a:prstGeom prst="rect">
            <a:avLst/>
          </a:prstGeom>
          <a:noFill/>
        </p:spPr>
        <p:txBody>
          <a:bodyPr wrap="square" anchor="t">
            <a:spAutoFit/>
          </a:bodyPr>
          <a:lstStyle/>
          <a:p>
            <a:pPr algn="l"/>
            <a:r>
              <a:rPr sz="2700" b="1">
                <a:solidFill>
                  <a:srgbClr val="161B26"/>
                </a:solidFill>
                <a:latin typeface="Aptos"/>
              </a:rPr>
              <a:t>Worked Output</a:t>
            </a:r>
          </a:p>
        </p:txBody>
      </p:sp>
      <p:sp>
        <p:nvSpPr>
          <p:cNvPr id="6" name="Rectangle 5"/>
          <p:cNvSpPr/>
          <p:nvPr/>
        </p:nvSpPr>
        <p:spPr>
          <a:xfrm>
            <a:off x="658368" y="1444752"/>
            <a:ext cx="1088136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73952"/>
            <a:ext cx="9875520" cy="201168"/>
          </a:xfrm>
          <a:prstGeom prst="rect">
            <a:avLst/>
          </a:prstGeom>
          <a:noFill/>
        </p:spPr>
        <p:txBody>
          <a:bodyPr wrap="square" anchor="t">
            <a:spAutoFit/>
          </a:bodyPr>
          <a:lstStyle/>
          <a:p>
            <a:pPr algn="l"/>
            <a:r>
              <a:rPr sz="800" b="0">
                <a:solidFill>
                  <a:srgbClr val="5B6372"/>
                </a:solidFill>
                <a:latin typeface="Aptos"/>
              </a:rPr>
              <a:t>TGS-2023021752 · ACTIVITY SAMPLE · Tertiary Infotech Academy Pte Ltd</a:t>
            </a:r>
          </a:p>
        </p:txBody>
      </p:sp>
      <p:sp>
        <p:nvSpPr>
          <p:cNvPr id="8" name="Rounded Rectangle 7"/>
          <p:cNvSpPr/>
          <p:nvPr/>
        </p:nvSpPr>
        <p:spPr>
          <a:xfrm>
            <a:off x="731520" y="1783080"/>
            <a:ext cx="3401568" cy="1719072"/>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783080"/>
            <a:ext cx="73152" cy="171907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932688" y="2002536"/>
            <a:ext cx="438912" cy="438912"/>
          </a:xfrm>
          <a:prstGeom prst="round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2688" y="2011680"/>
            <a:ext cx="438912" cy="420624"/>
          </a:xfrm>
          <a:prstGeom prst="rect">
            <a:avLst/>
          </a:prstGeom>
          <a:noFill/>
        </p:spPr>
        <p:txBody>
          <a:bodyPr wrap="square" anchor="ctr">
            <a:spAutoFit/>
          </a:bodyPr>
          <a:lstStyle/>
          <a:p>
            <a:pPr algn="ctr"/>
            <a:r>
              <a:rPr sz="1400" b="1">
                <a:solidFill>
                  <a:srgbClr val="FFFFFF"/>
                </a:solidFill>
                <a:latin typeface="Aptos"/>
              </a:rPr>
              <a:t>1</a:t>
            </a:r>
          </a:p>
        </p:txBody>
      </p:sp>
      <p:sp>
        <p:nvSpPr>
          <p:cNvPr id="12" name="TextBox 11"/>
          <p:cNvSpPr txBox="1"/>
          <p:nvPr/>
        </p:nvSpPr>
        <p:spPr>
          <a:xfrm>
            <a:off x="1536192" y="1965960"/>
            <a:ext cx="2414016" cy="329184"/>
          </a:xfrm>
          <a:prstGeom prst="rect">
            <a:avLst/>
          </a:prstGeom>
          <a:noFill/>
        </p:spPr>
        <p:txBody>
          <a:bodyPr wrap="square" anchor="t">
            <a:spAutoFit/>
          </a:bodyPr>
          <a:lstStyle/>
          <a:p>
            <a:pPr algn="l"/>
            <a:r>
              <a:rPr sz="1400" b="1">
                <a:solidFill>
                  <a:srgbClr val="1F6FEB"/>
                </a:solidFill>
                <a:latin typeface="Aptos"/>
              </a:rPr>
              <a:t>Need-to-know</a:t>
            </a:r>
          </a:p>
        </p:txBody>
      </p:sp>
      <p:sp>
        <p:nvSpPr>
          <p:cNvPr id="13" name="TextBox 12"/>
          <p:cNvSpPr txBox="1"/>
          <p:nvPr/>
        </p:nvSpPr>
        <p:spPr>
          <a:xfrm>
            <a:off x="1536192" y="2350008"/>
            <a:ext cx="2414016" cy="1005839"/>
          </a:xfrm>
          <a:prstGeom prst="rect">
            <a:avLst/>
          </a:prstGeom>
          <a:noFill/>
        </p:spPr>
        <p:txBody>
          <a:bodyPr wrap="square" anchor="t">
            <a:spAutoFit/>
          </a:bodyPr>
          <a:lstStyle/>
          <a:p>
            <a:pPr algn="l"/>
            <a:r>
              <a:rPr sz="1150" b="0">
                <a:solidFill>
                  <a:srgbClr val="161B26"/>
                </a:solidFill>
                <a:latin typeface="Aptos"/>
              </a:rPr>
              <a:t>Restrict case data and avoid gossip or unnecessary circulation.</a:t>
            </a:r>
          </a:p>
        </p:txBody>
      </p:sp>
      <p:sp>
        <p:nvSpPr>
          <p:cNvPr id="14" name="Rounded Rectangle 13"/>
          <p:cNvSpPr/>
          <p:nvPr/>
        </p:nvSpPr>
        <p:spPr>
          <a:xfrm>
            <a:off x="4315968" y="1783080"/>
            <a:ext cx="3401568" cy="1719072"/>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15968" y="1783080"/>
            <a:ext cx="73152" cy="1719072"/>
          </a:xfrm>
          <a:prstGeom prst="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517136" y="2002536"/>
            <a:ext cx="438912" cy="438912"/>
          </a:xfrm>
          <a:prstGeom prst="round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17136" y="2011680"/>
            <a:ext cx="438912" cy="420624"/>
          </a:xfrm>
          <a:prstGeom prst="rect">
            <a:avLst/>
          </a:prstGeom>
          <a:noFill/>
        </p:spPr>
        <p:txBody>
          <a:bodyPr wrap="square" anchor="ctr">
            <a:spAutoFit/>
          </a:bodyPr>
          <a:lstStyle/>
          <a:p>
            <a:pPr algn="ctr"/>
            <a:r>
              <a:rPr sz="1400" b="1">
                <a:solidFill>
                  <a:srgbClr val="FFFFFF"/>
                </a:solidFill>
                <a:latin typeface="Aptos"/>
              </a:rPr>
              <a:t>2</a:t>
            </a:r>
          </a:p>
        </p:txBody>
      </p:sp>
      <p:sp>
        <p:nvSpPr>
          <p:cNvPr id="18" name="TextBox 17"/>
          <p:cNvSpPr txBox="1"/>
          <p:nvPr/>
        </p:nvSpPr>
        <p:spPr>
          <a:xfrm>
            <a:off x="5120640" y="1965960"/>
            <a:ext cx="2414016" cy="329184"/>
          </a:xfrm>
          <a:prstGeom prst="rect">
            <a:avLst/>
          </a:prstGeom>
          <a:noFill/>
        </p:spPr>
        <p:txBody>
          <a:bodyPr wrap="square" anchor="t">
            <a:spAutoFit/>
          </a:bodyPr>
          <a:lstStyle/>
          <a:p>
            <a:pPr algn="l"/>
            <a:r>
              <a:rPr sz="1400" b="1">
                <a:solidFill>
                  <a:srgbClr val="10B981"/>
                </a:solidFill>
                <a:latin typeface="Aptos"/>
              </a:rPr>
              <a:t>Neutrality</a:t>
            </a:r>
          </a:p>
        </p:txBody>
      </p:sp>
      <p:sp>
        <p:nvSpPr>
          <p:cNvPr id="19" name="TextBox 18"/>
          <p:cNvSpPr txBox="1"/>
          <p:nvPr/>
        </p:nvSpPr>
        <p:spPr>
          <a:xfrm>
            <a:off x="5120640" y="2350008"/>
            <a:ext cx="2414016" cy="1005839"/>
          </a:xfrm>
          <a:prstGeom prst="rect">
            <a:avLst/>
          </a:prstGeom>
          <a:noFill/>
        </p:spPr>
        <p:txBody>
          <a:bodyPr wrap="square" anchor="t">
            <a:spAutoFit/>
          </a:bodyPr>
          <a:lstStyle/>
          <a:p>
            <a:pPr algn="l"/>
            <a:r>
              <a:rPr sz="1150" b="0">
                <a:solidFill>
                  <a:srgbClr val="161B26"/>
                </a:solidFill>
                <a:latin typeface="Aptos"/>
              </a:rPr>
              <a:t>Use trained, conflict-free decision makers and comparable questioning.</a:t>
            </a:r>
          </a:p>
        </p:txBody>
      </p:sp>
      <p:sp>
        <p:nvSpPr>
          <p:cNvPr id="20" name="Rounded Rectangle 19"/>
          <p:cNvSpPr/>
          <p:nvPr/>
        </p:nvSpPr>
        <p:spPr>
          <a:xfrm>
            <a:off x="7900416" y="1783080"/>
            <a:ext cx="3401568" cy="1719072"/>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00416" y="1783080"/>
            <a:ext cx="73152" cy="1719072"/>
          </a:xfrm>
          <a:prstGeom prst="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101584" y="2002536"/>
            <a:ext cx="438912" cy="438912"/>
          </a:xfrm>
          <a:prstGeom prst="round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01584" y="2011680"/>
            <a:ext cx="438912" cy="420624"/>
          </a:xfrm>
          <a:prstGeom prst="rect">
            <a:avLst/>
          </a:prstGeom>
          <a:noFill/>
        </p:spPr>
        <p:txBody>
          <a:bodyPr wrap="square" anchor="ctr">
            <a:spAutoFit/>
          </a:bodyPr>
          <a:lstStyle/>
          <a:p>
            <a:pPr algn="ctr"/>
            <a:r>
              <a:rPr sz="1400" b="1">
                <a:solidFill>
                  <a:srgbClr val="FFFFFF"/>
                </a:solidFill>
                <a:latin typeface="Aptos"/>
              </a:rPr>
              <a:t>3</a:t>
            </a:r>
          </a:p>
        </p:txBody>
      </p:sp>
      <p:sp>
        <p:nvSpPr>
          <p:cNvPr id="24" name="TextBox 23"/>
          <p:cNvSpPr txBox="1"/>
          <p:nvPr/>
        </p:nvSpPr>
        <p:spPr>
          <a:xfrm>
            <a:off x="8705088" y="1965960"/>
            <a:ext cx="2414016" cy="329184"/>
          </a:xfrm>
          <a:prstGeom prst="rect">
            <a:avLst/>
          </a:prstGeom>
          <a:noFill/>
        </p:spPr>
        <p:txBody>
          <a:bodyPr wrap="square" anchor="t">
            <a:spAutoFit/>
          </a:bodyPr>
          <a:lstStyle/>
          <a:p>
            <a:pPr algn="l"/>
            <a:r>
              <a:rPr sz="1400" b="1">
                <a:solidFill>
                  <a:srgbClr val="7C3AED"/>
                </a:solidFill>
                <a:latin typeface="Aptos"/>
              </a:rPr>
              <a:t>Accuracy</a:t>
            </a:r>
          </a:p>
        </p:txBody>
      </p:sp>
      <p:sp>
        <p:nvSpPr>
          <p:cNvPr id="25" name="TextBox 24"/>
          <p:cNvSpPr txBox="1"/>
          <p:nvPr/>
        </p:nvSpPr>
        <p:spPr>
          <a:xfrm>
            <a:off x="8705088" y="2350008"/>
            <a:ext cx="2414016" cy="1005839"/>
          </a:xfrm>
          <a:prstGeom prst="rect">
            <a:avLst/>
          </a:prstGeom>
          <a:noFill/>
        </p:spPr>
        <p:txBody>
          <a:bodyPr wrap="square" anchor="t">
            <a:spAutoFit/>
          </a:bodyPr>
          <a:lstStyle/>
          <a:p>
            <a:pPr algn="l"/>
            <a:r>
              <a:rPr sz="1150" b="0">
                <a:solidFill>
                  <a:srgbClr val="161B26"/>
                </a:solidFill>
                <a:latin typeface="Aptos"/>
              </a:rPr>
              <a:t>Record dates, sources, uncertainty, corrections and decisions.</a:t>
            </a:r>
          </a:p>
        </p:txBody>
      </p:sp>
      <p:sp>
        <p:nvSpPr>
          <p:cNvPr id="26" name="Rounded Rectangle 25"/>
          <p:cNvSpPr/>
          <p:nvPr/>
        </p:nvSpPr>
        <p:spPr>
          <a:xfrm>
            <a:off x="731520" y="3776472"/>
            <a:ext cx="3401568" cy="1719072"/>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1520" y="3776472"/>
            <a:ext cx="73152" cy="171907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932688" y="3995928"/>
            <a:ext cx="438912" cy="438912"/>
          </a:xfrm>
          <a:prstGeom prst="round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32688" y="4005072"/>
            <a:ext cx="438912" cy="420624"/>
          </a:xfrm>
          <a:prstGeom prst="rect">
            <a:avLst/>
          </a:prstGeom>
          <a:noFill/>
        </p:spPr>
        <p:txBody>
          <a:bodyPr wrap="square" anchor="ctr">
            <a:spAutoFit/>
          </a:bodyPr>
          <a:lstStyle/>
          <a:p>
            <a:pPr algn="ctr"/>
            <a:r>
              <a:rPr sz="1400" b="1">
                <a:solidFill>
                  <a:srgbClr val="FFFFFF"/>
                </a:solidFill>
                <a:latin typeface="Aptos"/>
              </a:rPr>
              <a:t>4</a:t>
            </a:r>
          </a:p>
        </p:txBody>
      </p:sp>
      <p:sp>
        <p:nvSpPr>
          <p:cNvPr id="30" name="TextBox 29"/>
          <p:cNvSpPr txBox="1"/>
          <p:nvPr/>
        </p:nvSpPr>
        <p:spPr>
          <a:xfrm>
            <a:off x="1536192" y="3959352"/>
            <a:ext cx="2414016" cy="329184"/>
          </a:xfrm>
          <a:prstGeom prst="rect">
            <a:avLst/>
          </a:prstGeom>
          <a:noFill/>
        </p:spPr>
        <p:txBody>
          <a:bodyPr wrap="square" anchor="t">
            <a:spAutoFit/>
          </a:bodyPr>
          <a:lstStyle/>
          <a:p>
            <a:pPr algn="l"/>
            <a:r>
              <a:rPr sz="1400" b="1">
                <a:solidFill>
                  <a:srgbClr val="F59E0B"/>
                </a:solidFill>
                <a:latin typeface="Aptos"/>
              </a:rPr>
              <a:t>Support</a:t>
            </a:r>
          </a:p>
        </p:txBody>
      </p:sp>
      <p:sp>
        <p:nvSpPr>
          <p:cNvPr id="31" name="TextBox 30"/>
          <p:cNvSpPr txBox="1"/>
          <p:nvPr/>
        </p:nvSpPr>
        <p:spPr>
          <a:xfrm>
            <a:off x="1536192" y="4343400"/>
            <a:ext cx="2414016" cy="1005839"/>
          </a:xfrm>
          <a:prstGeom prst="rect">
            <a:avLst/>
          </a:prstGeom>
          <a:noFill/>
        </p:spPr>
        <p:txBody>
          <a:bodyPr wrap="square" anchor="t">
            <a:spAutoFit/>
          </a:bodyPr>
          <a:lstStyle/>
          <a:p>
            <a:pPr algn="l"/>
            <a:r>
              <a:rPr sz="1150" b="0">
                <a:solidFill>
                  <a:srgbClr val="161B26"/>
                </a:solidFill>
                <a:latin typeface="Aptos"/>
              </a:rPr>
              <a:t>Offer safe channels, interim options and protection from retaliation.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84048"/>
            <a:ext cx="10789920" cy="320040"/>
          </a:xfrm>
          <a:prstGeom prst="rect">
            <a:avLst/>
          </a:prstGeom>
          <a:noFill/>
        </p:spPr>
        <p:txBody>
          <a:bodyPr wrap="square" anchor="t">
            <a:spAutoFit/>
          </a:bodyPr>
          <a:lstStyle/>
          <a:p>
            <a:pPr algn="l"/>
            <a:r>
              <a:rPr sz="1100" b="1">
                <a:solidFill>
                  <a:srgbClr val="F59E0B"/>
                </a:solidFill>
                <a:latin typeface="Aptos"/>
              </a:rPr>
              <a:t>ACTIVITY 07 · REVIEW</a:t>
            </a:r>
          </a:p>
        </p:txBody>
      </p:sp>
      <p:sp>
        <p:nvSpPr>
          <p:cNvPr id="5" name="TextBox 4"/>
          <p:cNvSpPr txBox="1"/>
          <p:nvPr/>
        </p:nvSpPr>
        <p:spPr>
          <a:xfrm>
            <a:off x="658368" y="749808"/>
            <a:ext cx="10789920" cy="658368"/>
          </a:xfrm>
          <a:prstGeom prst="rect">
            <a:avLst/>
          </a:prstGeom>
          <a:noFill/>
        </p:spPr>
        <p:txBody>
          <a:bodyPr wrap="square" anchor="t">
            <a:spAutoFit/>
          </a:bodyPr>
          <a:lstStyle/>
          <a:p>
            <a:pPr algn="l"/>
            <a:r>
              <a:rPr sz="2700" b="1">
                <a:solidFill>
                  <a:srgbClr val="161B26"/>
                </a:solidFill>
                <a:latin typeface="Aptos"/>
              </a:rPr>
              <a:t>Quality Check: Don't vs Do</a:t>
            </a:r>
          </a:p>
        </p:txBody>
      </p:sp>
      <p:sp>
        <p:nvSpPr>
          <p:cNvPr id="6" name="Rectangle 5"/>
          <p:cNvSpPr/>
          <p:nvPr/>
        </p:nvSpPr>
        <p:spPr>
          <a:xfrm>
            <a:off x="658368" y="1444752"/>
            <a:ext cx="1088136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73952"/>
            <a:ext cx="9875520" cy="201168"/>
          </a:xfrm>
          <a:prstGeom prst="rect">
            <a:avLst/>
          </a:prstGeom>
          <a:noFill/>
        </p:spPr>
        <p:txBody>
          <a:bodyPr wrap="square" anchor="t">
            <a:spAutoFit/>
          </a:bodyPr>
          <a:lstStyle/>
          <a:p>
            <a:pPr algn="l"/>
            <a:r>
              <a:rPr sz="800" b="0">
                <a:solidFill>
                  <a:srgbClr val="5B6372"/>
                </a:solidFill>
                <a:latin typeface="Aptos"/>
              </a:rPr>
              <a:t>TGS-2023021752 · ACTIVITY SAMPLE · Tertiary Infotech Academy Pte Ltd</a:t>
            </a:r>
          </a:p>
        </p:txBody>
      </p:sp>
      <p:sp>
        <p:nvSpPr>
          <p:cNvPr id="8" name="Rounded Rectangle 7"/>
          <p:cNvSpPr/>
          <p:nvPr/>
        </p:nvSpPr>
        <p:spPr>
          <a:xfrm>
            <a:off x="731520" y="1783080"/>
            <a:ext cx="5166360" cy="4251960"/>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263640" y="1783080"/>
            <a:ext cx="5166360" cy="4251960"/>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2011680"/>
            <a:ext cx="4480560" cy="365760"/>
          </a:xfrm>
          <a:prstGeom prst="rect">
            <a:avLst/>
          </a:prstGeom>
          <a:noFill/>
        </p:spPr>
        <p:txBody>
          <a:bodyPr wrap="square" anchor="t">
            <a:spAutoFit/>
          </a:bodyPr>
          <a:lstStyle/>
          <a:p>
            <a:pPr algn="l"/>
            <a:r>
              <a:rPr sz="1600" b="1">
                <a:solidFill>
                  <a:srgbClr val="F59E0B"/>
                </a:solidFill>
                <a:latin typeface="Aptos"/>
              </a:rPr>
              <a:t>DON'T</a:t>
            </a:r>
          </a:p>
        </p:txBody>
      </p:sp>
      <p:sp>
        <p:nvSpPr>
          <p:cNvPr id="11" name="TextBox 10"/>
          <p:cNvSpPr txBox="1"/>
          <p:nvPr/>
        </p:nvSpPr>
        <p:spPr>
          <a:xfrm>
            <a:off x="6556248" y="2011680"/>
            <a:ext cx="4480560" cy="365760"/>
          </a:xfrm>
          <a:prstGeom prst="rect">
            <a:avLst/>
          </a:prstGeom>
          <a:noFill/>
        </p:spPr>
        <p:txBody>
          <a:bodyPr wrap="square" anchor="t">
            <a:spAutoFit/>
          </a:bodyPr>
          <a:lstStyle/>
          <a:p>
            <a:pPr algn="l"/>
            <a:r>
              <a:rPr sz="1600" b="1">
                <a:solidFill>
                  <a:srgbClr val="10B981"/>
                </a:solidFill>
                <a:latin typeface="Aptos"/>
              </a:rPr>
              <a:t>DO</a:t>
            </a:r>
          </a:p>
        </p:txBody>
      </p:sp>
      <p:sp>
        <p:nvSpPr>
          <p:cNvPr id="12" name="TextBox 11"/>
          <p:cNvSpPr txBox="1"/>
          <p:nvPr/>
        </p:nvSpPr>
        <p:spPr>
          <a:xfrm>
            <a:off x="1024128" y="2587752"/>
            <a:ext cx="4526280" cy="2926080"/>
          </a:xfrm>
          <a:prstGeom prst="rect">
            <a:avLst/>
          </a:prstGeom>
          <a:noFill/>
        </p:spPr>
        <p:txBody>
          <a:bodyPr wrap="square" anchor="t">
            <a:spAutoFit/>
          </a:bodyPr>
          <a:lstStyle/>
          <a:p>
            <a:pPr algn="l"/>
            <a:r>
              <a:rPr sz="1500" b="0">
                <a:solidFill>
                  <a:srgbClr val="161B26"/>
                </a:solidFill>
                <a:latin typeface="Aptos"/>
              </a:rPr>
              <a:t>• Different work preferences with free participation.
• Specific low-risk misunderstanding.
• Both parties want a facilitated dialogue.
• No safety, harassment or retaliation concern is present.</a:t>
            </a:r>
          </a:p>
        </p:txBody>
      </p:sp>
      <p:sp>
        <p:nvSpPr>
          <p:cNvPr id="13" name="TextBox 12"/>
          <p:cNvSpPr txBox="1"/>
          <p:nvPr/>
        </p:nvSpPr>
        <p:spPr>
          <a:xfrm>
            <a:off x="6556248" y="2587752"/>
            <a:ext cx="4526280" cy="2926080"/>
          </a:xfrm>
          <a:prstGeom prst="rect">
            <a:avLst/>
          </a:prstGeom>
          <a:noFill/>
        </p:spPr>
        <p:txBody>
          <a:bodyPr wrap="square" anchor="t">
            <a:spAutoFit/>
          </a:bodyPr>
          <a:lstStyle/>
          <a:p>
            <a:pPr algn="l"/>
            <a:r>
              <a:rPr sz="1500" b="0">
                <a:solidFill>
                  <a:srgbClr val="161B26"/>
                </a:solidFill>
                <a:latin typeface="Aptos"/>
              </a:rPr>
              <a:t>• Threat, harm, harassment or discriminatory conduct.
• Retaliation, coercion or significant power imbalance.
• Repeated conduct after prior intervention.
• Policy, law or evidence-preservation duty requires investigation.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84048"/>
            <a:ext cx="10789920" cy="320040"/>
          </a:xfrm>
          <a:prstGeom prst="rect">
            <a:avLst/>
          </a:prstGeom>
          <a:noFill/>
        </p:spPr>
        <p:txBody>
          <a:bodyPr wrap="square" anchor="t">
            <a:spAutoFit/>
          </a:bodyPr>
          <a:lstStyle/>
          <a:p>
            <a:pPr algn="l"/>
            <a:r>
              <a:rPr sz="1100" b="1">
                <a:solidFill>
                  <a:srgbClr val="1F6FEB"/>
                </a:solidFill>
                <a:latin typeface="Aptos"/>
              </a:rPr>
              <a:t>ACTIVITY 07 · ACCEPTANCE</a:t>
            </a:r>
          </a:p>
        </p:txBody>
      </p:sp>
      <p:sp>
        <p:nvSpPr>
          <p:cNvPr id="5" name="TextBox 4"/>
          <p:cNvSpPr txBox="1"/>
          <p:nvPr/>
        </p:nvSpPr>
        <p:spPr>
          <a:xfrm>
            <a:off x="658368" y="749808"/>
            <a:ext cx="10789920" cy="658368"/>
          </a:xfrm>
          <a:prstGeom prst="rect">
            <a:avLst/>
          </a:prstGeom>
          <a:noFill/>
        </p:spPr>
        <p:txBody>
          <a:bodyPr wrap="square" anchor="t">
            <a:spAutoFit/>
          </a:bodyPr>
          <a:lstStyle/>
          <a:p>
            <a:pPr algn="l"/>
            <a:r>
              <a:rPr sz="2700" b="1">
                <a:solidFill>
                  <a:srgbClr val="161B26"/>
                </a:solidFill>
                <a:latin typeface="Aptos"/>
              </a:rPr>
              <a:t>What Good Looks Like</a:t>
            </a:r>
          </a:p>
        </p:txBody>
      </p:sp>
      <p:sp>
        <p:nvSpPr>
          <p:cNvPr id="6" name="Rectangle 5"/>
          <p:cNvSpPr/>
          <p:nvPr/>
        </p:nvSpPr>
        <p:spPr>
          <a:xfrm>
            <a:off x="658368" y="1444752"/>
            <a:ext cx="1088136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473952"/>
            <a:ext cx="9875520" cy="201168"/>
          </a:xfrm>
          <a:prstGeom prst="rect">
            <a:avLst/>
          </a:prstGeom>
          <a:noFill/>
        </p:spPr>
        <p:txBody>
          <a:bodyPr wrap="square" anchor="t">
            <a:spAutoFit/>
          </a:bodyPr>
          <a:lstStyle/>
          <a:p>
            <a:pPr algn="l"/>
            <a:r>
              <a:rPr sz="800" b="0">
                <a:solidFill>
                  <a:srgbClr val="5B6372"/>
                </a:solidFill>
                <a:latin typeface="Aptos"/>
              </a:rPr>
              <a:t>TGS-2023021752 · ACTIVITY SAMPLE · Tertiary Infotech Academy Pte Ltd</a:t>
            </a:r>
          </a:p>
        </p:txBody>
      </p:sp>
      <p:sp>
        <p:nvSpPr>
          <p:cNvPr id="8" name="Rounded Rectangle 7"/>
          <p:cNvSpPr/>
          <p:nvPr/>
        </p:nvSpPr>
        <p:spPr>
          <a:xfrm>
            <a:off x="749808" y="1810512"/>
            <a:ext cx="10652760" cy="1005840"/>
          </a:xfrm>
          <a:prstGeom prst="round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011680"/>
            <a:ext cx="10058400" cy="566928"/>
          </a:xfrm>
          <a:prstGeom prst="rect">
            <a:avLst/>
          </a:prstGeom>
          <a:noFill/>
        </p:spPr>
        <p:txBody>
          <a:bodyPr wrap="square" anchor="ctr">
            <a:spAutoFit/>
          </a:bodyPr>
          <a:lstStyle/>
          <a:p>
            <a:pPr algn="ctr"/>
            <a:r>
              <a:rPr sz="1900" b="1">
                <a:solidFill>
                  <a:srgbClr val="FFFFFF"/>
                </a:solidFill>
                <a:latin typeface="Aptos"/>
              </a:rPr>
              <a:t>An escalation decision record, case-handling checklist and stakeholder communication plan</a:t>
            </a:r>
          </a:p>
        </p:txBody>
      </p:sp>
      <p:sp>
        <p:nvSpPr>
          <p:cNvPr id="10" name="Rounded Rectangle 9"/>
          <p:cNvSpPr/>
          <p:nvPr/>
        </p:nvSpPr>
        <p:spPr>
          <a:xfrm>
            <a:off x="777240" y="3154680"/>
            <a:ext cx="5074920" cy="749808"/>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3154680"/>
            <a:ext cx="73152" cy="749808"/>
          </a:xfrm>
          <a:prstGeom prst="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978408" y="3374136"/>
            <a:ext cx="438912" cy="438912"/>
          </a:xfrm>
          <a:prstGeom prst="round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78408" y="3383280"/>
            <a:ext cx="438912" cy="420624"/>
          </a:xfrm>
          <a:prstGeom prst="rect">
            <a:avLst/>
          </a:prstGeom>
          <a:noFill/>
        </p:spPr>
        <p:txBody>
          <a:bodyPr wrap="square" anchor="ctr">
            <a:spAutoFit/>
          </a:bodyPr>
          <a:lstStyle/>
          <a:p>
            <a:pPr algn="ctr"/>
            <a:r>
              <a:rPr sz="1400" b="1">
                <a:solidFill>
                  <a:srgbClr val="FFFFFF"/>
                </a:solidFill>
                <a:latin typeface="Aptos"/>
              </a:rPr>
              <a:t>1</a:t>
            </a:r>
          </a:p>
        </p:txBody>
      </p:sp>
      <p:sp>
        <p:nvSpPr>
          <p:cNvPr id="14" name="TextBox 13"/>
          <p:cNvSpPr txBox="1"/>
          <p:nvPr/>
        </p:nvSpPr>
        <p:spPr>
          <a:xfrm>
            <a:off x="1581912" y="3337560"/>
            <a:ext cx="4087368" cy="329184"/>
          </a:xfrm>
          <a:prstGeom prst="rect">
            <a:avLst/>
          </a:prstGeom>
          <a:noFill/>
        </p:spPr>
        <p:txBody>
          <a:bodyPr wrap="square" anchor="t">
            <a:spAutoFit/>
          </a:bodyPr>
          <a:lstStyle/>
          <a:p>
            <a:pPr algn="l"/>
            <a:r>
              <a:rPr sz="1400" b="1">
                <a:solidFill>
                  <a:srgbClr val="10B981"/>
                </a:solidFill>
                <a:latin typeface="Aptos"/>
              </a:rPr>
              <a:t>CHECK</a:t>
            </a:r>
          </a:p>
        </p:txBody>
      </p:sp>
      <p:sp>
        <p:nvSpPr>
          <p:cNvPr id="15" name="TextBox 14"/>
          <p:cNvSpPr txBox="1"/>
          <p:nvPr/>
        </p:nvSpPr>
        <p:spPr>
          <a:xfrm>
            <a:off x="1581912" y="3721608"/>
            <a:ext cx="4087368" cy="36575"/>
          </a:xfrm>
          <a:prstGeom prst="rect">
            <a:avLst/>
          </a:prstGeom>
          <a:noFill/>
        </p:spPr>
        <p:txBody>
          <a:bodyPr wrap="square" anchor="t">
            <a:spAutoFit/>
          </a:bodyPr>
          <a:lstStyle/>
          <a:p>
            <a:pPr algn="l"/>
            <a:r>
              <a:rPr sz="1150" b="0">
                <a:solidFill>
                  <a:srgbClr val="161B26"/>
                </a:solidFill>
                <a:latin typeface="Aptos"/>
              </a:rPr>
              <a:t>The response distinguishes an allegation or concern from a proven finding.</a:t>
            </a:r>
          </a:p>
        </p:txBody>
      </p:sp>
      <p:sp>
        <p:nvSpPr>
          <p:cNvPr id="16" name="Rounded Rectangle 15"/>
          <p:cNvSpPr/>
          <p:nvPr/>
        </p:nvSpPr>
        <p:spPr>
          <a:xfrm>
            <a:off x="6126479" y="3154680"/>
            <a:ext cx="5074920" cy="749808"/>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79" y="3154680"/>
            <a:ext cx="73152" cy="749808"/>
          </a:xfrm>
          <a:prstGeom prst="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27647" y="3374136"/>
            <a:ext cx="438912" cy="438912"/>
          </a:xfrm>
          <a:prstGeom prst="round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27647" y="3383280"/>
            <a:ext cx="438912" cy="420624"/>
          </a:xfrm>
          <a:prstGeom prst="rect">
            <a:avLst/>
          </a:prstGeom>
          <a:noFill/>
        </p:spPr>
        <p:txBody>
          <a:bodyPr wrap="square" anchor="ctr">
            <a:spAutoFit/>
          </a:bodyPr>
          <a:lstStyle/>
          <a:p>
            <a:pPr algn="ctr"/>
            <a:r>
              <a:rPr sz="1400" b="1">
                <a:solidFill>
                  <a:srgbClr val="FFFFFF"/>
                </a:solidFill>
                <a:latin typeface="Aptos"/>
              </a:rPr>
              <a:t>2</a:t>
            </a:r>
          </a:p>
        </p:txBody>
      </p:sp>
      <p:sp>
        <p:nvSpPr>
          <p:cNvPr id="20" name="TextBox 19"/>
          <p:cNvSpPr txBox="1"/>
          <p:nvPr/>
        </p:nvSpPr>
        <p:spPr>
          <a:xfrm>
            <a:off x="6931151" y="3337560"/>
            <a:ext cx="4087368" cy="329184"/>
          </a:xfrm>
          <a:prstGeom prst="rect">
            <a:avLst/>
          </a:prstGeom>
          <a:noFill/>
        </p:spPr>
        <p:txBody>
          <a:bodyPr wrap="square" anchor="t">
            <a:spAutoFit/>
          </a:bodyPr>
          <a:lstStyle/>
          <a:p>
            <a:pPr algn="l"/>
            <a:r>
              <a:rPr sz="1400" b="1">
                <a:solidFill>
                  <a:srgbClr val="10B981"/>
                </a:solidFill>
                <a:latin typeface="Aptos"/>
              </a:rPr>
              <a:t>CHECK</a:t>
            </a:r>
          </a:p>
        </p:txBody>
      </p:sp>
      <p:sp>
        <p:nvSpPr>
          <p:cNvPr id="21" name="TextBox 20"/>
          <p:cNvSpPr txBox="1"/>
          <p:nvPr/>
        </p:nvSpPr>
        <p:spPr>
          <a:xfrm>
            <a:off x="6931151" y="3721608"/>
            <a:ext cx="4087368" cy="36575"/>
          </a:xfrm>
          <a:prstGeom prst="rect">
            <a:avLst/>
          </a:prstGeom>
          <a:noFill/>
        </p:spPr>
        <p:txBody>
          <a:bodyPr wrap="square" anchor="t">
            <a:spAutoFit/>
          </a:bodyPr>
          <a:lstStyle/>
          <a:p>
            <a:pPr algn="l"/>
            <a:r>
              <a:rPr sz="1150" b="0">
                <a:solidFill>
                  <a:srgbClr val="161B26"/>
                </a:solidFill>
                <a:latin typeface="Aptos"/>
              </a:rPr>
              <a:t>A designated route and alternative route are identified, with mediation suitability explained.</a:t>
            </a:r>
          </a:p>
        </p:txBody>
      </p:sp>
      <p:sp>
        <p:nvSpPr>
          <p:cNvPr id="22" name="Rounded Rectangle 21"/>
          <p:cNvSpPr/>
          <p:nvPr/>
        </p:nvSpPr>
        <p:spPr>
          <a:xfrm>
            <a:off x="777240" y="4096512"/>
            <a:ext cx="5074920" cy="749808"/>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96512"/>
            <a:ext cx="73152" cy="749808"/>
          </a:xfrm>
          <a:prstGeom prst="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78408" y="4315968"/>
            <a:ext cx="438912" cy="438912"/>
          </a:xfrm>
          <a:prstGeom prst="round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8408" y="4325112"/>
            <a:ext cx="438912" cy="420624"/>
          </a:xfrm>
          <a:prstGeom prst="rect">
            <a:avLst/>
          </a:prstGeom>
          <a:noFill/>
        </p:spPr>
        <p:txBody>
          <a:bodyPr wrap="square" anchor="ctr">
            <a:spAutoFit/>
          </a:bodyPr>
          <a:lstStyle/>
          <a:p>
            <a:pPr algn="ctr"/>
            <a:r>
              <a:rPr sz="1400" b="1">
                <a:solidFill>
                  <a:srgbClr val="FFFFFF"/>
                </a:solidFill>
                <a:latin typeface="Aptos"/>
              </a:rPr>
              <a:t>3</a:t>
            </a:r>
          </a:p>
        </p:txBody>
      </p:sp>
      <p:sp>
        <p:nvSpPr>
          <p:cNvPr id="26" name="TextBox 25"/>
          <p:cNvSpPr txBox="1"/>
          <p:nvPr/>
        </p:nvSpPr>
        <p:spPr>
          <a:xfrm>
            <a:off x="1581912" y="4279392"/>
            <a:ext cx="4087368" cy="329184"/>
          </a:xfrm>
          <a:prstGeom prst="rect">
            <a:avLst/>
          </a:prstGeom>
          <a:noFill/>
        </p:spPr>
        <p:txBody>
          <a:bodyPr wrap="square" anchor="t">
            <a:spAutoFit/>
          </a:bodyPr>
          <a:lstStyle/>
          <a:p>
            <a:pPr algn="l"/>
            <a:r>
              <a:rPr sz="1400" b="1">
                <a:solidFill>
                  <a:srgbClr val="10B981"/>
                </a:solidFill>
                <a:latin typeface="Aptos"/>
              </a:rPr>
              <a:t>CHECK</a:t>
            </a:r>
          </a:p>
        </p:txBody>
      </p:sp>
      <p:sp>
        <p:nvSpPr>
          <p:cNvPr id="27" name="TextBox 26"/>
          <p:cNvSpPr txBox="1"/>
          <p:nvPr/>
        </p:nvSpPr>
        <p:spPr>
          <a:xfrm>
            <a:off x="1581912" y="4663440"/>
            <a:ext cx="4087368" cy="36575"/>
          </a:xfrm>
          <a:prstGeom prst="rect">
            <a:avLst/>
          </a:prstGeom>
          <a:noFill/>
        </p:spPr>
        <p:txBody>
          <a:bodyPr wrap="square" anchor="t">
            <a:spAutoFit/>
          </a:bodyPr>
          <a:lstStyle/>
          <a:p>
            <a:pPr algn="l"/>
            <a:r>
              <a:rPr sz="1150" b="0">
                <a:solidFill>
                  <a:srgbClr val="161B26"/>
                </a:solidFill>
                <a:latin typeface="Aptos"/>
              </a:rPr>
              <a:t>Interim protection is proportionate and avoids retaliation or premature punishment.</a:t>
            </a:r>
          </a:p>
        </p:txBody>
      </p:sp>
      <p:sp>
        <p:nvSpPr>
          <p:cNvPr id="28" name="Rounded Rectangle 27"/>
          <p:cNvSpPr/>
          <p:nvPr/>
        </p:nvSpPr>
        <p:spPr>
          <a:xfrm>
            <a:off x="6126479" y="4096512"/>
            <a:ext cx="5074920" cy="749808"/>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126479" y="4096512"/>
            <a:ext cx="73152" cy="749808"/>
          </a:xfrm>
          <a:prstGeom prst="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6327647" y="4315968"/>
            <a:ext cx="438912" cy="438912"/>
          </a:xfrm>
          <a:prstGeom prst="round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27647" y="4325112"/>
            <a:ext cx="438912" cy="420624"/>
          </a:xfrm>
          <a:prstGeom prst="rect">
            <a:avLst/>
          </a:prstGeom>
          <a:noFill/>
        </p:spPr>
        <p:txBody>
          <a:bodyPr wrap="square" anchor="ctr">
            <a:spAutoFit/>
          </a:bodyPr>
          <a:lstStyle/>
          <a:p>
            <a:pPr algn="ctr"/>
            <a:r>
              <a:rPr sz="1400" b="1">
                <a:solidFill>
                  <a:srgbClr val="FFFFFF"/>
                </a:solidFill>
                <a:latin typeface="Aptos"/>
              </a:rPr>
              <a:t>4</a:t>
            </a:r>
          </a:p>
        </p:txBody>
      </p:sp>
      <p:sp>
        <p:nvSpPr>
          <p:cNvPr id="32" name="TextBox 31"/>
          <p:cNvSpPr txBox="1"/>
          <p:nvPr/>
        </p:nvSpPr>
        <p:spPr>
          <a:xfrm>
            <a:off x="6931151" y="4279392"/>
            <a:ext cx="4087368" cy="329184"/>
          </a:xfrm>
          <a:prstGeom prst="rect">
            <a:avLst/>
          </a:prstGeom>
          <a:noFill/>
        </p:spPr>
        <p:txBody>
          <a:bodyPr wrap="square" anchor="t">
            <a:spAutoFit/>
          </a:bodyPr>
          <a:lstStyle/>
          <a:p>
            <a:pPr algn="l"/>
            <a:r>
              <a:rPr sz="1400" b="1">
                <a:solidFill>
                  <a:srgbClr val="10B981"/>
                </a:solidFill>
                <a:latin typeface="Aptos"/>
              </a:rPr>
              <a:t>CHECK</a:t>
            </a:r>
          </a:p>
        </p:txBody>
      </p:sp>
      <p:sp>
        <p:nvSpPr>
          <p:cNvPr id="33" name="TextBox 32"/>
          <p:cNvSpPr txBox="1"/>
          <p:nvPr/>
        </p:nvSpPr>
        <p:spPr>
          <a:xfrm>
            <a:off x="6931151" y="4663440"/>
            <a:ext cx="4087368" cy="36575"/>
          </a:xfrm>
          <a:prstGeom prst="rect">
            <a:avLst/>
          </a:prstGeom>
          <a:noFill/>
        </p:spPr>
        <p:txBody>
          <a:bodyPr wrap="square" anchor="t">
            <a:spAutoFit/>
          </a:bodyPr>
          <a:lstStyle/>
          <a:p>
            <a:pPr algn="l"/>
            <a:r>
              <a:rPr sz="1150" b="0">
                <a:solidFill>
                  <a:srgbClr val="161B26"/>
                </a:solidFill>
                <a:latin typeface="Aptos"/>
              </a:rPr>
              <a:t>Evidence and personal data are limited, secured and handled for a stated purpose.</a:t>
            </a:r>
          </a:p>
        </p:txBody>
      </p:sp>
      <p:sp>
        <p:nvSpPr>
          <p:cNvPr id="34" name="Rounded Rectangle 33"/>
          <p:cNvSpPr/>
          <p:nvPr/>
        </p:nvSpPr>
        <p:spPr>
          <a:xfrm>
            <a:off x="777240" y="5038344"/>
            <a:ext cx="5074920" cy="749808"/>
          </a:xfrm>
          <a:prstGeom prst="roundRect">
            <a:avLst/>
          </a:prstGeom>
          <a:solidFill>
            <a:srgbClr val="F5F8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77240" y="5038344"/>
            <a:ext cx="73152" cy="749808"/>
          </a:xfrm>
          <a:prstGeom prst="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978408" y="5257800"/>
            <a:ext cx="438912" cy="438912"/>
          </a:xfrm>
          <a:prstGeom prst="round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78408" y="5266944"/>
            <a:ext cx="438912" cy="420624"/>
          </a:xfrm>
          <a:prstGeom prst="rect">
            <a:avLst/>
          </a:prstGeom>
          <a:noFill/>
        </p:spPr>
        <p:txBody>
          <a:bodyPr wrap="square" anchor="ctr">
            <a:spAutoFit/>
          </a:bodyPr>
          <a:lstStyle/>
          <a:p>
            <a:pPr algn="ctr"/>
            <a:r>
              <a:rPr sz="1400" b="1">
                <a:solidFill>
                  <a:srgbClr val="FFFFFF"/>
                </a:solidFill>
                <a:latin typeface="Aptos"/>
              </a:rPr>
              <a:t>5</a:t>
            </a:r>
          </a:p>
        </p:txBody>
      </p:sp>
      <p:sp>
        <p:nvSpPr>
          <p:cNvPr id="38" name="TextBox 37"/>
          <p:cNvSpPr txBox="1"/>
          <p:nvPr/>
        </p:nvSpPr>
        <p:spPr>
          <a:xfrm>
            <a:off x="1581912" y="5221224"/>
            <a:ext cx="4087368" cy="329184"/>
          </a:xfrm>
          <a:prstGeom prst="rect">
            <a:avLst/>
          </a:prstGeom>
          <a:noFill/>
        </p:spPr>
        <p:txBody>
          <a:bodyPr wrap="square" anchor="t">
            <a:spAutoFit/>
          </a:bodyPr>
          <a:lstStyle/>
          <a:p>
            <a:pPr algn="l"/>
            <a:r>
              <a:rPr sz="1400" b="1">
                <a:solidFill>
                  <a:srgbClr val="10B981"/>
                </a:solidFill>
                <a:latin typeface="Aptos"/>
              </a:rPr>
              <a:t>CHECK</a:t>
            </a:r>
          </a:p>
        </p:txBody>
      </p:sp>
      <p:sp>
        <p:nvSpPr>
          <p:cNvPr id="39" name="TextBox 38"/>
          <p:cNvSpPr txBox="1"/>
          <p:nvPr/>
        </p:nvSpPr>
        <p:spPr>
          <a:xfrm>
            <a:off x="1581912" y="5605272"/>
            <a:ext cx="4087368" cy="36575"/>
          </a:xfrm>
          <a:prstGeom prst="rect">
            <a:avLst/>
          </a:prstGeom>
          <a:noFill/>
        </p:spPr>
        <p:txBody>
          <a:bodyPr wrap="square" anchor="t">
            <a:spAutoFit/>
          </a:bodyPr>
          <a:lstStyle/>
          <a:p>
            <a:pPr algn="l"/>
            <a:r>
              <a:rPr sz="1150" b="0">
                <a:solidFill>
                  <a:srgbClr val="161B26"/>
                </a:solidFill>
                <a:latin typeface="Aptos"/>
              </a:rPr>
              <a:t>The fact-finding plan is impartial, timely and gives relevant parties an opportunity to respond.</a:t>
            </a:r>
          </a:p>
        </p:txBody>
      </p:sp>
      <p:sp>
        <p:nvSpPr>
          <p:cNvPr id="40" name="TextBox 39"/>
          <p:cNvSpPr txBox="1"/>
          <p:nvPr/>
        </p:nvSpPr>
        <p:spPr>
          <a:xfrm>
            <a:off x="777240" y="5989320"/>
            <a:ext cx="10515600" cy="274320"/>
          </a:xfrm>
          <a:prstGeom prst="rect">
            <a:avLst/>
          </a:prstGeom>
          <a:noFill/>
        </p:spPr>
        <p:txBody>
          <a:bodyPr wrap="square" anchor="t">
            <a:spAutoFit/>
          </a:bodyPr>
          <a:lstStyle/>
          <a:p>
            <a:pPr algn="ctr"/>
            <a:r>
              <a:rPr sz="1000" b="0">
                <a:solidFill>
                  <a:srgbClr val="5B6372"/>
                </a:solidFill>
                <a:latin typeface="Aptos"/>
              </a:rPr>
              <a:t>Worked example only — your final artefact must reflect the case evidence and fair-process boundaries.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