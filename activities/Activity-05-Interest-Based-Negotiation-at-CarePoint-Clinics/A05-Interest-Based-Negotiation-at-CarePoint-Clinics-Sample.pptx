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68580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ACTIVITY 05 · WORKED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106070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161B26"/>
                </a:solidFill>
                <a:latin typeface="Aptos"/>
              </a:rPr>
              <a:t>Interest-Based Negotiation at CarePoint Clinics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10424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5B6372"/>
                </a:solidFill>
                <a:latin typeface="Aptos"/>
              </a:rPr>
              <a:t>Real-workplace simulation · fictional organisation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3794760"/>
            <a:ext cx="10561320" cy="12344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4069080"/>
            <a:ext cx="9966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F6FEB"/>
                </a:solidFill>
                <a:latin typeface="Aptos"/>
              </a:rPr>
              <a:t>LEARNER EVIDENCE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4434840"/>
            <a:ext cx="99669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61B26"/>
                </a:solidFill>
                <a:latin typeface="Aptos"/>
              </a:rPr>
              <a:t>Negotiation canvas · option scorecard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989320"/>
            <a:ext cx="10515600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5B6372"/>
                </a:solidFill>
                <a:latin typeface="Aptos"/>
              </a:rPr>
              <a:t>Editable worked example · adapt the logic, verify the evidence, apply your approved brand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05 ·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The Business Situation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69164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Context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CarePoint Clinics must cover three Saturday vaccination sessions during a seasonal surge. Nurse lead Mei wants two extra staff at each session; operations lead Arjun says the overtime ceiling permits only one.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76472"/>
            <a:ext cx="10698480" cy="169164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76472"/>
            <a:ext cx="73152" cy="169164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36192" y="3959352"/>
            <a:ext cx="971092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Decision pressure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36192" y="4343400"/>
            <a:ext cx="9710928" cy="978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Both need safe patient care and sustainable staffing. Each receives private interests and tradeable options, then negotiates a package using demand data, skill coverage, overtime limits and rotation history.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0B981"/>
                </a:solidFill>
                <a:latin typeface="Aptos"/>
              </a:rPr>
              <a:t>ACTIVITY 05 ·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Interest-Based Negotiation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8696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Prepare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List interests, evidence, authority, alternatives and non-negotiables.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84017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84017" y="1920240"/>
            <a:ext cx="73152" cy="35661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085185" y="213969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85185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88689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Open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8689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State common goal, issue and respectful process.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2235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82235" y="1920240"/>
            <a:ext cx="73152" cy="356616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283403" y="213969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83403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86907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Explore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86907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Ask and summarise before proposing.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80452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280452" y="1920240"/>
            <a:ext cx="73152" cy="35661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481620" y="2139696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81620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85124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Create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85124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Build packages and trade across differing priorities.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78670" y="1920240"/>
            <a:ext cx="1997049" cy="35661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478670" y="1920240"/>
            <a:ext cx="73152" cy="356616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679838" y="213969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79838" y="214884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83342" y="2103120"/>
            <a:ext cx="1009497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Close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83342" y="2487168"/>
            <a:ext cx="1009497" cy="2852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Reality-test, document and plan review.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7C3AED"/>
                </a:solidFill>
                <a:latin typeface="Aptos"/>
              </a:rPr>
              <a:t>ACTIVITY 05 · EVIDENCE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Worked Output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1783080"/>
            <a:ext cx="73152" cy="1719072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32688" y="2002536"/>
            <a:ext cx="438912" cy="438912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36192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F6FEB"/>
                </a:solidFill>
                <a:latin typeface="Aptos"/>
              </a:rPr>
              <a:t>Patient demand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Appointments, acuity and peak-time risk.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15968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15968" y="1783080"/>
            <a:ext cx="73152" cy="1719072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517136" y="20025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17136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Workload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0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Hours, complexity, recovery time and overtime.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00416" y="1783080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00416" y="1783080"/>
            <a:ext cx="73152" cy="1719072"/>
          </a:xfrm>
          <a:prstGeom prst="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101584" y="2002536"/>
            <a:ext cx="438912" cy="438912"/>
          </a:xfrm>
          <a:prstGeom prst="roundRect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01584" y="20116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05088" y="1965960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7C3AED"/>
                </a:solidFill>
                <a:latin typeface="Aptos"/>
              </a:rPr>
              <a:t>Capability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05088" y="2350008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Required skills and safe coverage mix.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3776472"/>
            <a:ext cx="3401568" cy="1719072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3776472"/>
            <a:ext cx="73152" cy="1719072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" y="3995928"/>
            <a:ext cx="438912" cy="438912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400507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36192" y="3959352"/>
            <a:ext cx="2414016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9E0B"/>
                </a:solidFill>
                <a:latin typeface="Aptos"/>
              </a:rPr>
              <a:t>Fairness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36192" y="4343400"/>
            <a:ext cx="2414016" cy="10058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Rotation history, constraints and transparent exceptions.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F59E0B"/>
                </a:solidFill>
                <a:latin typeface="Aptos"/>
              </a:rPr>
              <a:t>ACTIVITY 05 ·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Quality Check: Don't vs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783080"/>
            <a:ext cx="5166360" cy="4251960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F59E0B"/>
                </a:solidFill>
                <a:latin typeface="Aptos"/>
              </a:rPr>
              <a:t>DON'T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56248" y="2011680"/>
            <a:ext cx="44805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0B981"/>
                </a:solidFill>
                <a:latin typeface="Aptos"/>
              </a:rPr>
              <a:t>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We need two more nurses—non-negotiable.
• Your team must cover weekends.
• Split everything 50/50.
• Agree now or I escalate.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6248" y="2587752"/>
            <a:ext cx="45262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161B26"/>
                </a:solidFill>
                <a:latin typeface="Aptos"/>
              </a:rPr>
              <a:t>• Which patient-safety and workload needs are driving the request?
• What coverage pattern protects both continuity and staff recovery?
• Which criteria make the distribution fair for different shift demands?
• What is within our authority, and what requires approval?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8404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1F6FEB"/>
                </a:solidFill>
                <a:latin typeface="Aptos"/>
              </a:rPr>
              <a:t>ACTIVITY 05 · ACCEPTANCE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4980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161B26"/>
                </a:solidFill>
                <a:latin typeface="Aptos"/>
              </a:rPr>
              <a:t>What Good Looks Like</a:t>
            </a:r>
          </a:p>
        </p:txBody>
      </p:sp>
      <p:sp>
        <p:nvSpPr>
          <p:cNvPr id="6" name="Rectangle 5"/>
          <p:cNvSpPr/>
          <p:nvPr/>
        </p:nvSpPr>
        <p:spPr>
          <a:xfrm>
            <a:off x="658368" y="1444752"/>
            <a:ext cx="10881360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6473952"/>
            <a:ext cx="98755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5B6372"/>
                </a:solidFill>
                <a:latin typeface="Aptos"/>
              </a:rPr>
              <a:t>TGS-2023021752 · ACTIVITY SAMPLE · Tertiary Infotech Academy Pte Ltd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810512"/>
            <a:ext cx="10652760" cy="1005840"/>
          </a:xfrm>
          <a:prstGeom prst="roundRect">
            <a:avLst/>
          </a:prstGeom>
          <a:solidFill>
            <a:srgbClr val="1F6FEB"/>
          </a:solidFill>
          <a:ln>
            <a:solidFill>
              <a:srgbClr val="1F6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011680"/>
            <a:ext cx="1005840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A negotiation preparation sheet, observed role play and signed implementation record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978408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912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1912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Positions, interests, evidence, constraints and alternatives are distinguished.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79" y="3154680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79" y="3154680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7" y="3374136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27647" y="3383280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31151" y="3337560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3721608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At least three packages were tested against jointly agreed criteria.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78408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1912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81912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Assumptions and uncertain data are explicit.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79" y="4096512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6479" y="4096512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27647" y="4315968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27647" y="4325112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1" y="4279392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31151" y="4663440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Authority, affected voices and non-negotiable safeguards were checked.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77240" y="5038344"/>
            <a:ext cx="5074920" cy="749808"/>
          </a:xfrm>
          <a:prstGeom prst="roundRect">
            <a:avLst/>
          </a:prstGeom>
          <a:solidFill>
            <a:srgbClr val="F5F8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77240" y="5038344"/>
            <a:ext cx="73152" cy="749808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78408" y="5257800"/>
            <a:ext cx="438912" cy="438912"/>
          </a:xfrm>
          <a:prstGeom prst="round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78408" y="5266944"/>
            <a:ext cx="438912" cy="4206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81912" y="5221224"/>
            <a:ext cx="4087368" cy="3291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B981"/>
                </a:solidFill>
                <a:latin typeface="Aptos"/>
              </a:rPr>
              <a:t>CHECK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81912" y="5605272"/>
            <a:ext cx="4087368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61B26"/>
                </a:solidFill>
                <a:latin typeface="Aptos"/>
              </a:rPr>
              <a:t>The agreement contains owners, dates, evidence and a review trigger.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989320"/>
            <a:ext cx="10515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5B6372"/>
                </a:solidFill>
                <a:latin typeface="Aptos"/>
              </a:rPr>
              <a:t>Worked example only — your final artefact must reflect the case evidence and fair-process boundaries.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