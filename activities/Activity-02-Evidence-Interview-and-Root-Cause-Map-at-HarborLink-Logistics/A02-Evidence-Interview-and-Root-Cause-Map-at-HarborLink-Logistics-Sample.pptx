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ptos"/>
              </a:rPr>
              <a:t>ACTIVITY 02 · WORKED 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6070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161B26"/>
                </a:solidFill>
                <a:latin typeface="Aptos"/>
              </a:rPr>
              <a:t>Evidence Interview and Root-Cause Map at HarborLink Logistics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971800"/>
            <a:ext cx="10424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5B6372"/>
                </a:solidFill>
                <a:latin typeface="Aptos"/>
              </a:rPr>
              <a:t>Real-workplace simulation · fictional organisation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794760"/>
            <a:ext cx="10561320" cy="123444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4069080"/>
            <a:ext cx="9966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ptos"/>
              </a:rPr>
              <a:t>LEARNER EVIDENCE PACK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434840"/>
            <a:ext cx="9966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61B26"/>
                </a:solidFill>
                <a:latin typeface="Aptos"/>
              </a:rPr>
              <a:t>Interview guide · evidence matrix · root-cause map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989320"/>
            <a:ext cx="105156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ptos"/>
              </a:rPr>
              <a:t>Editable worked example · adapt the logic, verify the evidence, apply your approved brand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ptos"/>
              </a:rPr>
              <a:t>ACTIVITY 02 ·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49808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ptos"/>
              </a:rPr>
              <a:t>The Business Situation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44752"/>
            <a:ext cx="1088136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ptos"/>
              </a:rPr>
              <a:t>TGS-2023021752 · ACTIVITY SAMPLE · Tertiary Infotech Academy Pte Ltd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83080"/>
            <a:ext cx="10698480" cy="169164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783080"/>
            <a:ext cx="73152" cy="16916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32688" y="2002536"/>
            <a:ext cx="438912" cy="438912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01168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36192" y="1965960"/>
            <a:ext cx="971092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ptos"/>
              </a:rPr>
              <a:t>Context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36192" y="2350008"/>
            <a:ext cx="9710928" cy="9784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At HarborLink Logistics, warehouse lead Priya says transport planner Daniel repeatedly changes dispatch priorities without warning. Daniel says Priya's team ignores urgent customer requests and hides picking delays until late afternoon.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776472"/>
            <a:ext cx="10698480" cy="169164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3776472"/>
            <a:ext cx="73152" cy="169164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32688" y="3995928"/>
            <a:ext cx="438912" cy="43891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4005072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36192" y="3959352"/>
            <a:ext cx="971092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Aptos"/>
              </a:rPr>
              <a:t>Decision pressure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36192" y="4343400"/>
            <a:ext cx="9710928" cy="9784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The shared dashboard records timestamps but not who approved priority changes. A new performance incentive rewards each function differently. Learners conduct two short interviews and build a root-cause map before recommending any resolution.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ptos"/>
              </a:rPr>
              <a:t>ACTIVITY 02 ·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49808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ptos"/>
              </a:rPr>
              <a:t>Neutral Fact-Finding Interview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44752"/>
            <a:ext cx="1088136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ptos"/>
              </a:rPr>
              <a:t>TGS-2023021752 · ACTIVITY SAMPLE · Tertiary Infotech Academy Pte Ltd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920240"/>
            <a:ext cx="1997049" cy="356616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920240"/>
            <a:ext cx="73152" cy="356616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86968" y="2139696"/>
            <a:ext cx="438912" cy="438912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214884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90472" y="2103120"/>
            <a:ext cx="1009497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ptos"/>
              </a:rPr>
              <a:t>Prepare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90472" y="2487168"/>
            <a:ext cx="1009497" cy="2852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Set purpose, privacy boundary, questions and records.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84017" y="1920240"/>
            <a:ext cx="1997049" cy="356616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84017" y="1920240"/>
            <a:ext cx="73152" cy="356616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085185" y="2139696"/>
            <a:ext cx="438912" cy="43891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85185" y="214884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88689" y="2103120"/>
            <a:ext cx="1009497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Aptos"/>
              </a:rPr>
              <a:t>Invite account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88689" y="2487168"/>
            <a:ext cx="1009497" cy="2852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Ask what happened, when, who observed it and what impact followed.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82235" y="1920240"/>
            <a:ext cx="1997049" cy="356616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82235" y="1920240"/>
            <a:ext cx="73152" cy="356616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283403" y="2139696"/>
            <a:ext cx="438912" cy="438912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83403" y="214884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86907" y="2103120"/>
            <a:ext cx="1009497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7C3AED"/>
                </a:solidFill>
                <a:latin typeface="Aptos"/>
              </a:rPr>
              <a:t>Clarify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86907" y="2487168"/>
            <a:ext cx="1009497" cy="2852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Paraphrase, test sequence and distinguish direct knowledge from hearsay.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280452" y="1920240"/>
            <a:ext cx="1997049" cy="356616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280452" y="1920240"/>
            <a:ext cx="73152" cy="356616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481620" y="2139696"/>
            <a:ext cx="438912" cy="438912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81620" y="214884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85124" y="2103120"/>
            <a:ext cx="1009497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9E0B"/>
                </a:solidFill>
                <a:latin typeface="Aptos"/>
              </a:rPr>
              <a:t>Triangulate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85124" y="2487168"/>
            <a:ext cx="1009497" cy="2852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Compare accounts with records and plausible alternatives.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478670" y="1920240"/>
            <a:ext cx="1997049" cy="356616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478670" y="1920240"/>
            <a:ext cx="73152" cy="356616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679838" y="2139696"/>
            <a:ext cx="438912" cy="438912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79838" y="214884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83342" y="2103120"/>
            <a:ext cx="1009497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ptos"/>
              </a:rPr>
              <a:t>Map causes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83342" y="2487168"/>
            <a:ext cx="1009497" cy="2852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Identify task, process, relationship and structural contributors.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Aptos"/>
              </a:rPr>
              <a:t>ACTIVITY 02 · EVIDENCE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49808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ptos"/>
              </a:rPr>
              <a:t>Worked Output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44752"/>
            <a:ext cx="1088136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ptos"/>
              </a:rPr>
              <a:t>TGS-2023021752 · ACTIVITY SAMPLE · Tertiary Infotech Academy Pte Ltd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83080"/>
            <a:ext cx="3401568" cy="1719072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783080"/>
            <a:ext cx="73152" cy="171907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32688" y="2002536"/>
            <a:ext cx="438912" cy="438912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01168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36192" y="1965960"/>
            <a:ext cx="241401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ptos"/>
              </a:rPr>
              <a:t>Task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36192" y="2350008"/>
            <a:ext cx="2414016" cy="10058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Different goals, quality standards or priorities.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5968" y="1783080"/>
            <a:ext cx="3401568" cy="1719072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5968" y="1783080"/>
            <a:ext cx="73152" cy="171907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17136" y="2002536"/>
            <a:ext cx="438912" cy="43891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17136" y="201168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1965960"/>
            <a:ext cx="241401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Aptos"/>
              </a:rPr>
              <a:t>Process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2350008"/>
            <a:ext cx="2414016" cy="10058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Unclear workflow, handoff, information or decision rights.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00416" y="1783080"/>
            <a:ext cx="3401568" cy="1719072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900416" y="1783080"/>
            <a:ext cx="73152" cy="1719072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101584" y="2002536"/>
            <a:ext cx="438912" cy="438912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01584" y="201168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05088" y="1965960"/>
            <a:ext cx="241401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7C3AED"/>
                </a:solidFill>
                <a:latin typeface="Aptos"/>
              </a:rPr>
              <a:t>Relationship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05088" y="2350008"/>
            <a:ext cx="2414016" cy="10058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Trust erosion, communication pattern or unresolved history.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3776472"/>
            <a:ext cx="3401568" cy="1719072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1520" y="3776472"/>
            <a:ext cx="73152" cy="171907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32688" y="3995928"/>
            <a:ext cx="438912" cy="438912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8" y="4005072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36192" y="3959352"/>
            <a:ext cx="241401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9E0B"/>
                </a:solidFill>
                <a:latin typeface="Aptos"/>
              </a:rPr>
              <a:t>Structure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36192" y="4343400"/>
            <a:ext cx="2414016" cy="10058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Resource scarcity, incentives, workload, hierarchy or change.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Aptos"/>
              </a:rPr>
              <a:t>ACTIVITY 02 ·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49808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ptos"/>
              </a:rPr>
              <a:t>Quality Check: Don't vs Do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44752"/>
            <a:ext cx="1088136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ptos"/>
              </a:rPr>
              <a:t>TGS-2023021752 · ACTIVITY SAMPLE · Tertiary Infotech Academy Pte Ltd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83080"/>
            <a:ext cx="5166360" cy="425196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63640" y="1783080"/>
            <a:ext cx="5166360" cy="425196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011680"/>
            <a:ext cx="4480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59E0B"/>
                </a:solidFill>
                <a:latin typeface="Aptos"/>
              </a:rPr>
              <a:t>DON'T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56248" y="2011680"/>
            <a:ext cx="4480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0B981"/>
                </a:solidFill>
                <a:latin typeface="Aptos"/>
              </a:rPr>
              <a:t>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2587752"/>
            <a:ext cx="452628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ptos"/>
              </a:rPr>
              <a:t>• Why did you ignore the procedure?
• Who started this?
• Don't you think Priya overreacted?
• Can you prove you are right?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6248" y="2587752"/>
            <a:ext cx="452628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ptos"/>
              </a:rPr>
              <a:t>• Walk me through the handoff from your perspective.
• What happened immediately before and after the missed scan?
• What impact did you observe, and what evidence supports it?
• What need or constraint would a workable solution have to address?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ptos"/>
              </a:rPr>
              <a:t>ACTIVITY 02 · ACCEPTANCE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49808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ptos"/>
              </a:rPr>
              <a:t>What Good Looks Like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44752"/>
            <a:ext cx="1088136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ptos"/>
              </a:rPr>
              <a:t>TGS-2023021752 · ACTIVITY SAMPLE · Tertiary Infotech Academy Pte Ltd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810512"/>
            <a:ext cx="10652760" cy="1005840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011680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ptos"/>
              </a:rPr>
              <a:t>Interview notes, an evidence matrix and a multi-cause conflict map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154680"/>
            <a:ext cx="5074920" cy="749808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3154680"/>
            <a:ext cx="73152" cy="74980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78408" y="3374136"/>
            <a:ext cx="438912" cy="43891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8408" y="338328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81912" y="3337560"/>
            <a:ext cx="408736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Aptos"/>
              </a:rPr>
              <a:t>CHECK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81912" y="3721608"/>
            <a:ext cx="4087368" cy="365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Both interviewees received comparable time, core questions and opportunity to clarify.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79" y="3154680"/>
            <a:ext cx="5074920" cy="749808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79" y="3154680"/>
            <a:ext cx="73152" cy="74980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27647" y="3374136"/>
            <a:ext cx="438912" cy="43891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7647" y="338328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31151" y="3337560"/>
            <a:ext cx="408736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Aptos"/>
              </a:rPr>
              <a:t>CHECK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31151" y="3721608"/>
            <a:ext cx="4087368" cy="365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Notes distinguish direct evidence, hearsay, interpretation and unresolved gaps.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096512"/>
            <a:ext cx="5074920" cy="749808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096512"/>
            <a:ext cx="73152" cy="74980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78408" y="4315968"/>
            <a:ext cx="438912" cy="43891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8408" y="4325112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81912" y="4279392"/>
            <a:ext cx="408736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Aptos"/>
              </a:rPr>
              <a:t>CHECK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81912" y="4663440"/>
            <a:ext cx="4087368" cy="365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The matrix records source and confidence rather than presenting every claim as fact.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26479" y="4096512"/>
            <a:ext cx="5074920" cy="749808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26479" y="4096512"/>
            <a:ext cx="73152" cy="74980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327647" y="4315968"/>
            <a:ext cx="438912" cy="43891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27647" y="4325112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31151" y="4279392"/>
            <a:ext cx="408736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Aptos"/>
              </a:rPr>
              <a:t>CHECK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31151" y="4663440"/>
            <a:ext cx="4087368" cy="365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The root-cause map includes system factors as well as relationship factors.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77240" y="5038344"/>
            <a:ext cx="5074920" cy="749808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5038344"/>
            <a:ext cx="73152" cy="74980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78408" y="5257800"/>
            <a:ext cx="438912" cy="43891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78408" y="5266944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81912" y="5221224"/>
            <a:ext cx="408736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Aptos"/>
              </a:rPr>
              <a:t>CHECK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81912" y="5605272"/>
            <a:ext cx="4087368" cy="365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The recommendation identifies limited, proportionate next checks before a finding.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" y="59893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B6372"/>
                </a:solidFill>
                <a:latin typeface="Aptos"/>
              </a:rPr>
              <a:t>Worked example only — your final artefact must reflect the case evidence and fair-process boundaries.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